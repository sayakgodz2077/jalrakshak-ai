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12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0000"/>
                </a:solidFill>
                <a:latin typeface="+mn-lt"/>
              </a:defRPr>
            </a:pPr>
            <a:r>
              <a:rPr sz="1200" b="0" i="0" u="none" strike="noStrike">
                <a:solidFill>
                  <a:srgbClr val="000000"/>
                </a:solidFill>
                <a:latin typeface="+mn-lt"/>
              </a:rPr>
              <a:t>Historical sensor readings (illustrative)</a:t>
            </a:r>
          </a:p>
        </c:rich>
      </c:tx>
      <c:overlay val="0"/>
    </c:title>
    <c:autoTitleDeleted val="0"/>
    <c:plotArea>
      <c:layout/>
      <c:lineChart>
        <c:grouping val="standard"/>
        <c:varyColors val="0"/>
        <c:ser>
          <c:idx val="0"/>
          <c:order val="0"/>
          <c:tx>
            <c:strRef>
              <c:f>Sheet1!$B$1</c:f>
              <c:strCache>
                <c:ptCount val="1"/>
                <c:pt idx="0">
                  <c:v>Soil moisture % (illustrative)</c:v>
                </c:pt>
              </c:strCache>
            </c:strRef>
          </c:tx>
          <c:spPr>
            <a:ln w="25400" cap="flat">
              <a:solidFill>
                <a:srgbClr val="0EA5E9"/>
              </a:solidFill>
              <a:prstDash val="solid"/>
              <a:round/>
            </a:ln>
            <a:effectLst/>
          </c:spPr>
          <c:marker>
            <c:symbol val="circle"/>
            <c:size val="6"/>
            <c:spPr>
              <a:solidFill>
                <a:srgbClr val="0EA5E9"/>
              </a:solidFill>
              <a:ln w="9525" cap="flat">
                <a:solidFill>
                  <a:srgbClr val="0EA5E9"/>
                </a:solidFill>
                <a:prstDash val="solid"/>
                <a:round/>
              </a:ln>
              <a:effectLst/>
            </c:spPr>
          </c:marker>
          <c:cat>
            <c:strRef>
              <c:f>Sheet1!$A$2:$A$8</c:f>
              <c:strCache>
                <c:ptCount val="7"/>
                <c:pt idx="0">
                  <c:v>T-6</c:v>
                </c:pt>
                <c:pt idx="1">
                  <c:v>T-5</c:v>
                </c:pt>
                <c:pt idx="2">
                  <c:v>T-4</c:v>
                </c:pt>
                <c:pt idx="3">
                  <c:v>T-3</c:v>
                </c:pt>
                <c:pt idx="4">
                  <c:v>T-2</c:v>
                </c:pt>
                <c:pt idx="5">
                  <c:v>T-1</c:v>
                </c:pt>
                <c:pt idx="6">
                  <c:v>Now</c:v>
                </c:pt>
              </c:strCache>
            </c:strRef>
          </c:cat>
          <c:val>
            <c:numRef>
              <c:f>Sheet1!$B$2:$B$8</c:f>
              <c:numCache>
                <c:formatCode>General</c:formatCode>
                <c:ptCount val="7"/>
                <c:pt idx="0">
                  <c:v>62</c:v>
                </c:pt>
                <c:pt idx="1">
                  <c:v>58</c:v>
                </c:pt>
                <c:pt idx="2">
                  <c:v>52</c:v>
                </c:pt>
                <c:pt idx="3">
                  <c:v>45</c:v>
                </c:pt>
                <c:pt idx="4">
                  <c:v>38</c:v>
                </c:pt>
                <c:pt idx="5">
                  <c:v>32</c:v>
                </c:pt>
                <c:pt idx="6">
                  <c:v>27</c:v>
                </c:pt>
              </c:numCache>
            </c:numRef>
          </c:val>
          <c:smooth val="0"/>
          <c:extLst>
            <c:ext xmlns:c16="http://schemas.microsoft.com/office/drawing/2014/chart" uri="{C3380CC4-5D6E-409C-BE32-E72D297353CC}">
              <c16:uniqueId val="{00000000-16C2-4CF4-B2FF-8D3C52AF2796}"/>
            </c:ext>
          </c:extLst>
        </c:ser>
        <c:ser>
          <c:idx val="1"/>
          <c:order val="1"/>
          <c:tx>
            <c:strRef>
              <c:f>Sheet1!$C$1</c:f>
              <c:strCache>
                <c:ptCount val="1"/>
                <c:pt idx="0">
                  <c:v>Temperature °C (illustrative)</c:v>
                </c:pt>
              </c:strCache>
            </c:strRef>
          </c:tx>
          <c:spPr>
            <a:ln w="25400" cap="flat">
              <a:solidFill>
                <a:srgbClr val="E65100"/>
              </a:solidFill>
              <a:prstDash val="solid"/>
              <a:round/>
            </a:ln>
            <a:effectLst/>
          </c:spPr>
          <c:marker>
            <c:symbol val="circle"/>
            <c:size val="6"/>
            <c:spPr>
              <a:solidFill>
                <a:srgbClr val="E65100"/>
              </a:solidFill>
              <a:ln w="9525" cap="flat">
                <a:solidFill>
                  <a:srgbClr val="E65100"/>
                </a:solidFill>
                <a:prstDash val="solid"/>
                <a:round/>
              </a:ln>
              <a:effectLst/>
            </c:spPr>
          </c:marker>
          <c:cat>
            <c:strRef>
              <c:f>Sheet1!$A$2:$A$8</c:f>
              <c:strCache>
                <c:ptCount val="7"/>
                <c:pt idx="0">
                  <c:v>T-6</c:v>
                </c:pt>
                <c:pt idx="1">
                  <c:v>T-5</c:v>
                </c:pt>
                <c:pt idx="2">
                  <c:v>T-4</c:v>
                </c:pt>
                <c:pt idx="3">
                  <c:v>T-3</c:v>
                </c:pt>
                <c:pt idx="4">
                  <c:v>T-2</c:v>
                </c:pt>
                <c:pt idx="5">
                  <c:v>T-1</c:v>
                </c:pt>
                <c:pt idx="6">
                  <c:v>Now</c:v>
                </c:pt>
              </c:strCache>
            </c:strRef>
          </c:cat>
          <c:val>
            <c:numRef>
              <c:f>Sheet1!$C$2:$C$8</c:f>
              <c:numCache>
                <c:formatCode>General</c:formatCode>
                <c:ptCount val="7"/>
                <c:pt idx="0">
                  <c:v>28</c:v>
                </c:pt>
                <c:pt idx="1">
                  <c:v>29</c:v>
                </c:pt>
                <c:pt idx="2">
                  <c:v>31</c:v>
                </c:pt>
                <c:pt idx="3">
                  <c:v>32</c:v>
                </c:pt>
                <c:pt idx="4">
                  <c:v>33</c:v>
                </c:pt>
                <c:pt idx="5">
                  <c:v>34</c:v>
                </c:pt>
                <c:pt idx="6">
                  <c:v>34</c:v>
                </c:pt>
              </c:numCache>
            </c:numRef>
          </c:val>
          <c:smooth val="0"/>
          <c:extLst>
            <c:ext xmlns:c16="http://schemas.microsoft.com/office/drawing/2014/chart" uri="{C3380CC4-5D6E-409C-BE32-E72D297353CC}">
              <c16:uniqueId val="{00000001-16C2-4CF4-B2FF-8D3C52AF279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9295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judges. We are Team Apex Warrior from KLH University. Our project is an IoT-based irrigation decision-support system: it combines a real soil moisture sensor, air temperature and humidity readings, and weather API data to suggest when irrigation may be needed. It is a monitoring and recommendation system, not a fully automatic controller. Likely question: "Does it water the field automatically?" Answer: Not in this prototype. A pump and relay are future scope.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farmers often irrigate by habit or by looking at the field. They may not know the real soil moisture, whether it rained recently, or whether rain is coming. That wastes water, money and electricity. Read the problem statement. We use no statistics here because we do not want unsupported numbers. Criterion: Problem Understanding and Relevance.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three approaches. Be fair: we do not say all existing systems lack weather integration. Our point is that combining soil sensing, air conditions and forecast in one affordable prototype is useful. Likely question: "Isn't this just a soil sensor?" Answer: A sensor alone cannot know that rain is forecast; we add that context.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numbered steps: top row left to right (1 to 4), then the bottom row right to left (5 to 8). Sensors feed the ESP32, the backend adds weather data, the engine produces a recommendation, and the dashboard and LED show the result. Stress that this is recommendation, not automatic control. Criterion: Proposed Solution.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seven components we have, and what each does. Mention that a capacitive sensor is better long term than the FC-28 because it resists corrosion. The dashed card is a future enhancement, not existing hardware. Likely question: "Why DHT11?" Answer: low cost and enough for a prototype; accuracy is limited, so we treat its readings as approximate.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carries 10 marks for innovation. Our innovation is the combination, not any single part: real soil data plus air data plus forecast, in an affordable, explainable system. The table is honest: green means hardware components we have; orange means software features that are planned, not yet implemented. Likely question: "What is new compared with a basic soil sensor?" Answer: forecast awareness, explanations and an expandable design.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arrows. The soil sensor and DHT11 send readings to the ESP32. The ESP32 sends data over Wi-Fi to the backend. The backend also pulls weather from the API, and combines both before the prediction engine and dashboard. The LED is driven by an ESP32 output pin as a local status light, not a pump. The breadboard and jumpers form the physical connections; USB provides power and programming. Likely question: "Where is the API key kept?" Answer: in a backend environment variable only.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stack from the bottom: hardware, firmware, Wi-Fi/HTTP, Flask backend, optional SQLite, React dashboard. Everything is proposed. Choices are common, free and student-friendly. Security: the API key is stored only on the backend. Likely question: "Why not send data straight to the dashboard?" Answer: the backend combines sensor and weather data and keeps the key private.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on the left, processing in the middle, scenarios on the right. Rules are simple and explainable, so a farmer can see why. Scenario C shows why forecast matters: dry soil may still not need water if heavy rain is expected, though forecasts can be wrong. We have not trained any model and quote no accuracy. Likely question: "Why not machine learning?" Answer: we lack labeled training data; rules are transparent and testable now.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design mockup, not the finished application. It shows the key outputs: current soil reading and status, air temperature, humidity, rainfall, history chart, recommendation, sensor connection status, LED status and a dry-soil alert. All numbers are placeholders. Criterion: Presentation and Clarity, and Proposed Solution.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phases: hardware, calibration, communication, weather API, engine, dashboard, testing. We do not give dates because Review 1 is early. It is feasible because every part uses cheap, common components and free tools. Calibration matters most: we will record dry and wet readings in our own soil. Likely question: "What is the biggest risk?" Answer: sensor accuracy and calibration, so we test with real soil and treat readings as estimates.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benefits: better decisions, less needless watering, real readings plus weather, low cost. Then future scope. Be clear that automatic pumping is not part of the current build. Close with the tagline and invite questions. Likely question: "How much water will it save?" Answer: we do not claim a number yet; we will measure it in testing.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0"/>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532D"/>
        </a:solidFill>
        <a:effectLst/>
      </p:bgPr>
    </p:bg>
    <p:spTree>
      <p:nvGrpSpPr>
        <p:cNvPr id="1" name=""/>
        <p:cNvGrpSpPr/>
        <p:nvPr/>
      </p:nvGrpSpPr>
      <p:grpSpPr>
        <a:xfrm>
          <a:off x="0" y="0"/>
          <a:ext cx="0" cy="0"/>
          <a:chOff x="0" y="0"/>
          <a:chExt cx="0" cy="0"/>
        </a:xfrm>
      </p:grpSpPr>
      <p:sp>
        <p:nvSpPr>
          <p:cNvPr id="2" name="Shape 0"/>
          <p:cNvSpPr/>
          <p:nvPr/>
        </p:nvSpPr>
        <p:spPr>
          <a:xfrm>
            <a:off x="8595360" y="-1371600"/>
            <a:ext cx="5943600" cy="5943600"/>
          </a:xfrm>
          <a:prstGeom prst="ellipse">
            <a:avLst/>
          </a:prstGeom>
          <a:solidFill>
            <a:srgbClr val="2E7D32">
              <a:alpha val="45000"/>
            </a:srgbClr>
          </a:solidFill>
          <a:ln w="12700">
            <a:solidFill>
              <a:srgbClr val="2E7D32">
                <a:alpha val="45000"/>
              </a:srgbClr>
            </a:solidFill>
            <a:prstDash val="solid"/>
          </a:ln>
        </p:spPr>
      </p:sp>
      <p:sp>
        <p:nvSpPr>
          <p:cNvPr id="3" name="Shape 1"/>
          <p:cNvSpPr/>
          <p:nvPr/>
        </p:nvSpPr>
        <p:spPr>
          <a:xfrm>
            <a:off x="9875520" y="3474720"/>
            <a:ext cx="4114800" cy="4114800"/>
          </a:xfrm>
          <a:prstGeom prst="ellipse">
            <a:avLst/>
          </a:prstGeom>
          <a:solidFill>
            <a:srgbClr val="0EA5E9">
              <a:alpha val="40000"/>
            </a:srgbClr>
          </a:solidFill>
          <a:ln w="12700">
            <a:solidFill>
              <a:srgbClr val="0EA5E9">
                <a:alpha val="40000"/>
              </a:srgbClr>
            </a:solidFill>
            <a:prstDash val="solid"/>
          </a:ln>
        </p:spPr>
      </p:sp>
      <p:sp>
        <p:nvSpPr>
          <p:cNvPr id="4" name="Shape 2"/>
          <p:cNvSpPr/>
          <p:nvPr/>
        </p:nvSpPr>
        <p:spPr>
          <a:xfrm>
            <a:off x="0" y="6035040"/>
            <a:ext cx="12188952" cy="822960"/>
          </a:xfrm>
          <a:prstGeom prst="rect">
            <a:avLst/>
          </a:prstGeom>
          <a:solidFill>
            <a:srgbClr val="0B3D20"/>
          </a:solidFill>
          <a:ln w="12700">
            <a:solidFill>
              <a:srgbClr val="0B3D20"/>
            </a:solidFill>
            <a:prstDash val="solid"/>
          </a:ln>
        </p:spPr>
      </p:sp>
      <p:sp>
        <p:nvSpPr>
          <p:cNvPr id="5" name="Text 3"/>
          <p:cNvSpPr txBox="1"/>
          <p:nvPr/>
        </p:nvSpPr>
        <p:spPr>
          <a:xfrm>
            <a:off x="731520" y="640080"/>
            <a:ext cx="8229600" cy="365760"/>
          </a:xfrm>
          <a:prstGeom prst="rect">
            <a:avLst/>
          </a:prstGeom>
          <a:noFill/>
          <a:ln/>
        </p:spPr>
        <p:txBody>
          <a:bodyPr wrap="square" lIns="0" tIns="0" rIns="0" bIns="0" rtlCol="0" anchor="ctr"/>
          <a:lstStyle/>
          <a:p>
            <a:pPr marL="0" indent="0">
              <a:buNone/>
            </a:pPr>
            <a:r>
              <a:rPr lang="en-US" sz="1500" b="1" dirty="0">
                <a:solidFill>
                  <a:srgbClr val="7DD3FC"/>
                </a:solidFill>
              </a:rPr>
              <a:t>AIBOTS-2026 HACKATHON  |  REVIEW 1</a:t>
            </a:r>
            <a:endParaRPr lang="en-US" sz="1500" dirty="0"/>
          </a:p>
        </p:txBody>
      </p:sp>
      <p:sp>
        <p:nvSpPr>
          <p:cNvPr id="6" name="Text 4"/>
          <p:cNvSpPr txBox="1"/>
          <p:nvPr/>
        </p:nvSpPr>
        <p:spPr>
          <a:xfrm>
            <a:off x="731520" y="1188720"/>
            <a:ext cx="9144000" cy="1828800"/>
          </a:xfrm>
          <a:prstGeom prst="rect">
            <a:avLst/>
          </a:prstGeom>
          <a:noFill/>
          <a:ln/>
        </p:spPr>
        <p:txBody>
          <a:bodyPr wrap="square" lIns="0" tIns="0" rIns="0" bIns="0" rtlCol="0" anchor="t"/>
          <a:lstStyle/>
          <a:p>
            <a:pPr marL="0" indent="0">
              <a:buNone/>
            </a:pPr>
            <a:r>
              <a:rPr lang="en-US" sz="3800" b="1" dirty="0">
                <a:solidFill>
                  <a:srgbClr val="FFFFFF"/>
                </a:solidFill>
              </a:rPr>
              <a:t>Smart Irrigation System Using IoT, Weather API, and Predictive Analytics</a:t>
            </a:r>
            <a:endParaRPr lang="en-US" sz="3800" dirty="0"/>
          </a:p>
        </p:txBody>
      </p:sp>
      <p:sp>
        <p:nvSpPr>
          <p:cNvPr id="7" name="Text 5"/>
          <p:cNvSpPr txBox="1"/>
          <p:nvPr/>
        </p:nvSpPr>
        <p:spPr>
          <a:xfrm>
            <a:off x="731520" y="3108960"/>
            <a:ext cx="8229600" cy="457200"/>
          </a:xfrm>
          <a:prstGeom prst="rect">
            <a:avLst/>
          </a:prstGeom>
          <a:noFill/>
          <a:ln/>
        </p:spPr>
        <p:txBody>
          <a:bodyPr wrap="square" lIns="0" tIns="0" rIns="0" bIns="0" rtlCol="0" anchor="ctr"/>
          <a:lstStyle/>
          <a:p>
            <a:pPr marL="0" indent="0">
              <a:buNone/>
            </a:pPr>
            <a:r>
              <a:rPr lang="en-US" sz="2000" dirty="0">
                <a:solidFill>
                  <a:srgbClr val="BBF7D0"/>
                </a:solidFill>
              </a:rPr>
              <a:t>An Intelligent Approach to Water-Efficient Agriculture</a:t>
            </a:r>
            <a:endParaRPr lang="en-US" sz="2000" dirty="0"/>
          </a:p>
        </p:txBody>
      </p:sp>
      <p:sp>
        <p:nvSpPr>
          <p:cNvPr id="8" name="Shape 6"/>
          <p:cNvSpPr/>
          <p:nvPr/>
        </p:nvSpPr>
        <p:spPr>
          <a:xfrm>
            <a:off x="731520" y="3840480"/>
            <a:ext cx="1280160" cy="54864"/>
          </a:xfrm>
          <a:prstGeom prst="rect">
            <a:avLst/>
          </a:prstGeom>
          <a:solidFill>
            <a:srgbClr val="0EA5E9"/>
          </a:solidFill>
          <a:ln w="12700">
            <a:solidFill>
              <a:srgbClr val="0EA5E9"/>
            </a:solidFill>
            <a:prstDash val="solid"/>
          </a:ln>
        </p:spPr>
      </p:sp>
      <p:sp>
        <p:nvSpPr>
          <p:cNvPr id="9" name="Text 7"/>
          <p:cNvSpPr txBox="1"/>
          <p:nvPr/>
        </p:nvSpPr>
        <p:spPr>
          <a:xfrm>
            <a:off x="731520" y="4114800"/>
            <a:ext cx="7772400" cy="1371600"/>
          </a:xfrm>
          <a:prstGeom prst="rect">
            <a:avLst/>
          </a:prstGeom>
          <a:noFill/>
          <a:ln/>
        </p:spPr>
        <p:txBody>
          <a:bodyPr wrap="square" lIns="0" tIns="0" rIns="0" bIns="0" rtlCol="0" anchor="t"/>
          <a:lstStyle/>
          <a:p>
            <a:pPr marL="0" indent="0">
              <a:spcAft>
                <a:spcPts val="500"/>
              </a:spcAft>
              <a:buNone/>
            </a:pPr>
            <a:r>
              <a:rPr lang="en-US" sz="1700" dirty="0">
                <a:solidFill>
                  <a:srgbClr val="FFFFFF"/>
                </a:solidFill>
              </a:rPr>
              <a:t>Team Name: Apex Warrior</a:t>
            </a:r>
            <a:endParaRPr lang="en-US" sz="1700" dirty="0"/>
          </a:p>
          <a:p>
            <a:pPr marL="0" indent="0">
              <a:spcAft>
                <a:spcPts val="500"/>
              </a:spcAft>
              <a:buNone/>
            </a:pPr>
            <a:r>
              <a:rPr lang="en-US" sz="1700" dirty="0">
                <a:solidFill>
                  <a:srgbClr val="FFFFFF"/>
                </a:solidFill>
              </a:rPr>
              <a:t>Team Members: Manash and Sayak</a:t>
            </a:r>
            <a:endParaRPr lang="en-US" sz="1700" dirty="0"/>
          </a:p>
          <a:p>
            <a:pPr marL="0" indent="0">
              <a:spcAft>
                <a:spcPts val="500"/>
              </a:spcAft>
              <a:buNone/>
            </a:pPr>
            <a:r>
              <a:rPr lang="en-US" sz="1700" dirty="0">
                <a:solidFill>
                  <a:srgbClr val="FFFFFF"/>
                </a:solidFill>
              </a:rPr>
              <a:t>Institution: KLH University</a:t>
            </a:r>
            <a:endParaRPr lang="en-US" sz="1700" dirty="0"/>
          </a:p>
        </p:txBody>
      </p:sp>
      <p:sp>
        <p:nvSpPr>
          <p:cNvPr id="10" name="Text 8"/>
          <p:cNvSpPr txBox="1"/>
          <p:nvPr/>
        </p:nvSpPr>
        <p:spPr>
          <a:xfrm>
            <a:off x="731520" y="6217920"/>
            <a:ext cx="9144000" cy="365760"/>
          </a:xfrm>
          <a:prstGeom prst="rect">
            <a:avLst/>
          </a:prstGeom>
          <a:noFill/>
          <a:ln/>
        </p:spPr>
        <p:txBody>
          <a:bodyPr wrap="square" lIns="0" tIns="0" rIns="0" bIns="0" rtlCol="0" anchor="ctr"/>
          <a:lstStyle/>
          <a:p>
            <a:pPr marL="0" indent="0">
              <a:buNone/>
            </a:pPr>
            <a:r>
              <a:rPr lang="en-US" sz="1300" dirty="0">
                <a:solidFill>
                  <a:srgbClr val="A7E3B0"/>
                </a:solidFill>
              </a:rPr>
              <a:t>ESP32  •  Soil Moisture Sensing  •  Weather API  •  Dashboard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4532D"/>
          </a:solidFill>
          <a:ln w="12700">
            <a:solidFill>
              <a:srgbClr val="14532D"/>
            </a:solidFill>
            <a:prstDash val="solid"/>
          </a:ln>
        </p:spPr>
      </p:sp>
      <p:sp>
        <p:nvSpPr>
          <p:cNvPr id="3" name="Shape 1"/>
          <p:cNvSpPr/>
          <p:nvPr/>
        </p:nvSpPr>
        <p:spPr>
          <a:xfrm>
            <a:off x="0" y="914400"/>
            <a:ext cx="12188952" cy="54864"/>
          </a:xfrm>
          <a:prstGeom prst="rect">
            <a:avLst/>
          </a:prstGeom>
          <a:solidFill>
            <a:srgbClr val="0EA5E9"/>
          </a:solidFill>
          <a:ln w="12700">
            <a:solidFill>
              <a:srgbClr val="0EA5E9"/>
            </a:solidFill>
            <a:prstDash val="solid"/>
          </a:ln>
        </p:spPr>
      </p:sp>
      <p:sp>
        <p:nvSpPr>
          <p:cNvPr id="4" name="Text 2"/>
          <p:cNvSpPr txBox="1"/>
          <p:nvPr/>
        </p:nvSpPr>
        <p:spPr>
          <a:xfrm>
            <a:off x="457200" y="109728"/>
            <a:ext cx="8503920" cy="694944"/>
          </a:xfrm>
          <a:prstGeom prst="rect">
            <a:avLst/>
          </a:prstGeom>
          <a:noFill/>
          <a:ln/>
        </p:spPr>
        <p:txBody>
          <a:bodyPr wrap="square" lIns="0" tIns="0" rIns="0" bIns="0" rtlCol="0" anchor="ctr"/>
          <a:lstStyle/>
          <a:p>
            <a:pPr marL="0" indent="0">
              <a:buNone/>
            </a:pPr>
            <a:r>
              <a:rPr lang="en-US" sz="2800" b="1" dirty="0">
                <a:solidFill>
                  <a:srgbClr val="FFFFFF"/>
                </a:solidFill>
              </a:rPr>
              <a:t>Problem Statement</a:t>
            </a:r>
            <a:endParaRPr lang="en-US" sz="2800" dirty="0"/>
          </a:p>
        </p:txBody>
      </p:sp>
      <p:sp>
        <p:nvSpPr>
          <p:cNvPr id="5" name="Text 3"/>
          <p:cNvSpPr txBox="1"/>
          <p:nvPr/>
        </p:nvSpPr>
        <p:spPr>
          <a:xfrm>
            <a:off x="8778240" y="109728"/>
            <a:ext cx="2971800" cy="694944"/>
          </a:xfrm>
          <a:prstGeom prst="rect">
            <a:avLst/>
          </a:prstGeom>
          <a:noFill/>
          <a:ln/>
        </p:spPr>
        <p:txBody>
          <a:bodyPr wrap="square" lIns="0" tIns="0" rIns="0" bIns="0" rtlCol="0" anchor="ctr"/>
          <a:lstStyle/>
          <a:p>
            <a:pPr marL="0" indent="0" algn="r">
              <a:buNone/>
            </a:pPr>
            <a:r>
              <a:rPr lang="en-US" sz="1200" dirty="0">
                <a:solidFill>
                  <a:srgbClr val="A7E3B0"/>
                </a:solidFill>
              </a:rPr>
              <a:t>Problem Understanding</a:t>
            </a:r>
            <a:endParaRPr lang="en-US" sz="1200" dirty="0"/>
          </a:p>
        </p:txBody>
      </p:sp>
      <p:sp>
        <p:nvSpPr>
          <p:cNvPr id="6" name="Text 4"/>
          <p:cNvSpPr txBox="1"/>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F70"/>
                </a:solidFill>
              </a:rPr>
              <a:t>AIBOTS-2026 Hackathon | Review 1</a:t>
            </a:r>
            <a:endParaRPr lang="en-US" sz="1000" dirty="0"/>
          </a:p>
        </p:txBody>
      </p:sp>
      <p:sp>
        <p:nvSpPr>
          <p:cNvPr id="7" name="Shape 5"/>
          <p:cNvSpPr/>
          <p:nvPr/>
        </p:nvSpPr>
        <p:spPr>
          <a:xfrm>
            <a:off x="457200" y="1188720"/>
            <a:ext cx="11274552" cy="1097280"/>
          </a:xfrm>
          <a:prstGeom prst="roundRect">
            <a:avLst>
              <a:gd name="adj" fmla="val 8333"/>
            </a:avLst>
          </a:prstGeom>
          <a:solidFill>
            <a:srgbClr val="14532D"/>
          </a:solidFill>
          <a:ln w="12700">
            <a:solidFill>
              <a:srgbClr val="14532D"/>
            </a:solidFill>
            <a:prstDash val="solid"/>
          </a:ln>
        </p:spPr>
      </p:sp>
      <p:sp>
        <p:nvSpPr>
          <p:cNvPr id="8" name="Text 6"/>
          <p:cNvSpPr txBox="1"/>
          <p:nvPr/>
        </p:nvSpPr>
        <p:spPr>
          <a:xfrm>
            <a:off x="731520" y="1234440"/>
            <a:ext cx="10698480" cy="1005840"/>
          </a:xfrm>
          <a:prstGeom prst="rect">
            <a:avLst/>
          </a:prstGeom>
          <a:noFill/>
          <a:ln/>
        </p:spPr>
        <p:txBody>
          <a:bodyPr wrap="square" lIns="0" tIns="0" rIns="0" bIns="0" rtlCol="0" anchor="ctr"/>
          <a:lstStyle/>
          <a:p>
            <a:pPr marL="0" indent="0">
              <a:buNone/>
            </a:pPr>
            <a:r>
              <a:rPr lang="en-US" sz="1800" b="1" i="1" dirty="0">
                <a:solidFill>
                  <a:srgbClr val="FFFFFF"/>
                </a:solidFill>
              </a:rPr>
              <a:t>“Farmers need an affordable and intelligent irrigation decision-support system that combines soil moisture measurements with weather information to help determine when irrigation may be necessary.”</a:t>
            </a:r>
            <a:endParaRPr lang="en-US" sz="1800" dirty="0"/>
          </a:p>
        </p:txBody>
      </p:sp>
      <p:sp>
        <p:nvSpPr>
          <p:cNvPr id="9" name="Text 7"/>
          <p:cNvSpPr txBox="1"/>
          <p:nvPr/>
        </p:nvSpPr>
        <p:spPr>
          <a:xfrm>
            <a:off x="457200" y="2514600"/>
            <a:ext cx="10972800" cy="365760"/>
          </a:xfrm>
          <a:prstGeom prst="rect">
            <a:avLst/>
          </a:prstGeom>
          <a:noFill/>
          <a:ln/>
        </p:spPr>
        <p:txBody>
          <a:bodyPr wrap="square" lIns="0" tIns="0" rIns="0" bIns="0" rtlCol="0" anchor="ctr"/>
          <a:lstStyle/>
          <a:p>
            <a:pPr marL="0" indent="0">
              <a:buNone/>
            </a:pPr>
            <a:r>
              <a:rPr lang="en-US" sz="1600" b="1" dirty="0">
                <a:solidFill>
                  <a:srgbClr val="14532D"/>
                </a:solidFill>
              </a:rPr>
              <a:t>Irrigating without knowing soil moisture, recent rain or the forecast can lead to:</a:t>
            </a:r>
            <a:endParaRPr lang="en-US" sz="1600" dirty="0"/>
          </a:p>
        </p:txBody>
      </p:sp>
      <p:sp>
        <p:nvSpPr>
          <p:cNvPr id="10" name="Shape 8"/>
          <p:cNvSpPr/>
          <p:nvPr/>
        </p:nvSpPr>
        <p:spPr>
          <a:xfrm>
            <a:off x="457200" y="3017520"/>
            <a:ext cx="5559552" cy="1051560"/>
          </a:xfrm>
          <a:prstGeom prst="roundRect">
            <a:avLst>
              <a:gd name="adj" fmla="val 6957"/>
            </a:avLst>
          </a:prstGeom>
          <a:solidFill>
            <a:srgbClr val="FFFFFF"/>
          </a:solidFill>
          <a:ln w="12700">
            <a:solidFill>
              <a:srgbClr val="BFDCC4"/>
            </a:solidFill>
            <a:prstDash val="solid"/>
          </a:ln>
        </p:spPr>
      </p:sp>
      <p:sp>
        <p:nvSpPr>
          <p:cNvPr id="11" name="Shape 9"/>
          <p:cNvSpPr/>
          <p:nvPr/>
        </p:nvSpPr>
        <p:spPr>
          <a:xfrm>
            <a:off x="457200" y="3108960"/>
            <a:ext cx="64008" cy="868680"/>
          </a:xfrm>
          <a:prstGeom prst="rect">
            <a:avLst/>
          </a:prstGeom>
          <a:solidFill>
            <a:srgbClr val="2E7D32"/>
          </a:solidFill>
          <a:ln w="12700">
            <a:solidFill>
              <a:srgbClr val="2E7D32"/>
            </a:solidFill>
            <a:prstDash val="solid"/>
          </a:ln>
        </p:spPr>
      </p:sp>
      <p:sp>
        <p:nvSpPr>
          <p:cNvPr id="12" name="Text 10"/>
          <p:cNvSpPr txBox="1"/>
          <p:nvPr/>
        </p:nvSpPr>
        <p:spPr>
          <a:xfrm>
            <a:off x="640080" y="3063240"/>
            <a:ext cx="5285232" cy="960120"/>
          </a:xfrm>
          <a:prstGeom prst="rect">
            <a:avLst/>
          </a:prstGeom>
          <a:noFill/>
          <a:ln/>
        </p:spPr>
        <p:txBody>
          <a:bodyPr wrap="square" lIns="0" tIns="0" rIns="0" bIns="0" rtlCol="0" anchor="ctr"/>
          <a:lstStyle/>
          <a:p>
            <a:pPr marL="0" indent="0">
              <a:buNone/>
            </a:pPr>
            <a:r>
              <a:rPr lang="en-US" sz="1500" b="1" dirty="0">
                <a:solidFill>
                  <a:srgbClr val="14532D"/>
                </a:solidFill>
              </a:rPr>
              <a:t>Unnecessary water use</a:t>
            </a:r>
            <a:endParaRPr lang="en-US" sz="1500" dirty="0"/>
          </a:p>
          <a:p>
            <a:pPr marL="0" indent="0">
              <a:buNone/>
            </a:pPr>
            <a:r>
              <a:rPr lang="en-US" sz="1250" dirty="0">
                <a:solidFill>
                  <a:srgbClr val="1B2B1F"/>
                </a:solidFill>
              </a:rPr>
              <a:t>Water applied when soil is already moist or rain is coming</a:t>
            </a:r>
            <a:endParaRPr lang="en-US" sz="1500" dirty="0"/>
          </a:p>
        </p:txBody>
      </p:sp>
      <p:sp>
        <p:nvSpPr>
          <p:cNvPr id="13" name="Shape 11"/>
          <p:cNvSpPr/>
          <p:nvPr/>
        </p:nvSpPr>
        <p:spPr>
          <a:xfrm>
            <a:off x="6172200" y="3017520"/>
            <a:ext cx="5559552" cy="1051560"/>
          </a:xfrm>
          <a:prstGeom prst="roundRect">
            <a:avLst>
              <a:gd name="adj" fmla="val 6957"/>
            </a:avLst>
          </a:prstGeom>
          <a:solidFill>
            <a:srgbClr val="FFFFFF"/>
          </a:solidFill>
          <a:ln w="12700">
            <a:solidFill>
              <a:srgbClr val="BFDCC4"/>
            </a:solidFill>
            <a:prstDash val="solid"/>
          </a:ln>
        </p:spPr>
      </p:sp>
      <p:sp>
        <p:nvSpPr>
          <p:cNvPr id="14" name="Shape 12"/>
          <p:cNvSpPr/>
          <p:nvPr/>
        </p:nvSpPr>
        <p:spPr>
          <a:xfrm>
            <a:off x="6172200" y="3108960"/>
            <a:ext cx="64008" cy="868680"/>
          </a:xfrm>
          <a:prstGeom prst="rect">
            <a:avLst/>
          </a:prstGeom>
          <a:solidFill>
            <a:srgbClr val="0EA5E9"/>
          </a:solidFill>
          <a:ln w="12700">
            <a:solidFill>
              <a:srgbClr val="0EA5E9"/>
            </a:solidFill>
            <a:prstDash val="solid"/>
          </a:ln>
        </p:spPr>
      </p:sp>
      <p:sp>
        <p:nvSpPr>
          <p:cNvPr id="15" name="Text 13"/>
          <p:cNvSpPr txBox="1"/>
          <p:nvPr/>
        </p:nvSpPr>
        <p:spPr>
          <a:xfrm>
            <a:off x="6355080" y="3063240"/>
            <a:ext cx="5285232" cy="960120"/>
          </a:xfrm>
          <a:prstGeom prst="rect">
            <a:avLst/>
          </a:prstGeom>
          <a:noFill/>
          <a:ln/>
        </p:spPr>
        <p:txBody>
          <a:bodyPr wrap="square" lIns="0" tIns="0" rIns="0" bIns="0" rtlCol="0" anchor="ctr"/>
          <a:lstStyle/>
          <a:p>
            <a:pPr marL="0" indent="0">
              <a:buNone/>
            </a:pPr>
            <a:r>
              <a:rPr lang="en-US" sz="1500" b="1" dirty="0">
                <a:solidFill>
                  <a:srgbClr val="14532D"/>
                </a:solidFill>
              </a:rPr>
              <a:t>Higher irrigation cost</a:t>
            </a:r>
            <a:endParaRPr lang="en-US" sz="1500" dirty="0"/>
          </a:p>
          <a:p>
            <a:pPr marL="0" indent="0">
              <a:buNone/>
            </a:pPr>
            <a:r>
              <a:rPr lang="en-US" sz="1250" dirty="0">
                <a:solidFill>
                  <a:srgbClr val="1B2B1F"/>
                </a:solidFill>
              </a:rPr>
              <a:t>More pumping time means more cost</a:t>
            </a:r>
            <a:endParaRPr lang="en-US" sz="1500" dirty="0"/>
          </a:p>
        </p:txBody>
      </p:sp>
      <p:sp>
        <p:nvSpPr>
          <p:cNvPr id="16" name="Shape 14"/>
          <p:cNvSpPr/>
          <p:nvPr/>
        </p:nvSpPr>
        <p:spPr>
          <a:xfrm>
            <a:off x="457200" y="4206240"/>
            <a:ext cx="5559552" cy="1051560"/>
          </a:xfrm>
          <a:prstGeom prst="roundRect">
            <a:avLst>
              <a:gd name="adj" fmla="val 6957"/>
            </a:avLst>
          </a:prstGeom>
          <a:solidFill>
            <a:srgbClr val="FFFFFF"/>
          </a:solidFill>
          <a:ln w="12700">
            <a:solidFill>
              <a:srgbClr val="BFDCC4"/>
            </a:solidFill>
            <a:prstDash val="solid"/>
          </a:ln>
        </p:spPr>
      </p:sp>
      <p:sp>
        <p:nvSpPr>
          <p:cNvPr id="17" name="Shape 15"/>
          <p:cNvSpPr/>
          <p:nvPr/>
        </p:nvSpPr>
        <p:spPr>
          <a:xfrm>
            <a:off x="457200" y="4297680"/>
            <a:ext cx="64008" cy="868680"/>
          </a:xfrm>
          <a:prstGeom prst="rect">
            <a:avLst/>
          </a:prstGeom>
          <a:solidFill>
            <a:srgbClr val="2E7D32"/>
          </a:solidFill>
          <a:ln w="12700">
            <a:solidFill>
              <a:srgbClr val="2E7D32"/>
            </a:solidFill>
            <a:prstDash val="solid"/>
          </a:ln>
        </p:spPr>
      </p:sp>
      <p:sp>
        <p:nvSpPr>
          <p:cNvPr id="18" name="Text 16"/>
          <p:cNvSpPr txBox="1"/>
          <p:nvPr/>
        </p:nvSpPr>
        <p:spPr>
          <a:xfrm>
            <a:off x="640080" y="4251960"/>
            <a:ext cx="5285232" cy="960120"/>
          </a:xfrm>
          <a:prstGeom prst="rect">
            <a:avLst/>
          </a:prstGeom>
          <a:noFill/>
          <a:ln/>
        </p:spPr>
        <p:txBody>
          <a:bodyPr wrap="square" lIns="0" tIns="0" rIns="0" bIns="0" rtlCol="0" anchor="ctr"/>
          <a:lstStyle/>
          <a:p>
            <a:pPr marL="0" indent="0">
              <a:buNone/>
            </a:pPr>
            <a:r>
              <a:rPr lang="en-US" sz="1500" b="1" dirty="0">
                <a:solidFill>
                  <a:srgbClr val="14532D"/>
                </a:solidFill>
              </a:rPr>
              <a:t>Wasted electricity and resources</a:t>
            </a:r>
            <a:endParaRPr lang="en-US" sz="1500" dirty="0"/>
          </a:p>
          <a:p>
            <a:pPr marL="0" indent="0">
              <a:buNone/>
            </a:pPr>
            <a:r>
              <a:rPr lang="en-US" sz="1250" dirty="0">
                <a:solidFill>
                  <a:srgbClr val="1B2B1F"/>
                </a:solidFill>
              </a:rPr>
              <a:t>Pumps run longer than needed</a:t>
            </a:r>
            <a:endParaRPr lang="en-US" sz="1500" dirty="0"/>
          </a:p>
        </p:txBody>
      </p:sp>
      <p:sp>
        <p:nvSpPr>
          <p:cNvPr id="19" name="Shape 17"/>
          <p:cNvSpPr/>
          <p:nvPr/>
        </p:nvSpPr>
        <p:spPr>
          <a:xfrm>
            <a:off x="6172200" y="4206240"/>
            <a:ext cx="5559552" cy="1051560"/>
          </a:xfrm>
          <a:prstGeom prst="roundRect">
            <a:avLst>
              <a:gd name="adj" fmla="val 6957"/>
            </a:avLst>
          </a:prstGeom>
          <a:solidFill>
            <a:srgbClr val="FFFFFF"/>
          </a:solidFill>
          <a:ln w="12700">
            <a:solidFill>
              <a:srgbClr val="BFDCC4"/>
            </a:solidFill>
            <a:prstDash val="solid"/>
          </a:ln>
        </p:spPr>
      </p:sp>
      <p:sp>
        <p:nvSpPr>
          <p:cNvPr id="20" name="Shape 18"/>
          <p:cNvSpPr/>
          <p:nvPr/>
        </p:nvSpPr>
        <p:spPr>
          <a:xfrm>
            <a:off x="6172200" y="4297680"/>
            <a:ext cx="64008" cy="868680"/>
          </a:xfrm>
          <a:prstGeom prst="rect">
            <a:avLst/>
          </a:prstGeom>
          <a:solidFill>
            <a:srgbClr val="0EA5E9"/>
          </a:solidFill>
          <a:ln w="12700">
            <a:solidFill>
              <a:srgbClr val="0EA5E9"/>
            </a:solidFill>
            <a:prstDash val="solid"/>
          </a:ln>
        </p:spPr>
      </p:sp>
      <p:sp>
        <p:nvSpPr>
          <p:cNvPr id="21" name="Text 19"/>
          <p:cNvSpPr txBox="1"/>
          <p:nvPr/>
        </p:nvSpPr>
        <p:spPr>
          <a:xfrm>
            <a:off x="6355080" y="4251960"/>
            <a:ext cx="5285232" cy="960120"/>
          </a:xfrm>
          <a:prstGeom prst="rect">
            <a:avLst/>
          </a:prstGeom>
          <a:noFill/>
          <a:ln/>
        </p:spPr>
        <p:txBody>
          <a:bodyPr wrap="square" lIns="0" tIns="0" rIns="0" bIns="0" rtlCol="0" anchor="ctr"/>
          <a:lstStyle/>
          <a:p>
            <a:pPr marL="0" indent="0">
              <a:buNone/>
            </a:pPr>
            <a:r>
              <a:rPr lang="en-US" sz="1500" b="1" dirty="0">
                <a:solidFill>
                  <a:srgbClr val="14532D"/>
                </a:solidFill>
              </a:rPr>
              <a:t>Hard decisions as weather changes</a:t>
            </a:r>
            <a:endParaRPr lang="en-US" sz="1500" dirty="0"/>
          </a:p>
          <a:p>
            <a:pPr marL="0" indent="0">
              <a:buNone/>
            </a:pPr>
            <a:r>
              <a:rPr lang="en-US" sz="1250" dirty="0">
                <a:solidFill>
                  <a:srgbClr val="1B2B1F"/>
                </a:solidFill>
              </a:rPr>
              <a:t>Rain or heat can quickly change what the crop needs</a:t>
            </a:r>
            <a:endParaRPr lang="en-US" sz="1500" dirty="0"/>
          </a:p>
        </p:txBody>
      </p:sp>
      <p:sp>
        <p:nvSpPr>
          <p:cNvPr id="22" name="Text 20"/>
          <p:cNvSpPr txBox="1"/>
          <p:nvPr/>
        </p:nvSpPr>
        <p:spPr>
          <a:xfrm>
            <a:off x="457200" y="5532120"/>
            <a:ext cx="11247120" cy="548640"/>
          </a:xfrm>
          <a:prstGeom prst="rect">
            <a:avLst/>
          </a:prstGeom>
          <a:noFill/>
          <a:ln/>
        </p:spPr>
        <p:txBody>
          <a:bodyPr wrap="square" lIns="0" tIns="0" rIns="0" bIns="0" rtlCol="0" anchor="ctr"/>
          <a:lstStyle/>
          <a:p>
            <a:pPr marL="0" indent="0">
              <a:buNone/>
            </a:pPr>
            <a:r>
              <a:rPr lang="en-US" sz="1500" b="1" dirty="0">
                <a:solidFill>
                  <a:srgbClr val="2E7D32"/>
                </a:solidFill>
              </a:rPr>
              <a:t>Relevance: better irrigation decisions support sustainable water management in agriculture.</a:t>
            </a:r>
            <a:endParaRPr lang="en-US" sz="1500" dirty="0"/>
          </a:p>
        </p:txBody>
      </p:sp>
      <p:sp>
        <p:nvSpPr>
          <p:cNvPr id="25" name="Slide Number Placeholder 0"/>
          <p:cNvSpPr>
            <a:spLocks noGrp="1"/>
          </p:cNvSpPr>
          <p:nvPr>
            <p:ph type="sldNum" sz="quarter" idx="4294967295"/>
          </p:nvPr>
        </p:nvSpPr>
        <p:spPr>
          <a:xfrm>
            <a:off x="1115568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0"/>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4532D"/>
          </a:solidFill>
          <a:ln w="12700">
            <a:solidFill>
              <a:srgbClr val="14532D"/>
            </a:solidFill>
            <a:prstDash val="solid"/>
          </a:ln>
        </p:spPr>
      </p:sp>
      <p:sp>
        <p:nvSpPr>
          <p:cNvPr id="3" name="Shape 1"/>
          <p:cNvSpPr/>
          <p:nvPr/>
        </p:nvSpPr>
        <p:spPr>
          <a:xfrm>
            <a:off x="0" y="914400"/>
            <a:ext cx="12188952" cy="54864"/>
          </a:xfrm>
          <a:prstGeom prst="rect">
            <a:avLst/>
          </a:prstGeom>
          <a:solidFill>
            <a:srgbClr val="0EA5E9"/>
          </a:solidFill>
          <a:ln w="12700">
            <a:solidFill>
              <a:srgbClr val="0EA5E9"/>
            </a:solidFill>
            <a:prstDash val="solid"/>
          </a:ln>
        </p:spPr>
      </p:sp>
      <p:sp>
        <p:nvSpPr>
          <p:cNvPr id="4" name="Text 2"/>
          <p:cNvSpPr txBox="1"/>
          <p:nvPr/>
        </p:nvSpPr>
        <p:spPr>
          <a:xfrm>
            <a:off x="457200" y="109728"/>
            <a:ext cx="8503920" cy="694944"/>
          </a:xfrm>
          <a:prstGeom prst="rect">
            <a:avLst/>
          </a:prstGeom>
          <a:noFill/>
          <a:ln/>
        </p:spPr>
        <p:txBody>
          <a:bodyPr wrap="square" lIns="0" tIns="0" rIns="0" bIns="0" rtlCol="0" anchor="ctr"/>
          <a:lstStyle/>
          <a:p>
            <a:pPr marL="0" indent="0">
              <a:buNone/>
            </a:pPr>
            <a:r>
              <a:rPr lang="en-US" sz="2800" b="1" dirty="0">
                <a:solidFill>
                  <a:srgbClr val="FFFFFF"/>
                </a:solidFill>
              </a:rPr>
              <a:t>Existing Approaches and Their Limitations</a:t>
            </a:r>
            <a:endParaRPr lang="en-US" sz="2800" dirty="0"/>
          </a:p>
        </p:txBody>
      </p:sp>
      <p:sp>
        <p:nvSpPr>
          <p:cNvPr id="5" name="Text 3"/>
          <p:cNvSpPr txBox="1"/>
          <p:nvPr/>
        </p:nvSpPr>
        <p:spPr>
          <a:xfrm>
            <a:off x="8778240" y="109728"/>
            <a:ext cx="2971800" cy="694944"/>
          </a:xfrm>
          <a:prstGeom prst="rect">
            <a:avLst/>
          </a:prstGeom>
          <a:noFill/>
          <a:ln/>
        </p:spPr>
        <p:txBody>
          <a:bodyPr wrap="square" lIns="0" tIns="0" rIns="0" bIns="0" rtlCol="0" anchor="ctr"/>
          <a:lstStyle/>
          <a:p>
            <a:pPr marL="0" indent="0" algn="r">
              <a:buNone/>
            </a:pPr>
            <a:r>
              <a:rPr lang="en-US" sz="1200" dirty="0">
                <a:solidFill>
                  <a:srgbClr val="A7E3B0"/>
                </a:solidFill>
              </a:rPr>
              <a:t>Problem Understanding</a:t>
            </a:r>
            <a:endParaRPr lang="en-US" sz="1200" dirty="0"/>
          </a:p>
        </p:txBody>
      </p:sp>
      <p:sp>
        <p:nvSpPr>
          <p:cNvPr id="6" name="Text 4"/>
          <p:cNvSpPr txBox="1"/>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F70"/>
                </a:solidFill>
              </a:rPr>
              <a:t>AIBOTS-2026 Hackathon | Review 1</a:t>
            </a:r>
            <a:endParaRPr lang="en-US" sz="1000" dirty="0"/>
          </a:p>
        </p:txBody>
      </p:sp>
      <p:sp>
        <p:nvSpPr>
          <p:cNvPr id="7" name="Shape 5"/>
          <p:cNvSpPr/>
          <p:nvPr/>
        </p:nvSpPr>
        <p:spPr>
          <a:xfrm>
            <a:off x="457200" y="1234440"/>
            <a:ext cx="3611880" cy="3840480"/>
          </a:xfrm>
          <a:prstGeom prst="roundRect">
            <a:avLst>
              <a:gd name="adj" fmla="val 2025"/>
            </a:avLst>
          </a:prstGeom>
          <a:solidFill>
            <a:srgbClr val="FDECEA"/>
          </a:solidFill>
          <a:ln w="19050">
            <a:solidFill>
              <a:srgbClr val="C0392B"/>
            </a:solidFill>
            <a:prstDash val="solid"/>
          </a:ln>
        </p:spPr>
      </p:sp>
      <p:sp>
        <p:nvSpPr>
          <p:cNvPr id="8" name="Text 6"/>
          <p:cNvSpPr txBox="1"/>
          <p:nvPr/>
        </p:nvSpPr>
        <p:spPr>
          <a:xfrm>
            <a:off x="457200" y="1234440"/>
            <a:ext cx="3611880" cy="640080"/>
          </a:xfrm>
          <a:prstGeom prst="rect">
            <a:avLst/>
          </a:prstGeom>
          <a:solidFill>
            <a:srgbClr val="C0392B"/>
          </a:solidFill>
          <a:ln/>
        </p:spPr>
        <p:txBody>
          <a:bodyPr wrap="square" lIns="0" tIns="0" rIns="0" bIns="0" rtlCol="0" anchor="ctr"/>
          <a:lstStyle/>
          <a:p>
            <a:pPr marL="0" indent="0" algn="ctr">
              <a:buNone/>
            </a:pPr>
            <a:r>
              <a:rPr lang="en-US" sz="1600" b="1" dirty="0">
                <a:solidFill>
                  <a:srgbClr val="FFFFFF"/>
                </a:solidFill>
              </a:rPr>
              <a:t>Traditional Irrigation</a:t>
            </a:r>
            <a:endParaRPr lang="en-US" sz="1600" dirty="0"/>
          </a:p>
        </p:txBody>
      </p:sp>
      <p:sp>
        <p:nvSpPr>
          <p:cNvPr id="9" name="Text 7"/>
          <p:cNvSpPr txBox="1"/>
          <p:nvPr/>
        </p:nvSpPr>
        <p:spPr>
          <a:xfrm>
            <a:off x="685800" y="2103120"/>
            <a:ext cx="3200400" cy="28346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B1F"/>
                </a:solidFill>
              </a:rPr>
              <a:t>Decisions depend on experience, schedules or visual checks</a:t>
            </a:r>
            <a:endParaRPr lang="en-US" sz="1400" dirty="0"/>
          </a:p>
          <a:p>
            <a:pPr marL="342900" indent="-342900">
              <a:spcAft>
                <a:spcPts val="600"/>
              </a:spcAft>
              <a:buSzPct val="100000"/>
              <a:buChar char="•"/>
            </a:pPr>
            <a:r>
              <a:rPr lang="en-US" sz="1400" dirty="0">
                <a:solidFill>
                  <a:srgbClr val="1B2B1F"/>
                </a:solidFill>
              </a:rPr>
              <a:t>Soil moisture and weather may not be considered together</a:t>
            </a:r>
            <a:endParaRPr lang="en-US" sz="1400" dirty="0"/>
          </a:p>
        </p:txBody>
      </p:sp>
      <p:sp>
        <p:nvSpPr>
          <p:cNvPr id="10" name="Shape 8"/>
          <p:cNvSpPr/>
          <p:nvPr/>
        </p:nvSpPr>
        <p:spPr>
          <a:xfrm>
            <a:off x="4288536" y="1234440"/>
            <a:ext cx="3611880" cy="3840480"/>
          </a:xfrm>
          <a:prstGeom prst="roundRect">
            <a:avLst>
              <a:gd name="adj" fmla="val 2025"/>
            </a:avLst>
          </a:prstGeom>
          <a:solidFill>
            <a:srgbClr val="FFF8E1"/>
          </a:solidFill>
          <a:ln w="19050">
            <a:solidFill>
              <a:srgbClr val="F9A825"/>
            </a:solidFill>
            <a:prstDash val="solid"/>
          </a:ln>
        </p:spPr>
      </p:sp>
      <p:sp>
        <p:nvSpPr>
          <p:cNvPr id="11" name="Text 9"/>
          <p:cNvSpPr txBox="1"/>
          <p:nvPr/>
        </p:nvSpPr>
        <p:spPr>
          <a:xfrm>
            <a:off x="4288536" y="1234440"/>
            <a:ext cx="3611880" cy="640080"/>
          </a:xfrm>
          <a:prstGeom prst="rect">
            <a:avLst/>
          </a:prstGeom>
          <a:solidFill>
            <a:srgbClr val="F9A825"/>
          </a:solidFill>
          <a:ln/>
        </p:spPr>
        <p:txBody>
          <a:bodyPr wrap="square" lIns="0" tIns="0" rIns="0" bIns="0" rtlCol="0" anchor="ctr"/>
          <a:lstStyle/>
          <a:p>
            <a:pPr marL="0" indent="0" algn="ctr">
              <a:buNone/>
            </a:pPr>
            <a:r>
              <a:rPr lang="en-US" sz="1600" b="1" dirty="0">
                <a:solidFill>
                  <a:srgbClr val="FFFFFF"/>
                </a:solidFill>
              </a:rPr>
              <a:t>Basic Sensor-Based Irrigation</a:t>
            </a:r>
            <a:endParaRPr lang="en-US" sz="1600" dirty="0"/>
          </a:p>
        </p:txBody>
      </p:sp>
      <p:sp>
        <p:nvSpPr>
          <p:cNvPr id="12" name="Text 10"/>
          <p:cNvSpPr txBox="1"/>
          <p:nvPr/>
        </p:nvSpPr>
        <p:spPr>
          <a:xfrm>
            <a:off x="4517136" y="2103120"/>
            <a:ext cx="3200400" cy="28346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B1F"/>
                </a:solidFill>
              </a:rPr>
              <a:t>Measures soil moisture</a:t>
            </a:r>
            <a:endParaRPr lang="en-US" sz="1400" dirty="0"/>
          </a:p>
          <a:p>
            <a:pPr marL="342900" indent="-342900">
              <a:spcAft>
                <a:spcPts val="600"/>
              </a:spcAft>
              <a:buSzPct val="100000"/>
              <a:buChar char="•"/>
            </a:pPr>
            <a:r>
              <a:rPr lang="en-US" sz="1400" dirty="0">
                <a:solidFill>
                  <a:srgbClr val="1B2B1F"/>
                </a:solidFill>
              </a:rPr>
              <a:t>May not account for upcoming rain or wider weather conditions</a:t>
            </a:r>
            <a:endParaRPr lang="en-US" sz="1400" dirty="0"/>
          </a:p>
        </p:txBody>
      </p:sp>
      <p:sp>
        <p:nvSpPr>
          <p:cNvPr id="13" name="Shape 11"/>
          <p:cNvSpPr/>
          <p:nvPr/>
        </p:nvSpPr>
        <p:spPr>
          <a:xfrm>
            <a:off x="8119872" y="1234440"/>
            <a:ext cx="3611880" cy="3840480"/>
          </a:xfrm>
          <a:prstGeom prst="roundRect">
            <a:avLst>
              <a:gd name="adj" fmla="val 2025"/>
            </a:avLst>
          </a:prstGeom>
          <a:solidFill>
            <a:srgbClr val="EAF6EC"/>
          </a:solidFill>
          <a:ln w="19050">
            <a:solidFill>
              <a:srgbClr val="2E7D32"/>
            </a:solidFill>
            <a:prstDash val="solid"/>
          </a:ln>
        </p:spPr>
      </p:sp>
      <p:sp>
        <p:nvSpPr>
          <p:cNvPr id="14" name="Text 12"/>
          <p:cNvSpPr txBox="1"/>
          <p:nvPr/>
        </p:nvSpPr>
        <p:spPr>
          <a:xfrm>
            <a:off x="8119872" y="1234440"/>
            <a:ext cx="3611880" cy="640080"/>
          </a:xfrm>
          <a:prstGeom prst="rect">
            <a:avLst/>
          </a:prstGeom>
          <a:solidFill>
            <a:srgbClr val="2E7D32"/>
          </a:solidFill>
          <a:ln/>
        </p:spPr>
        <p:txBody>
          <a:bodyPr wrap="square" lIns="0" tIns="0" rIns="0" bIns="0" rtlCol="0" anchor="ctr"/>
          <a:lstStyle/>
          <a:p>
            <a:pPr marL="0" indent="0" algn="ctr">
              <a:buNone/>
            </a:pPr>
            <a:r>
              <a:rPr lang="en-US" sz="1600" b="1" dirty="0">
                <a:solidFill>
                  <a:srgbClr val="FFFFFF"/>
                </a:solidFill>
              </a:rPr>
              <a:t>Proposed Smart Irrigation System</a:t>
            </a:r>
            <a:endParaRPr lang="en-US" sz="1600" dirty="0"/>
          </a:p>
        </p:txBody>
      </p:sp>
      <p:sp>
        <p:nvSpPr>
          <p:cNvPr id="15" name="Text 13"/>
          <p:cNvSpPr txBox="1"/>
          <p:nvPr/>
        </p:nvSpPr>
        <p:spPr>
          <a:xfrm>
            <a:off x="8348472" y="2103120"/>
            <a:ext cx="3200400" cy="28346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B1F"/>
                </a:solidFill>
              </a:rPr>
              <a:t>Physical soil moisture sensor</a:t>
            </a:r>
            <a:endParaRPr lang="en-US" sz="1400" dirty="0"/>
          </a:p>
          <a:p>
            <a:pPr marL="342900" indent="-342900">
              <a:spcAft>
                <a:spcPts val="600"/>
              </a:spcAft>
              <a:buSzPct val="100000"/>
              <a:buChar char="•"/>
            </a:pPr>
            <a:r>
              <a:rPr lang="en-US" sz="1400" dirty="0">
                <a:solidFill>
                  <a:srgbClr val="1B2B1F"/>
                </a:solidFill>
              </a:rPr>
              <a:t>Air temperature and humidity measurement</a:t>
            </a:r>
            <a:endParaRPr lang="en-US" sz="1400" dirty="0"/>
          </a:p>
          <a:p>
            <a:pPr marL="342900" indent="-342900">
              <a:spcAft>
                <a:spcPts val="600"/>
              </a:spcAft>
              <a:buSzPct val="100000"/>
              <a:buChar char="•"/>
            </a:pPr>
            <a:r>
              <a:rPr lang="en-US" sz="1400" dirty="0">
                <a:solidFill>
                  <a:srgbClr val="1B2B1F"/>
                </a:solidFill>
              </a:rPr>
              <a:t>Weather information through an API</a:t>
            </a:r>
            <a:endParaRPr lang="en-US" sz="1400" dirty="0"/>
          </a:p>
          <a:p>
            <a:pPr marL="342900" indent="-342900">
              <a:spcAft>
                <a:spcPts val="600"/>
              </a:spcAft>
              <a:buSzPct val="100000"/>
              <a:buChar char="•"/>
            </a:pPr>
            <a:r>
              <a:rPr lang="en-US" sz="1400" dirty="0">
                <a:solidFill>
                  <a:srgbClr val="1B2B1F"/>
                </a:solidFill>
              </a:rPr>
              <a:t>Combines these inputs into recommendations</a:t>
            </a:r>
            <a:endParaRPr lang="en-US" sz="1400" dirty="0"/>
          </a:p>
        </p:txBody>
      </p:sp>
      <p:sp>
        <p:nvSpPr>
          <p:cNvPr id="16" name="Text 14"/>
          <p:cNvSpPr txBox="1"/>
          <p:nvPr/>
        </p:nvSpPr>
        <p:spPr>
          <a:xfrm>
            <a:off x="457200" y="5349240"/>
            <a:ext cx="11274552" cy="822960"/>
          </a:xfrm>
          <a:prstGeom prst="rect">
            <a:avLst/>
          </a:prstGeom>
          <a:noFill/>
          <a:ln/>
        </p:spPr>
        <p:txBody>
          <a:bodyPr wrap="square" lIns="0" tIns="0" rIns="0" bIns="0" rtlCol="0" anchor="ctr"/>
          <a:lstStyle/>
          <a:p>
            <a:pPr marL="0" indent="0">
              <a:buNone/>
            </a:pPr>
            <a:r>
              <a:rPr lang="en-US" sz="1400" b="1" dirty="0">
                <a:solidFill>
                  <a:srgbClr val="14532D"/>
                </a:solidFill>
              </a:rPr>
              <a:t>Our system combines multiple sources of information instead of relying on a fixed schedule or a single sensor reading. Some existing systems may already include weather features.</a:t>
            </a:r>
            <a:endParaRPr lang="en-US" sz="1400" dirty="0"/>
          </a:p>
        </p:txBody>
      </p:sp>
      <p:sp>
        <p:nvSpPr>
          <p:cNvPr id="25" name="Slide Number Placeholder 0"/>
          <p:cNvSpPr>
            <a:spLocks noGrp="1"/>
          </p:cNvSpPr>
          <p:nvPr>
            <p:ph type="sldNum" sz="quarter" idx="4294967295"/>
          </p:nvPr>
        </p:nvSpPr>
        <p:spPr>
          <a:xfrm>
            <a:off x="1115568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0"/>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4532D"/>
          </a:solidFill>
          <a:ln w="12700">
            <a:solidFill>
              <a:srgbClr val="14532D"/>
            </a:solidFill>
            <a:prstDash val="solid"/>
          </a:ln>
        </p:spPr>
      </p:sp>
      <p:sp>
        <p:nvSpPr>
          <p:cNvPr id="3" name="Shape 1"/>
          <p:cNvSpPr/>
          <p:nvPr/>
        </p:nvSpPr>
        <p:spPr>
          <a:xfrm>
            <a:off x="0" y="914400"/>
            <a:ext cx="12188952" cy="54864"/>
          </a:xfrm>
          <a:prstGeom prst="rect">
            <a:avLst/>
          </a:prstGeom>
          <a:solidFill>
            <a:srgbClr val="0EA5E9"/>
          </a:solidFill>
          <a:ln w="12700">
            <a:solidFill>
              <a:srgbClr val="0EA5E9"/>
            </a:solidFill>
            <a:prstDash val="solid"/>
          </a:ln>
        </p:spPr>
      </p:sp>
      <p:sp>
        <p:nvSpPr>
          <p:cNvPr id="4" name="Text 2"/>
          <p:cNvSpPr txBox="1"/>
          <p:nvPr/>
        </p:nvSpPr>
        <p:spPr>
          <a:xfrm>
            <a:off x="457200" y="109728"/>
            <a:ext cx="8503920" cy="694944"/>
          </a:xfrm>
          <a:prstGeom prst="rect">
            <a:avLst/>
          </a:prstGeom>
          <a:noFill/>
          <a:ln/>
        </p:spPr>
        <p:txBody>
          <a:bodyPr wrap="square" lIns="0" tIns="0" rIns="0" bIns="0" rtlCol="0" anchor="ctr"/>
          <a:lstStyle/>
          <a:p>
            <a:pPr marL="0" indent="0">
              <a:buNone/>
            </a:pPr>
            <a:r>
              <a:rPr lang="en-US" sz="2800" b="1" dirty="0">
                <a:solidFill>
                  <a:srgbClr val="FFFFFF"/>
                </a:solidFill>
              </a:rPr>
              <a:t>Proposed Solution: End-to-End Workflow</a:t>
            </a:r>
            <a:endParaRPr lang="en-US" sz="2800" dirty="0"/>
          </a:p>
        </p:txBody>
      </p:sp>
      <p:sp>
        <p:nvSpPr>
          <p:cNvPr id="5" name="Text 3"/>
          <p:cNvSpPr txBox="1"/>
          <p:nvPr/>
        </p:nvSpPr>
        <p:spPr>
          <a:xfrm>
            <a:off x="8778240" y="109728"/>
            <a:ext cx="2971800" cy="694944"/>
          </a:xfrm>
          <a:prstGeom prst="rect">
            <a:avLst/>
          </a:prstGeom>
          <a:noFill/>
          <a:ln/>
        </p:spPr>
        <p:txBody>
          <a:bodyPr wrap="square" lIns="0" tIns="0" rIns="0" bIns="0" rtlCol="0" anchor="ctr"/>
          <a:lstStyle/>
          <a:p>
            <a:pPr marL="0" indent="0" algn="r">
              <a:buNone/>
            </a:pPr>
            <a:r>
              <a:rPr lang="en-US" sz="1200" dirty="0">
                <a:solidFill>
                  <a:srgbClr val="A7E3B0"/>
                </a:solidFill>
              </a:rPr>
              <a:t>Proposed Solution</a:t>
            </a:r>
            <a:endParaRPr lang="en-US" sz="1200" dirty="0"/>
          </a:p>
        </p:txBody>
      </p:sp>
      <p:sp>
        <p:nvSpPr>
          <p:cNvPr id="6" name="Text 4"/>
          <p:cNvSpPr txBox="1"/>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F70"/>
                </a:solidFill>
              </a:rPr>
              <a:t>AIBOTS-2026 Hackathon | Review 1</a:t>
            </a:r>
            <a:endParaRPr lang="en-US" sz="1000" dirty="0"/>
          </a:p>
        </p:txBody>
      </p:sp>
      <p:sp>
        <p:nvSpPr>
          <p:cNvPr id="7" name="Text 5"/>
          <p:cNvSpPr/>
          <p:nvPr/>
        </p:nvSpPr>
        <p:spPr>
          <a:xfrm>
            <a:off x="457200" y="1280160"/>
            <a:ext cx="2468880" cy="1188720"/>
          </a:xfrm>
          <a:prstGeom prst="roundRect">
            <a:avLst>
              <a:gd name="adj" fmla="val 6154"/>
            </a:avLst>
          </a:prstGeom>
          <a:solidFill>
            <a:srgbClr val="FFFFFF"/>
          </a:solidFill>
          <a:ln w="15875">
            <a:solidFill>
              <a:srgbClr val="2E7D32"/>
            </a:solidFill>
          </a:ln>
        </p:spPr>
        <p:txBody>
          <a:bodyPr wrap="square" lIns="1016" tIns="1016" rIns="1016" bIns="1016" rtlCol="0" anchor="ctr"/>
          <a:lstStyle/>
          <a:p>
            <a:pPr marL="0" indent="0" algn="ctr">
              <a:buNone/>
            </a:pPr>
            <a:r>
              <a:rPr lang="en-US" sz="1250" dirty="0">
                <a:solidFill>
                  <a:srgbClr val="1B2B1F"/>
                </a:solidFill>
              </a:rPr>
              <a:t>1  Soil moisture sensor reads soil values</a:t>
            </a:r>
            <a:endParaRPr lang="en-US" sz="1250" dirty="0"/>
          </a:p>
        </p:txBody>
      </p:sp>
      <p:sp>
        <p:nvSpPr>
          <p:cNvPr id="8" name="Shape 6"/>
          <p:cNvSpPr/>
          <p:nvPr/>
        </p:nvSpPr>
        <p:spPr>
          <a:xfrm>
            <a:off x="2926080" y="1874520"/>
            <a:ext cx="466344" cy="0"/>
          </a:xfrm>
          <a:prstGeom prst="line">
            <a:avLst/>
          </a:prstGeom>
          <a:noFill/>
          <a:ln w="28575">
            <a:solidFill>
              <a:srgbClr val="1565C0"/>
            </a:solidFill>
            <a:prstDash val="solid"/>
            <a:tailEnd type="triangle"/>
          </a:ln>
        </p:spPr>
      </p:sp>
      <p:sp>
        <p:nvSpPr>
          <p:cNvPr id="9" name="Text 7"/>
          <p:cNvSpPr/>
          <p:nvPr/>
        </p:nvSpPr>
        <p:spPr>
          <a:xfrm>
            <a:off x="3392424" y="1280160"/>
            <a:ext cx="2468880" cy="1188720"/>
          </a:xfrm>
          <a:prstGeom prst="roundRect">
            <a:avLst>
              <a:gd name="adj" fmla="val 6154"/>
            </a:avLst>
          </a:prstGeom>
          <a:solidFill>
            <a:srgbClr val="FFFFFF"/>
          </a:solidFill>
          <a:ln w="15875">
            <a:solidFill>
              <a:srgbClr val="2E7D32"/>
            </a:solidFill>
          </a:ln>
        </p:spPr>
        <p:txBody>
          <a:bodyPr wrap="square" lIns="1016" tIns="1016" rIns="1016" bIns="1016" rtlCol="0" anchor="ctr"/>
          <a:lstStyle/>
          <a:p>
            <a:pPr marL="0" indent="0" algn="ctr">
              <a:buNone/>
            </a:pPr>
            <a:r>
              <a:rPr lang="en-US" sz="1250" dirty="0">
                <a:solidFill>
                  <a:srgbClr val="1B2B1F"/>
                </a:solidFill>
              </a:rPr>
              <a:t>2  DHT11 reads air temperature and humidity</a:t>
            </a:r>
            <a:endParaRPr lang="en-US" sz="1250" dirty="0"/>
          </a:p>
        </p:txBody>
      </p:sp>
      <p:sp>
        <p:nvSpPr>
          <p:cNvPr id="10" name="Shape 8"/>
          <p:cNvSpPr/>
          <p:nvPr/>
        </p:nvSpPr>
        <p:spPr>
          <a:xfrm>
            <a:off x="5861304" y="1874520"/>
            <a:ext cx="466344" cy="0"/>
          </a:xfrm>
          <a:prstGeom prst="line">
            <a:avLst/>
          </a:prstGeom>
          <a:noFill/>
          <a:ln w="28575">
            <a:solidFill>
              <a:srgbClr val="1565C0"/>
            </a:solidFill>
            <a:prstDash val="solid"/>
            <a:tailEnd type="triangle"/>
          </a:ln>
        </p:spPr>
      </p:sp>
      <p:sp>
        <p:nvSpPr>
          <p:cNvPr id="11" name="Text 9"/>
          <p:cNvSpPr/>
          <p:nvPr/>
        </p:nvSpPr>
        <p:spPr>
          <a:xfrm>
            <a:off x="6327648" y="1280160"/>
            <a:ext cx="2468880" cy="1188720"/>
          </a:xfrm>
          <a:prstGeom prst="roundRect">
            <a:avLst>
              <a:gd name="adj" fmla="val 6154"/>
            </a:avLst>
          </a:prstGeom>
          <a:solidFill>
            <a:srgbClr val="FFFFFF"/>
          </a:solidFill>
          <a:ln w="15875">
            <a:solidFill>
              <a:srgbClr val="2E7D32"/>
            </a:solidFill>
          </a:ln>
        </p:spPr>
        <p:txBody>
          <a:bodyPr wrap="square" lIns="1016" tIns="1016" rIns="1016" bIns="1016" rtlCol="0" anchor="ctr"/>
          <a:lstStyle/>
          <a:p>
            <a:pPr marL="0" indent="0" algn="ctr">
              <a:buNone/>
            </a:pPr>
            <a:r>
              <a:rPr lang="en-US" sz="1250" dirty="0">
                <a:solidFill>
                  <a:srgbClr val="1B2B1F"/>
                </a:solidFill>
              </a:rPr>
              <a:t>3  ESP32 reads sensors and connects to Wi-Fi</a:t>
            </a:r>
            <a:endParaRPr lang="en-US" sz="1250" dirty="0"/>
          </a:p>
        </p:txBody>
      </p:sp>
      <p:sp>
        <p:nvSpPr>
          <p:cNvPr id="12" name="Shape 10"/>
          <p:cNvSpPr/>
          <p:nvPr/>
        </p:nvSpPr>
        <p:spPr>
          <a:xfrm>
            <a:off x="8796528" y="1874520"/>
            <a:ext cx="466344" cy="0"/>
          </a:xfrm>
          <a:prstGeom prst="line">
            <a:avLst/>
          </a:prstGeom>
          <a:noFill/>
          <a:ln w="28575">
            <a:solidFill>
              <a:srgbClr val="1565C0"/>
            </a:solidFill>
            <a:prstDash val="solid"/>
            <a:tailEnd type="triangle"/>
          </a:ln>
        </p:spPr>
      </p:sp>
      <p:sp>
        <p:nvSpPr>
          <p:cNvPr id="13" name="Text 11"/>
          <p:cNvSpPr/>
          <p:nvPr/>
        </p:nvSpPr>
        <p:spPr>
          <a:xfrm>
            <a:off x="9262872" y="1280160"/>
            <a:ext cx="2468880" cy="1188720"/>
          </a:xfrm>
          <a:prstGeom prst="roundRect">
            <a:avLst>
              <a:gd name="adj" fmla="val 6154"/>
            </a:avLst>
          </a:prstGeom>
          <a:solidFill>
            <a:srgbClr val="FFFFFF"/>
          </a:solidFill>
          <a:ln w="15875">
            <a:solidFill>
              <a:srgbClr val="2E7D32"/>
            </a:solidFill>
          </a:ln>
        </p:spPr>
        <p:txBody>
          <a:bodyPr wrap="square" lIns="1016" tIns="1016" rIns="1016" bIns="1016" rtlCol="0" anchor="ctr"/>
          <a:lstStyle/>
          <a:p>
            <a:pPr marL="0" indent="0" algn="ctr">
              <a:buNone/>
            </a:pPr>
            <a:r>
              <a:rPr lang="en-US" sz="1250" dirty="0">
                <a:solidFill>
                  <a:srgbClr val="1B2B1F"/>
                </a:solidFill>
              </a:rPr>
              <a:t>4  Backend gets current and forecast weather from API</a:t>
            </a:r>
            <a:endParaRPr lang="en-US" sz="1250" dirty="0"/>
          </a:p>
        </p:txBody>
      </p:sp>
      <p:sp>
        <p:nvSpPr>
          <p:cNvPr id="14" name="Shape 12"/>
          <p:cNvSpPr/>
          <p:nvPr/>
        </p:nvSpPr>
        <p:spPr>
          <a:xfrm>
            <a:off x="10497312" y="2468880"/>
            <a:ext cx="0" cy="457200"/>
          </a:xfrm>
          <a:prstGeom prst="line">
            <a:avLst/>
          </a:prstGeom>
          <a:noFill/>
          <a:ln w="28575">
            <a:solidFill>
              <a:srgbClr val="1565C0"/>
            </a:solidFill>
            <a:prstDash val="solid"/>
            <a:tailEnd type="triangle"/>
          </a:ln>
        </p:spPr>
      </p:sp>
      <p:sp>
        <p:nvSpPr>
          <p:cNvPr id="15" name="Text 13"/>
          <p:cNvSpPr/>
          <p:nvPr/>
        </p:nvSpPr>
        <p:spPr>
          <a:xfrm>
            <a:off x="9262872" y="2926080"/>
            <a:ext cx="2468880" cy="1188720"/>
          </a:xfrm>
          <a:prstGeom prst="roundRect">
            <a:avLst>
              <a:gd name="adj" fmla="val 6154"/>
            </a:avLst>
          </a:prstGeom>
          <a:solidFill>
            <a:srgbClr val="E3F4FD"/>
          </a:solidFill>
          <a:ln w="15875">
            <a:solidFill>
              <a:srgbClr val="0EA5E9"/>
            </a:solidFill>
          </a:ln>
        </p:spPr>
        <p:txBody>
          <a:bodyPr wrap="square" lIns="1016" tIns="1016" rIns="1016" bIns="1016" rtlCol="0" anchor="ctr"/>
          <a:lstStyle/>
          <a:p>
            <a:pPr marL="0" indent="0" algn="ctr">
              <a:buNone/>
            </a:pPr>
            <a:r>
              <a:rPr lang="en-US" sz="1250" dirty="0">
                <a:solidFill>
                  <a:srgbClr val="1B2B1F"/>
                </a:solidFill>
              </a:rPr>
              <a:t>8  LED shows local status using threshold logic</a:t>
            </a:r>
            <a:endParaRPr lang="en-US" sz="1250" dirty="0"/>
          </a:p>
        </p:txBody>
      </p:sp>
      <p:sp>
        <p:nvSpPr>
          <p:cNvPr id="16" name="Shape 14"/>
          <p:cNvSpPr/>
          <p:nvPr/>
        </p:nvSpPr>
        <p:spPr>
          <a:xfrm flipH="1">
            <a:off x="8796528" y="3520440"/>
            <a:ext cx="466344" cy="0"/>
          </a:xfrm>
          <a:prstGeom prst="line">
            <a:avLst/>
          </a:prstGeom>
          <a:noFill/>
          <a:ln w="28575">
            <a:solidFill>
              <a:srgbClr val="1565C0"/>
            </a:solidFill>
            <a:prstDash val="solid"/>
            <a:tailEnd type="triangle"/>
          </a:ln>
        </p:spPr>
      </p:sp>
      <p:sp>
        <p:nvSpPr>
          <p:cNvPr id="17" name="Text 15"/>
          <p:cNvSpPr/>
          <p:nvPr/>
        </p:nvSpPr>
        <p:spPr>
          <a:xfrm>
            <a:off x="6327648" y="2926080"/>
            <a:ext cx="2468880" cy="1188720"/>
          </a:xfrm>
          <a:prstGeom prst="roundRect">
            <a:avLst>
              <a:gd name="adj" fmla="val 6154"/>
            </a:avLst>
          </a:prstGeom>
          <a:solidFill>
            <a:srgbClr val="E3F4FD"/>
          </a:solidFill>
          <a:ln w="15875">
            <a:solidFill>
              <a:srgbClr val="0EA5E9"/>
            </a:solidFill>
          </a:ln>
        </p:spPr>
        <p:txBody>
          <a:bodyPr wrap="square" lIns="1016" tIns="1016" rIns="1016" bIns="1016" rtlCol="0" anchor="ctr"/>
          <a:lstStyle/>
          <a:p>
            <a:pPr marL="0" indent="0" algn="ctr">
              <a:buNone/>
            </a:pPr>
            <a:r>
              <a:rPr lang="en-US" sz="1250" dirty="0">
                <a:solidFill>
                  <a:srgbClr val="1B2B1F"/>
                </a:solidFill>
              </a:rPr>
              <a:t>7  Dashboard shows readings, recommendations and alerts</a:t>
            </a:r>
            <a:endParaRPr lang="en-US" sz="1250" dirty="0"/>
          </a:p>
        </p:txBody>
      </p:sp>
      <p:sp>
        <p:nvSpPr>
          <p:cNvPr id="18" name="Shape 16"/>
          <p:cNvSpPr/>
          <p:nvPr/>
        </p:nvSpPr>
        <p:spPr>
          <a:xfrm flipH="1">
            <a:off x="5861304" y="3520440"/>
            <a:ext cx="466344" cy="0"/>
          </a:xfrm>
          <a:prstGeom prst="line">
            <a:avLst/>
          </a:prstGeom>
          <a:noFill/>
          <a:ln w="28575">
            <a:solidFill>
              <a:srgbClr val="1565C0"/>
            </a:solidFill>
            <a:prstDash val="solid"/>
            <a:tailEnd type="triangle"/>
          </a:ln>
        </p:spPr>
      </p:sp>
      <p:sp>
        <p:nvSpPr>
          <p:cNvPr id="19" name="Text 17"/>
          <p:cNvSpPr/>
          <p:nvPr/>
        </p:nvSpPr>
        <p:spPr>
          <a:xfrm>
            <a:off x="3392424" y="2926080"/>
            <a:ext cx="2468880" cy="1188720"/>
          </a:xfrm>
          <a:prstGeom prst="roundRect">
            <a:avLst>
              <a:gd name="adj" fmla="val 6154"/>
            </a:avLst>
          </a:prstGeom>
          <a:solidFill>
            <a:srgbClr val="E3F4FD"/>
          </a:solidFill>
          <a:ln w="15875">
            <a:solidFill>
              <a:srgbClr val="0EA5E9"/>
            </a:solidFill>
          </a:ln>
        </p:spPr>
        <p:txBody>
          <a:bodyPr wrap="square" lIns="1016" tIns="1016" rIns="1016" bIns="1016" rtlCol="0" anchor="ctr"/>
          <a:lstStyle/>
          <a:p>
            <a:pPr marL="0" indent="0" algn="ctr">
              <a:buNone/>
            </a:pPr>
            <a:r>
              <a:rPr lang="en-US" sz="1250" dirty="0">
                <a:solidFill>
                  <a:srgbClr val="1B2B1F"/>
                </a:solidFill>
              </a:rPr>
              <a:t>6  Prediction engine estimates irrigation need</a:t>
            </a:r>
            <a:endParaRPr lang="en-US" sz="1250" dirty="0"/>
          </a:p>
        </p:txBody>
      </p:sp>
      <p:sp>
        <p:nvSpPr>
          <p:cNvPr id="20" name="Shape 18"/>
          <p:cNvSpPr/>
          <p:nvPr/>
        </p:nvSpPr>
        <p:spPr>
          <a:xfrm flipH="1">
            <a:off x="2926080" y="3520440"/>
            <a:ext cx="466344" cy="0"/>
          </a:xfrm>
          <a:prstGeom prst="line">
            <a:avLst/>
          </a:prstGeom>
          <a:noFill/>
          <a:ln w="28575">
            <a:solidFill>
              <a:srgbClr val="1565C0"/>
            </a:solidFill>
            <a:prstDash val="solid"/>
            <a:tailEnd type="triangle"/>
          </a:ln>
        </p:spPr>
      </p:sp>
      <p:sp>
        <p:nvSpPr>
          <p:cNvPr id="21" name="Text 19"/>
          <p:cNvSpPr/>
          <p:nvPr/>
        </p:nvSpPr>
        <p:spPr>
          <a:xfrm>
            <a:off x="457200" y="2926080"/>
            <a:ext cx="2468880" cy="1188720"/>
          </a:xfrm>
          <a:prstGeom prst="roundRect">
            <a:avLst>
              <a:gd name="adj" fmla="val 6154"/>
            </a:avLst>
          </a:prstGeom>
          <a:solidFill>
            <a:srgbClr val="E3F4FD"/>
          </a:solidFill>
          <a:ln w="15875">
            <a:solidFill>
              <a:srgbClr val="0EA5E9"/>
            </a:solidFill>
          </a:ln>
        </p:spPr>
        <p:txBody>
          <a:bodyPr wrap="square" lIns="1016" tIns="1016" rIns="1016" bIns="1016" rtlCol="0" anchor="ctr"/>
          <a:lstStyle/>
          <a:p>
            <a:pPr marL="0" indent="0" algn="ctr">
              <a:buNone/>
            </a:pPr>
            <a:r>
              <a:rPr lang="en-US" sz="1250" dirty="0">
                <a:solidFill>
                  <a:srgbClr val="1B2B1F"/>
                </a:solidFill>
              </a:rPr>
              <a:t>5  Software analyzes sensor, rain, temperature, humidity and forecast</a:t>
            </a:r>
            <a:endParaRPr lang="en-US" sz="1250" dirty="0"/>
          </a:p>
        </p:txBody>
      </p:sp>
      <p:sp>
        <p:nvSpPr>
          <p:cNvPr id="22" name="Shape 20"/>
          <p:cNvSpPr/>
          <p:nvPr/>
        </p:nvSpPr>
        <p:spPr>
          <a:xfrm>
            <a:off x="457200" y="4526280"/>
            <a:ext cx="11274552" cy="1554480"/>
          </a:xfrm>
          <a:prstGeom prst="roundRect">
            <a:avLst>
              <a:gd name="adj" fmla="val 4706"/>
            </a:avLst>
          </a:prstGeom>
          <a:solidFill>
            <a:srgbClr val="EAF6EC"/>
          </a:solidFill>
          <a:ln w="12700">
            <a:solidFill>
              <a:srgbClr val="2E7D32"/>
            </a:solidFill>
            <a:prstDash val="solid"/>
          </a:ln>
        </p:spPr>
      </p:sp>
      <p:sp>
        <p:nvSpPr>
          <p:cNvPr id="23" name="Text 21"/>
          <p:cNvSpPr txBox="1"/>
          <p:nvPr/>
        </p:nvSpPr>
        <p:spPr>
          <a:xfrm>
            <a:off x="685800" y="4572000"/>
            <a:ext cx="10789920" cy="1463040"/>
          </a:xfrm>
          <a:prstGeom prst="rect">
            <a:avLst/>
          </a:prstGeom>
          <a:noFill/>
          <a:ln/>
        </p:spPr>
        <p:txBody>
          <a:bodyPr wrap="square" lIns="0" tIns="0" rIns="0" bIns="0" rtlCol="0" anchor="ctr"/>
          <a:lstStyle/>
          <a:p>
            <a:pPr marL="0" indent="0">
              <a:buNone/>
            </a:pPr>
            <a:r>
              <a:rPr lang="en-US" sz="1600" b="1" dirty="0">
                <a:solidFill>
                  <a:srgbClr val="14532D"/>
                </a:solidFill>
              </a:rPr>
              <a:t>Output: </a:t>
            </a:r>
            <a:r>
              <a:rPr lang="en-US" sz="1600" dirty="0">
                <a:solidFill>
                  <a:srgbClr val="1B2B1F"/>
                </a:solidFill>
              </a:rPr>
              <a:t>monitoring, prediction, alerts and irrigation recommendations. The system does not switch water on or off. The LED is only a status indicator.</a:t>
            </a:r>
            <a:endParaRPr lang="en-US" sz="1600" dirty="0"/>
          </a:p>
        </p:txBody>
      </p:sp>
      <p:sp>
        <p:nvSpPr>
          <p:cNvPr id="25" name="Slide Number Placeholder 0"/>
          <p:cNvSpPr>
            <a:spLocks noGrp="1"/>
          </p:cNvSpPr>
          <p:nvPr>
            <p:ph type="sldNum" sz="quarter" idx="4294967295"/>
          </p:nvPr>
        </p:nvSpPr>
        <p:spPr>
          <a:xfrm>
            <a:off x="1115568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0"/>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4532D"/>
          </a:solidFill>
          <a:ln w="12700">
            <a:solidFill>
              <a:srgbClr val="14532D"/>
            </a:solidFill>
            <a:prstDash val="solid"/>
          </a:ln>
        </p:spPr>
      </p:sp>
      <p:sp>
        <p:nvSpPr>
          <p:cNvPr id="3" name="Shape 1"/>
          <p:cNvSpPr/>
          <p:nvPr/>
        </p:nvSpPr>
        <p:spPr>
          <a:xfrm>
            <a:off x="0" y="914400"/>
            <a:ext cx="12188952" cy="54864"/>
          </a:xfrm>
          <a:prstGeom prst="rect">
            <a:avLst/>
          </a:prstGeom>
          <a:solidFill>
            <a:srgbClr val="0EA5E9"/>
          </a:solidFill>
          <a:ln w="12700">
            <a:solidFill>
              <a:srgbClr val="0EA5E9"/>
            </a:solidFill>
            <a:prstDash val="solid"/>
          </a:ln>
        </p:spPr>
      </p:sp>
      <p:sp>
        <p:nvSpPr>
          <p:cNvPr id="4" name="Text 2"/>
          <p:cNvSpPr txBox="1"/>
          <p:nvPr/>
        </p:nvSpPr>
        <p:spPr>
          <a:xfrm>
            <a:off x="457200" y="109728"/>
            <a:ext cx="8503920" cy="694944"/>
          </a:xfrm>
          <a:prstGeom prst="rect">
            <a:avLst/>
          </a:prstGeom>
          <a:noFill/>
          <a:ln/>
        </p:spPr>
        <p:txBody>
          <a:bodyPr wrap="square" lIns="0" tIns="0" rIns="0" bIns="0" rtlCol="0" anchor="ctr"/>
          <a:lstStyle/>
          <a:p>
            <a:pPr marL="0" indent="0">
              <a:buNone/>
            </a:pPr>
            <a:r>
              <a:rPr lang="en-US" sz="2800" b="1" dirty="0">
                <a:solidFill>
                  <a:srgbClr val="FFFFFF"/>
                </a:solidFill>
              </a:rPr>
              <a:t>Hardware Components</a:t>
            </a:r>
            <a:endParaRPr lang="en-US" sz="2800" dirty="0"/>
          </a:p>
        </p:txBody>
      </p:sp>
      <p:sp>
        <p:nvSpPr>
          <p:cNvPr id="5" name="Text 3"/>
          <p:cNvSpPr txBox="1"/>
          <p:nvPr/>
        </p:nvSpPr>
        <p:spPr>
          <a:xfrm>
            <a:off x="8778240" y="109728"/>
            <a:ext cx="2971800" cy="694944"/>
          </a:xfrm>
          <a:prstGeom prst="rect">
            <a:avLst/>
          </a:prstGeom>
          <a:noFill/>
          <a:ln/>
        </p:spPr>
        <p:txBody>
          <a:bodyPr wrap="square" lIns="0" tIns="0" rIns="0" bIns="0" rtlCol="0" anchor="ctr"/>
          <a:lstStyle/>
          <a:p>
            <a:pPr marL="0" indent="0" algn="r">
              <a:buNone/>
            </a:pPr>
            <a:r>
              <a:rPr lang="en-US" sz="1200" dirty="0">
                <a:solidFill>
                  <a:srgbClr val="A7E3B0"/>
                </a:solidFill>
              </a:rPr>
              <a:t>Proposed Solution</a:t>
            </a:r>
            <a:endParaRPr lang="en-US" sz="1200" dirty="0"/>
          </a:p>
        </p:txBody>
      </p:sp>
      <p:sp>
        <p:nvSpPr>
          <p:cNvPr id="6" name="Text 4"/>
          <p:cNvSpPr txBox="1"/>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F70"/>
                </a:solidFill>
              </a:rPr>
              <a:t>AIBOTS-2026 Hackathon | Review 1</a:t>
            </a:r>
            <a:endParaRPr lang="en-US" sz="1000" dirty="0"/>
          </a:p>
        </p:txBody>
      </p:sp>
      <p:sp>
        <p:nvSpPr>
          <p:cNvPr id="7" name="Shape 5"/>
          <p:cNvSpPr/>
          <p:nvPr/>
        </p:nvSpPr>
        <p:spPr>
          <a:xfrm>
            <a:off x="457200" y="1188720"/>
            <a:ext cx="2697480" cy="2331720"/>
          </a:xfrm>
          <a:prstGeom prst="roundRect">
            <a:avLst>
              <a:gd name="adj" fmla="val 3137"/>
            </a:avLst>
          </a:prstGeom>
          <a:solidFill>
            <a:srgbClr val="FFFFFF"/>
          </a:solidFill>
          <a:ln w="12700">
            <a:solidFill>
              <a:srgbClr val="BFDCC4"/>
            </a:solidFill>
            <a:prstDash val="solid"/>
          </a:ln>
        </p:spPr>
      </p:sp>
      <p:sp>
        <p:nvSpPr>
          <p:cNvPr id="8" name="Shape 6"/>
          <p:cNvSpPr/>
          <p:nvPr/>
        </p:nvSpPr>
        <p:spPr>
          <a:xfrm>
            <a:off x="594360" y="1325880"/>
            <a:ext cx="411480" cy="411480"/>
          </a:xfrm>
          <a:prstGeom prst="ellipse">
            <a:avLst/>
          </a:prstGeom>
          <a:solidFill>
            <a:srgbClr val="2E7D32"/>
          </a:solidFill>
          <a:ln w="12700">
            <a:solidFill>
              <a:srgbClr val="2E7D32"/>
            </a:solidFill>
            <a:prstDash val="solid"/>
          </a:ln>
        </p:spPr>
      </p:sp>
      <p:sp>
        <p:nvSpPr>
          <p:cNvPr id="9" name="Text 7"/>
          <p:cNvSpPr txBox="1"/>
          <p:nvPr/>
        </p:nvSpPr>
        <p:spPr>
          <a:xfrm>
            <a:off x="594360" y="13258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8"/>
          <p:cNvSpPr txBox="1"/>
          <p:nvPr/>
        </p:nvSpPr>
        <p:spPr>
          <a:xfrm>
            <a:off x="1097280" y="1280160"/>
            <a:ext cx="1965960" cy="548640"/>
          </a:xfrm>
          <a:prstGeom prst="rect">
            <a:avLst/>
          </a:prstGeom>
          <a:noFill/>
          <a:ln/>
        </p:spPr>
        <p:txBody>
          <a:bodyPr wrap="square" lIns="0" tIns="0" rIns="0" bIns="0" rtlCol="0" anchor="ctr"/>
          <a:lstStyle/>
          <a:p>
            <a:pPr marL="0" indent="0">
              <a:buNone/>
            </a:pPr>
            <a:r>
              <a:rPr lang="en-US" sz="1300" b="1" dirty="0">
                <a:solidFill>
                  <a:srgbClr val="14532D"/>
                </a:solidFill>
              </a:rPr>
              <a:t>ESP32 Development Board</a:t>
            </a:r>
            <a:endParaRPr lang="en-US" sz="1300" dirty="0"/>
          </a:p>
        </p:txBody>
      </p:sp>
      <p:sp>
        <p:nvSpPr>
          <p:cNvPr id="11" name="Text 9"/>
          <p:cNvSpPr txBox="1"/>
          <p:nvPr/>
        </p:nvSpPr>
        <p:spPr>
          <a:xfrm>
            <a:off x="594360" y="1920240"/>
            <a:ext cx="2423160" cy="1508760"/>
          </a:xfrm>
          <a:prstGeom prst="rect">
            <a:avLst/>
          </a:prstGeom>
          <a:noFill/>
          <a:ln/>
        </p:spPr>
        <p:txBody>
          <a:bodyPr wrap="square" lIns="0" tIns="0" rIns="0" bIns="0" rtlCol="0" anchor="t"/>
          <a:lstStyle/>
          <a:p>
            <a:pPr marL="0" indent="0">
              <a:buNone/>
            </a:pPr>
            <a:r>
              <a:rPr lang="en-US" sz="1200" dirty="0">
                <a:solidFill>
                  <a:srgbClr val="1B2B1F"/>
                </a:solidFill>
              </a:rPr>
              <a:t>Main controller; reads sensors; sends readings over Wi-Fi to the backend</a:t>
            </a:r>
            <a:endParaRPr lang="en-US" sz="1200" dirty="0"/>
          </a:p>
        </p:txBody>
      </p:sp>
      <p:sp>
        <p:nvSpPr>
          <p:cNvPr id="12" name="Shape 10"/>
          <p:cNvSpPr/>
          <p:nvPr/>
        </p:nvSpPr>
        <p:spPr>
          <a:xfrm>
            <a:off x="3291840" y="1188720"/>
            <a:ext cx="2697480" cy="2331720"/>
          </a:xfrm>
          <a:prstGeom prst="roundRect">
            <a:avLst>
              <a:gd name="adj" fmla="val 3137"/>
            </a:avLst>
          </a:prstGeom>
          <a:solidFill>
            <a:srgbClr val="FFFFFF"/>
          </a:solidFill>
          <a:ln w="12700">
            <a:solidFill>
              <a:srgbClr val="BFDCC4"/>
            </a:solidFill>
            <a:prstDash val="solid"/>
          </a:ln>
        </p:spPr>
      </p:sp>
      <p:sp>
        <p:nvSpPr>
          <p:cNvPr id="13" name="Shape 11"/>
          <p:cNvSpPr/>
          <p:nvPr/>
        </p:nvSpPr>
        <p:spPr>
          <a:xfrm>
            <a:off x="3429000" y="1325880"/>
            <a:ext cx="411480" cy="411480"/>
          </a:xfrm>
          <a:prstGeom prst="ellipse">
            <a:avLst/>
          </a:prstGeom>
          <a:solidFill>
            <a:srgbClr val="1565C0"/>
          </a:solidFill>
          <a:ln w="12700">
            <a:solidFill>
              <a:srgbClr val="1565C0"/>
            </a:solidFill>
            <a:prstDash val="solid"/>
          </a:ln>
        </p:spPr>
      </p:sp>
      <p:sp>
        <p:nvSpPr>
          <p:cNvPr id="14" name="Text 12"/>
          <p:cNvSpPr txBox="1"/>
          <p:nvPr/>
        </p:nvSpPr>
        <p:spPr>
          <a:xfrm>
            <a:off x="3429000" y="13258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5" name="Text 13"/>
          <p:cNvSpPr txBox="1"/>
          <p:nvPr/>
        </p:nvSpPr>
        <p:spPr>
          <a:xfrm>
            <a:off x="3931920" y="1280160"/>
            <a:ext cx="1965960" cy="548640"/>
          </a:xfrm>
          <a:prstGeom prst="rect">
            <a:avLst/>
          </a:prstGeom>
          <a:noFill/>
          <a:ln/>
        </p:spPr>
        <p:txBody>
          <a:bodyPr wrap="square" lIns="0" tIns="0" rIns="0" bIns="0" rtlCol="0" anchor="ctr"/>
          <a:lstStyle/>
          <a:p>
            <a:pPr marL="0" indent="0">
              <a:buNone/>
            </a:pPr>
            <a:r>
              <a:rPr lang="en-US" sz="1300" b="1" dirty="0">
                <a:solidFill>
                  <a:srgbClr val="14532D"/>
                </a:solidFill>
              </a:rPr>
              <a:t>Soil Moisture Sensor (FC-28 or capacitive)</a:t>
            </a:r>
            <a:endParaRPr lang="en-US" sz="1300" dirty="0"/>
          </a:p>
        </p:txBody>
      </p:sp>
      <p:sp>
        <p:nvSpPr>
          <p:cNvPr id="16" name="Text 14"/>
          <p:cNvSpPr txBox="1"/>
          <p:nvPr/>
        </p:nvSpPr>
        <p:spPr>
          <a:xfrm>
            <a:off x="3429000" y="1920240"/>
            <a:ext cx="2423160" cy="1508760"/>
          </a:xfrm>
          <a:prstGeom prst="rect">
            <a:avLst/>
          </a:prstGeom>
          <a:noFill/>
          <a:ln/>
        </p:spPr>
        <p:txBody>
          <a:bodyPr wrap="square" lIns="0" tIns="0" rIns="0" bIns="0" rtlCol="0" anchor="t"/>
          <a:lstStyle/>
          <a:p>
            <a:pPr marL="0" indent="0">
              <a:buNone/>
            </a:pPr>
            <a:r>
              <a:rPr lang="en-US" sz="1200" dirty="0">
                <a:solidFill>
                  <a:srgbClr val="1B2B1F"/>
                </a:solidFill>
              </a:rPr>
              <a:t>Gives a moisture-related reading; calibrated to dry / moderate / wet. Capacitive preferred: FC-28 probes can corrode</a:t>
            </a:r>
            <a:endParaRPr lang="en-US" sz="1200" dirty="0"/>
          </a:p>
        </p:txBody>
      </p:sp>
      <p:sp>
        <p:nvSpPr>
          <p:cNvPr id="17" name="Shape 15"/>
          <p:cNvSpPr/>
          <p:nvPr/>
        </p:nvSpPr>
        <p:spPr>
          <a:xfrm>
            <a:off x="6126480" y="1188720"/>
            <a:ext cx="2697480" cy="2331720"/>
          </a:xfrm>
          <a:prstGeom prst="roundRect">
            <a:avLst>
              <a:gd name="adj" fmla="val 3137"/>
            </a:avLst>
          </a:prstGeom>
          <a:solidFill>
            <a:srgbClr val="FFFFFF"/>
          </a:solidFill>
          <a:ln w="12700">
            <a:solidFill>
              <a:srgbClr val="BFDCC4"/>
            </a:solidFill>
            <a:prstDash val="solid"/>
          </a:ln>
        </p:spPr>
      </p:sp>
      <p:sp>
        <p:nvSpPr>
          <p:cNvPr id="18" name="Shape 16"/>
          <p:cNvSpPr/>
          <p:nvPr/>
        </p:nvSpPr>
        <p:spPr>
          <a:xfrm>
            <a:off x="6263640" y="1325880"/>
            <a:ext cx="411480" cy="411480"/>
          </a:xfrm>
          <a:prstGeom prst="ellipse">
            <a:avLst/>
          </a:prstGeom>
          <a:solidFill>
            <a:srgbClr val="2E7D32"/>
          </a:solidFill>
          <a:ln w="12700">
            <a:solidFill>
              <a:srgbClr val="2E7D32"/>
            </a:solidFill>
            <a:prstDash val="solid"/>
          </a:ln>
        </p:spPr>
      </p:sp>
      <p:sp>
        <p:nvSpPr>
          <p:cNvPr id="19" name="Text 17"/>
          <p:cNvSpPr txBox="1"/>
          <p:nvPr/>
        </p:nvSpPr>
        <p:spPr>
          <a:xfrm>
            <a:off x="6263640" y="13258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20" name="Text 18"/>
          <p:cNvSpPr txBox="1"/>
          <p:nvPr/>
        </p:nvSpPr>
        <p:spPr>
          <a:xfrm>
            <a:off x="6766560" y="1280160"/>
            <a:ext cx="1965960" cy="548640"/>
          </a:xfrm>
          <a:prstGeom prst="rect">
            <a:avLst/>
          </a:prstGeom>
          <a:noFill/>
          <a:ln/>
        </p:spPr>
        <p:txBody>
          <a:bodyPr wrap="square" lIns="0" tIns="0" rIns="0" bIns="0" rtlCol="0" anchor="ctr"/>
          <a:lstStyle/>
          <a:p>
            <a:pPr marL="0" indent="0">
              <a:buNone/>
            </a:pPr>
            <a:r>
              <a:rPr lang="en-US" sz="1300" b="1" dirty="0">
                <a:solidFill>
                  <a:srgbClr val="14532D"/>
                </a:solidFill>
              </a:rPr>
              <a:t>DHT11 Temp &amp; Humidity Sensor</a:t>
            </a:r>
            <a:endParaRPr lang="en-US" sz="1300" dirty="0"/>
          </a:p>
        </p:txBody>
      </p:sp>
      <p:sp>
        <p:nvSpPr>
          <p:cNvPr id="21" name="Text 19"/>
          <p:cNvSpPr txBox="1"/>
          <p:nvPr/>
        </p:nvSpPr>
        <p:spPr>
          <a:xfrm>
            <a:off x="6263640" y="1920240"/>
            <a:ext cx="2423160" cy="1508760"/>
          </a:xfrm>
          <a:prstGeom prst="rect">
            <a:avLst/>
          </a:prstGeom>
          <a:noFill/>
          <a:ln/>
        </p:spPr>
        <p:txBody>
          <a:bodyPr wrap="square" lIns="0" tIns="0" rIns="0" bIns="0" rtlCol="0" anchor="t"/>
          <a:lstStyle/>
          <a:p>
            <a:pPr marL="0" indent="0">
              <a:buNone/>
            </a:pPr>
            <a:r>
              <a:rPr lang="en-US" sz="1200" dirty="0">
                <a:solidFill>
                  <a:srgbClr val="1B2B1F"/>
                </a:solidFill>
              </a:rPr>
              <a:t>Measures air temperature and relative humidity; helps judge evaporation conditions</a:t>
            </a:r>
            <a:endParaRPr lang="en-US" sz="1200" dirty="0"/>
          </a:p>
        </p:txBody>
      </p:sp>
      <p:sp>
        <p:nvSpPr>
          <p:cNvPr id="22" name="Shape 20"/>
          <p:cNvSpPr/>
          <p:nvPr/>
        </p:nvSpPr>
        <p:spPr>
          <a:xfrm>
            <a:off x="8961120" y="1188720"/>
            <a:ext cx="2697480" cy="2331720"/>
          </a:xfrm>
          <a:prstGeom prst="roundRect">
            <a:avLst>
              <a:gd name="adj" fmla="val 3137"/>
            </a:avLst>
          </a:prstGeom>
          <a:solidFill>
            <a:srgbClr val="FFFFFF"/>
          </a:solidFill>
          <a:ln w="12700">
            <a:solidFill>
              <a:srgbClr val="BFDCC4"/>
            </a:solidFill>
            <a:prstDash val="solid"/>
          </a:ln>
        </p:spPr>
      </p:sp>
      <p:sp>
        <p:nvSpPr>
          <p:cNvPr id="23" name="Shape 21"/>
          <p:cNvSpPr/>
          <p:nvPr/>
        </p:nvSpPr>
        <p:spPr>
          <a:xfrm>
            <a:off x="9098280" y="1325880"/>
            <a:ext cx="411480" cy="411480"/>
          </a:xfrm>
          <a:prstGeom prst="ellipse">
            <a:avLst/>
          </a:prstGeom>
          <a:solidFill>
            <a:srgbClr val="1565C0"/>
          </a:solidFill>
          <a:ln w="12700">
            <a:solidFill>
              <a:srgbClr val="1565C0"/>
            </a:solidFill>
            <a:prstDash val="solid"/>
          </a:ln>
        </p:spPr>
      </p:sp>
      <p:sp>
        <p:nvSpPr>
          <p:cNvPr id="24" name="Text 22"/>
          <p:cNvSpPr txBox="1"/>
          <p:nvPr/>
        </p:nvSpPr>
        <p:spPr>
          <a:xfrm>
            <a:off x="9098280" y="13258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5" name="Text 23"/>
          <p:cNvSpPr txBox="1"/>
          <p:nvPr/>
        </p:nvSpPr>
        <p:spPr>
          <a:xfrm>
            <a:off x="9601200" y="1280160"/>
            <a:ext cx="1965960" cy="548640"/>
          </a:xfrm>
          <a:prstGeom prst="rect">
            <a:avLst/>
          </a:prstGeom>
          <a:noFill/>
          <a:ln/>
        </p:spPr>
        <p:txBody>
          <a:bodyPr wrap="square" lIns="0" tIns="0" rIns="0" bIns="0" rtlCol="0" anchor="ctr"/>
          <a:lstStyle/>
          <a:p>
            <a:pPr marL="0" indent="0">
              <a:buNone/>
            </a:pPr>
            <a:r>
              <a:rPr lang="en-US" sz="1300" b="1" dirty="0">
                <a:solidFill>
                  <a:srgbClr val="14532D"/>
                </a:solidFill>
              </a:rPr>
              <a:t>Breadboard</a:t>
            </a:r>
            <a:endParaRPr lang="en-US" sz="1300" dirty="0"/>
          </a:p>
        </p:txBody>
      </p:sp>
      <p:sp>
        <p:nvSpPr>
          <p:cNvPr id="26" name="Text 24"/>
          <p:cNvSpPr txBox="1"/>
          <p:nvPr/>
        </p:nvSpPr>
        <p:spPr>
          <a:xfrm>
            <a:off x="9098280" y="1920240"/>
            <a:ext cx="2423160" cy="1508760"/>
          </a:xfrm>
          <a:prstGeom prst="rect">
            <a:avLst/>
          </a:prstGeom>
          <a:noFill/>
          <a:ln/>
        </p:spPr>
        <p:txBody>
          <a:bodyPr wrap="square" lIns="0" tIns="0" rIns="0" bIns="0" rtlCol="0" anchor="t"/>
          <a:lstStyle/>
          <a:p>
            <a:pPr marL="0" indent="0">
              <a:buNone/>
            </a:pPr>
            <a:r>
              <a:rPr lang="en-US" sz="1200" dirty="0">
                <a:solidFill>
                  <a:srgbClr val="1B2B1F"/>
                </a:solidFill>
              </a:rPr>
              <a:t>Easy prototype connections without soldering</a:t>
            </a:r>
            <a:endParaRPr lang="en-US" sz="1200" dirty="0"/>
          </a:p>
        </p:txBody>
      </p:sp>
      <p:sp>
        <p:nvSpPr>
          <p:cNvPr id="27" name="Shape 25"/>
          <p:cNvSpPr/>
          <p:nvPr/>
        </p:nvSpPr>
        <p:spPr>
          <a:xfrm>
            <a:off x="457200" y="3703320"/>
            <a:ext cx="2697480" cy="2331720"/>
          </a:xfrm>
          <a:prstGeom prst="roundRect">
            <a:avLst>
              <a:gd name="adj" fmla="val 3137"/>
            </a:avLst>
          </a:prstGeom>
          <a:solidFill>
            <a:srgbClr val="FFFFFF"/>
          </a:solidFill>
          <a:ln w="12700">
            <a:solidFill>
              <a:srgbClr val="BFDCC4"/>
            </a:solidFill>
            <a:prstDash val="solid"/>
          </a:ln>
        </p:spPr>
      </p:sp>
      <p:sp>
        <p:nvSpPr>
          <p:cNvPr id="28" name="Shape 26"/>
          <p:cNvSpPr/>
          <p:nvPr/>
        </p:nvSpPr>
        <p:spPr>
          <a:xfrm>
            <a:off x="594360" y="3840480"/>
            <a:ext cx="411480" cy="411480"/>
          </a:xfrm>
          <a:prstGeom prst="ellipse">
            <a:avLst/>
          </a:prstGeom>
          <a:solidFill>
            <a:srgbClr val="2E7D32"/>
          </a:solidFill>
          <a:ln w="12700">
            <a:solidFill>
              <a:srgbClr val="2E7D32"/>
            </a:solidFill>
            <a:prstDash val="solid"/>
          </a:ln>
        </p:spPr>
      </p:sp>
      <p:sp>
        <p:nvSpPr>
          <p:cNvPr id="29" name="Text 27"/>
          <p:cNvSpPr txBox="1"/>
          <p:nvPr/>
        </p:nvSpPr>
        <p:spPr>
          <a:xfrm>
            <a:off x="594360" y="38404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30" name="Text 28"/>
          <p:cNvSpPr txBox="1"/>
          <p:nvPr/>
        </p:nvSpPr>
        <p:spPr>
          <a:xfrm>
            <a:off x="1097280" y="3794760"/>
            <a:ext cx="1965960" cy="548640"/>
          </a:xfrm>
          <a:prstGeom prst="rect">
            <a:avLst/>
          </a:prstGeom>
          <a:noFill/>
          <a:ln/>
        </p:spPr>
        <p:txBody>
          <a:bodyPr wrap="square" lIns="0" tIns="0" rIns="0" bIns="0" rtlCol="0" anchor="ctr"/>
          <a:lstStyle/>
          <a:p>
            <a:pPr marL="0" indent="0">
              <a:buNone/>
            </a:pPr>
            <a:r>
              <a:rPr lang="en-US" sz="1300" b="1" dirty="0">
                <a:solidFill>
                  <a:srgbClr val="14532D"/>
                </a:solidFill>
              </a:rPr>
              <a:t>Male-to-Male Jumper Wires</a:t>
            </a:r>
            <a:endParaRPr lang="en-US" sz="1300" dirty="0"/>
          </a:p>
        </p:txBody>
      </p:sp>
      <p:sp>
        <p:nvSpPr>
          <p:cNvPr id="31" name="Text 29"/>
          <p:cNvSpPr txBox="1"/>
          <p:nvPr/>
        </p:nvSpPr>
        <p:spPr>
          <a:xfrm>
            <a:off x="594360" y="4434840"/>
            <a:ext cx="2423160" cy="1508760"/>
          </a:xfrm>
          <a:prstGeom prst="rect">
            <a:avLst/>
          </a:prstGeom>
          <a:noFill/>
          <a:ln/>
        </p:spPr>
        <p:txBody>
          <a:bodyPr wrap="square" lIns="0" tIns="0" rIns="0" bIns="0" rtlCol="0" anchor="t"/>
          <a:lstStyle/>
          <a:p>
            <a:pPr marL="0" indent="0">
              <a:buNone/>
            </a:pPr>
            <a:r>
              <a:rPr lang="en-US" sz="1200" dirty="0">
                <a:solidFill>
                  <a:srgbClr val="1B2B1F"/>
                </a:solidFill>
              </a:rPr>
              <a:t>Connect ESP32, sensors and other components</a:t>
            </a:r>
            <a:endParaRPr lang="en-US" sz="1200" dirty="0"/>
          </a:p>
        </p:txBody>
      </p:sp>
      <p:sp>
        <p:nvSpPr>
          <p:cNvPr id="32" name="Shape 30"/>
          <p:cNvSpPr/>
          <p:nvPr/>
        </p:nvSpPr>
        <p:spPr>
          <a:xfrm>
            <a:off x="3291840" y="3703320"/>
            <a:ext cx="2697480" cy="2331720"/>
          </a:xfrm>
          <a:prstGeom prst="roundRect">
            <a:avLst>
              <a:gd name="adj" fmla="val 3137"/>
            </a:avLst>
          </a:prstGeom>
          <a:solidFill>
            <a:srgbClr val="FFFFFF"/>
          </a:solidFill>
          <a:ln w="12700">
            <a:solidFill>
              <a:srgbClr val="BFDCC4"/>
            </a:solidFill>
            <a:prstDash val="solid"/>
          </a:ln>
        </p:spPr>
      </p:sp>
      <p:sp>
        <p:nvSpPr>
          <p:cNvPr id="33" name="Shape 31"/>
          <p:cNvSpPr/>
          <p:nvPr/>
        </p:nvSpPr>
        <p:spPr>
          <a:xfrm>
            <a:off x="3429000" y="3840480"/>
            <a:ext cx="411480" cy="411480"/>
          </a:xfrm>
          <a:prstGeom prst="ellipse">
            <a:avLst/>
          </a:prstGeom>
          <a:solidFill>
            <a:srgbClr val="1565C0"/>
          </a:solidFill>
          <a:ln w="12700">
            <a:solidFill>
              <a:srgbClr val="1565C0"/>
            </a:solidFill>
            <a:prstDash val="solid"/>
          </a:ln>
        </p:spPr>
      </p:sp>
      <p:sp>
        <p:nvSpPr>
          <p:cNvPr id="34" name="Text 32"/>
          <p:cNvSpPr txBox="1"/>
          <p:nvPr/>
        </p:nvSpPr>
        <p:spPr>
          <a:xfrm>
            <a:off x="3429000" y="38404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35" name="Text 33"/>
          <p:cNvSpPr txBox="1"/>
          <p:nvPr/>
        </p:nvSpPr>
        <p:spPr>
          <a:xfrm>
            <a:off x="3931920" y="3794760"/>
            <a:ext cx="1965960" cy="548640"/>
          </a:xfrm>
          <a:prstGeom prst="rect">
            <a:avLst/>
          </a:prstGeom>
          <a:noFill/>
          <a:ln/>
        </p:spPr>
        <p:txBody>
          <a:bodyPr wrap="square" lIns="0" tIns="0" rIns="0" bIns="0" rtlCol="0" anchor="ctr"/>
          <a:lstStyle/>
          <a:p>
            <a:pPr marL="0" indent="0">
              <a:buNone/>
            </a:pPr>
            <a:r>
              <a:rPr lang="en-US" sz="1300" b="1" dirty="0">
                <a:solidFill>
                  <a:srgbClr val="14532D"/>
                </a:solidFill>
              </a:rPr>
              <a:t>USB Data Cable</a:t>
            </a:r>
            <a:endParaRPr lang="en-US" sz="1300" dirty="0"/>
          </a:p>
        </p:txBody>
      </p:sp>
      <p:sp>
        <p:nvSpPr>
          <p:cNvPr id="36" name="Text 34"/>
          <p:cNvSpPr txBox="1"/>
          <p:nvPr/>
        </p:nvSpPr>
        <p:spPr>
          <a:xfrm>
            <a:off x="3429000" y="4434840"/>
            <a:ext cx="2423160" cy="1508760"/>
          </a:xfrm>
          <a:prstGeom prst="rect">
            <a:avLst/>
          </a:prstGeom>
          <a:noFill/>
          <a:ln/>
        </p:spPr>
        <p:txBody>
          <a:bodyPr wrap="square" lIns="0" tIns="0" rIns="0" bIns="0" rtlCol="0" anchor="t"/>
          <a:lstStyle/>
          <a:p>
            <a:pPr marL="0" indent="0">
              <a:buNone/>
            </a:pPr>
            <a:r>
              <a:rPr lang="en-US" sz="1200" dirty="0">
                <a:solidFill>
                  <a:srgbClr val="1B2B1F"/>
                </a:solidFill>
              </a:rPr>
              <a:t>Powers the ESP32, uploads code and allows serial debugging</a:t>
            </a:r>
            <a:endParaRPr lang="en-US" sz="1200" dirty="0"/>
          </a:p>
        </p:txBody>
      </p:sp>
      <p:sp>
        <p:nvSpPr>
          <p:cNvPr id="37" name="Shape 35"/>
          <p:cNvSpPr/>
          <p:nvPr/>
        </p:nvSpPr>
        <p:spPr>
          <a:xfrm>
            <a:off x="6126480" y="3703320"/>
            <a:ext cx="2697480" cy="2331720"/>
          </a:xfrm>
          <a:prstGeom prst="roundRect">
            <a:avLst>
              <a:gd name="adj" fmla="val 3137"/>
            </a:avLst>
          </a:prstGeom>
          <a:solidFill>
            <a:srgbClr val="FFFFFF"/>
          </a:solidFill>
          <a:ln w="12700">
            <a:solidFill>
              <a:srgbClr val="BFDCC4"/>
            </a:solidFill>
            <a:prstDash val="solid"/>
          </a:ln>
        </p:spPr>
      </p:sp>
      <p:sp>
        <p:nvSpPr>
          <p:cNvPr id="38" name="Shape 36"/>
          <p:cNvSpPr/>
          <p:nvPr/>
        </p:nvSpPr>
        <p:spPr>
          <a:xfrm>
            <a:off x="6263640" y="3840480"/>
            <a:ext cx="411480" cy="411480"/>
          </a:xfrm>
          <a:prstGeom prst="ellipse">
            <a:avLst/>
          </a:prstGeom>
          <a:solidFill>
            <a:srgbClr val="2E7D32"/>
          </a:solidFill>
          <a:ln w="12700">
            <a:solidFill>
              <a:srgbClr val="2E7D32"/>
            </a:solidFill>
            <a:prstDash val="solid"/>
          </a:ln>
        </p:spPr>
      </p:sp>
      <p:sp>
        <p:nvSpPr>
          <p:cNvPr id="39" name="Text 37"/>
          <p:cNvSpPr txBox="1"/>
          <p:nvPr/>
        </p:nvSpPr>
        <p:spPr>
          <a:xfrm>
            <a:off x="6263640" y="38404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7</a:t>
            </a:r>
            <a:endParaRPr lang="en-US" sz="1400" dirty="0"/>
          </a:p>
        </p:txBody>
      </p:sp>
      <p:sp>
        <p:nvSpPr>
          <p:cNvPr id="40" name="Text 38"/>
          <p:cNvSpPr txBox="1"/>
          <p:nvPr/>
        </p:nvSpPr>
        <p:spPr>
          <a:xfrm>
            <a:off x="6766560" y="3794760"/>
            <a:ext cx="1965960" cy="548640"/>
          </a:xfrm>
          <a:prstGeom prst="rect">
            <a:avLst/>
          </a:prstGeom>
          <a:noFill/>
          <a:ln/>
        </p:spPr>
        <p:txBody>
          <a:bodyPr wrap="square" lIns="0" tIns="0" rIns="0" bIns="0" rtlCol="0" anchor="ctr"/>
          <a:lstStyle/>
          <a:p>
            <a:pPr marL="0" indent="0">
              <a:buNone/>
            </a:pPr>
            <a:r>
              <a:rPr lang="en-US" sz="1300" b="1" dirty="0">
                <a:solidFill>
                  <a:srgbClr val="14532D"/>
                </a:solidFill>
              </a:rPr>
              <a:t>LED + 220Ω Resistor</a:t>
            </a:r>
            <a:endParaRPr lang="en-US" sz="1300" dirty="0"/>
          </a:p>
        </p:txBody>
      </p:sp>
      <p:sp>
        <p:nvSpPr>
          <p:cNvPr id="41" name="Text 39"/>
          <p:cNvSpPr txBox="1"/>
          <p:nvPr/>
        </p:nvSpPr>
        <p:spPr>
          <a:xfrm>
            <a:off x="6263640" y="4434840"/>
            <a:ext cx="2423160" cy="1508760"/>
          </a:xfrm>
          <a:prstGeom prst="rect">
            <a:avLst/>
          </a:prstGeom>
          <a:noFill/>
          <a:ln/>
        </p:spPr>
        <p:txBody>
          <a:bodyPr wrap="square" lIns="0" tIns="0" rIns="0" bIns="0" rtlCol="0" anchor="t"/>
          <a:lstStyle/>
          <a:p>
            <a:pPr marL="0" indent="0">
              <a:buNone/>
            </a:pPr>
            <a:r>
              <a:rPr lang="en-US" sz="1200" dirty="0">
                <a:solidFill>
                  <a:srgbClr val="1B2B1F"/>
                </a:solidFill>
              </a:rPr>
              <a:t>LED shows status (e.g. dry warning); resistor limits LED current</a:t>
            </a:r>
            <a:endParaRPr lang="en-US" sz="1200" dirty="0"/>
          </a:p>
        </p:txBody>
      </p:sp>
      <p:sp>
        <p:nvSpPr>
          <p:cNvPr id="42" name="Shape 40"/>
          <p:cNvSpPr/>
          <p:nvPr/>
        </p:nvSpPr>
        <p:spPr>
          <a:xfrm>
            <a:off x="8961120" y="3703320"/>
            <a:ext cx="2697480" cy="2331720"/>
          </a:xfrm>
          <a:prstGeom prst="roundRect">
            <a:avLst>
              <a:gd name="adj" fmla="val 3137"/>
            </a:avLst>
          </a:prstGeom>
          <a:solidFill>
            <a:srgbClr val="FFF8E1"/>
          </a:solidFill>
          <a:ln w="19050">
            <a:solidFill>
              <a:srgbClr val="F9A825"/>
            </a:solidFill>
            <a:prstDash val="dash"/>
          </a:ln>
        </p:spPr>
      </p:sp>
      <p:sp>
        <p:nvSpPr>
          <p:cNvPr id="43" name="Text 41"/>
          <p:cNvSpPr txBox="1"/>
          <p:nvPr/>
        </p:nvSpPr>
        <p:spPr>
          <a:xfrm>
            <a:off x="9098280" y="3840480"/>
            <a:ext cx="2423160" cy="2057400"/>
          </a:xfrm>
          <a:prstGeom prst="rect">
            <a:avLst/>
          </a:prstGeom>
          <a:noFill/>
          <a:ln/>
        </p:spPr>
        <p:txBody>
          <a:bodyPr wrap="square" lIns="0" tIns="0" rIns="0" bIns="0" rtlCol="0" anchor="t"/>
          <a:lstStyle/>
          <a:p>
            <a:pPr marL="0" indent="0">
              <a:buNone/>
            </a:pPr>
            <a:r>
              <a:rPr lang="en-US" sz="1300" b="1" dirty="0">
                <a:solidFill>
                  <a:srgbClr val="B45309"/>
                </a:solidFill>
              </a:rPr>
              <a:t>PROPOSED (future)</a:t>
            </a:r>
            <a:endParaRPr lang="en-US" sz="1300" dirty="0"/>
          </a:p>
          <a:p>
            <a:pPr marL="0" indent="0">
              <a:buNone/>
            </a:pPr>
            <a:r>
              <a:rPr lang="en-US" sz="1200" dirty="0">
                <a:solidFill>
                  <a:srgbClr val="1B2B1F"/>
                </a:solidFill>
              </a:rPr>
              <a:t>Water pump and relay module for automatic irrigation. Not part of the current hardware.</a:t>
            </a:r>
            <a:endParaRPr lang="en-US" sz="1300" dirty="0"/>
          </a:p>
        </p:txBody>
      </p:sp>
      <p:sp>
        <p:nvSpPr>
          <p:cNvPr id="44" name="Slide Number Placeholder 0"/>
          <p:cNvSpPr>
            <a:spLocks noGrp="1"/>
          </p:cNvSpPr>
          <p:nvPr>
            <p:ph type="sldNum" sz="quarter" idx="4294967295"/>
          </p:nvPr>
        </p:nvSpPr>
        <p:spPr>
          <a:xfrm>
            <a:off x="1115568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4532D"/>
          </a:solidFill>
          <a:ln w="12700">
            <a:solidFill>
              <a:srgbClr val="14532D"/>
            </a:solidFill>
            <a:prstDash val="solid"/>
          </a:ln>
        </p:spPr>
      </p:sp>
      <p:sp>
        <p:nvSpPr>
          <p:cNvPr id="3" name="Shape 1"/>
          <p:cNvSpPr/>
          <p:nvPr/>
        </p:nvSpPr>
        <p:spPr>
          <a:xfrm>
            <a:off x="0" y="914400"/>
            <a:ext cx="12188952" cy="54864"/>
          </a:xfrm>
          <a:prstGeom prst="rect">
            <a:avLst/>
          </a:prstGeom>
          <a:solidFill>
            <a:srgbClr val="0EA5E9"/>
          </a:solidFill>
          <a:ln w="12700">
            <a:solidFill>
              <a:srgbClr val="0EA5E9"/>
            </a:solidFill>
            <a:prstDash val="solid"/>
          </a:ln>
        </p:spPr>
      </p:sp>
      <p:sp>
        <p:nvSpPr>
          <p:cNvPr id="4" name="Text 2"/>
          <p:cNvSpPr txBox="1"/>
          <p:nvPr/>
        </p:nvSpPr>
        <p:spPr>
          <a:xfrm>
            <a:off x="457200" y="109728"/>
            <a:ext cx="8503920" cy="694944"/>
          </a:xfrm>
          <a:prstGeom prst="rect">
            <a:avLst/>
          </a:prstGeom>
          <a:noFill/>
          <a:ln/>
        </p:spPr>
        <p:txBody>
          <a:bodyPr wrap="square" lIns="0" tIns="0" rIns="0" bIns="0" rtlCol="0" anchor="ctr"/>
          <a:lstStyle/>
          <a:p>
            <a:pPr marL="0" indent="0">
              <a:buNone/>
            </a:pPr>
            <a:r>
              <a:rPr lang="en-US" sz="2800" b="1" dirty="0">
                <a:solidFill>
                  <a:srgbClr val="FFFFFF"/>
                </a:solidFill>
              </a:rPr>
              <a:t>Novelty and Innovation</a:t>
            </a:r>
            <a:endParaRPr lang="en-US" sz="2800" dirty="0"/>
          </a:p>
        </p:txBody>
      </p:sp>
      <p:sp>
        <p:nvSpPr>
          <p:cNvPr id="5" name="Text 3"/>
          <p:cNvSpPr txBox="1"/>
          <p:nvPr/>
        </p:nvSpPr>
        <p:spPr>
          <a:xfrm>
            <a:off x="8778240" y="109728"/>
            <a:ext cx="2971800" cy="694944"/>
          </a:xfrm>
          <a:prstGeom prst="rect">
            <a:avLst/>
          </a:prstGeom>
          <a:noFill/>
          <a:ln/>
        </p:spPr>
        <p:txBody>
          <a:bodyPr wrap="square" lIns="0" tIns="0" rIns="0" bIns="0" rtlCol="0" anchor="ctr"/>
          <a:lstStyle/>
          <a:p>
            <a:pPr marL="0" indent="0" algn="r">
              <a:buNone/>
            </a:pPr>
            <a:r>
              <a:rPr lang="en-US" sz="1200" dirty="0">
                <a:solidFill>
                  <a:srgbClr val="A7E3B0"/>
                </a:solidFill>
              </a:rPr>
              <a:t>Innovation of the Idea</a:t>
            </a:r>
            <a:endParaRPr lang="en-US" sz="1200" dirty="0"/>
          </a:p>
        </p:txBody>
      </p:sp>
      <p:sp>
        <p:nvSpPr>
          <p:cNvPr id="6" name="Text 4"/>
          <p:cNvSpPr txBox="1"/>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F70"/>
                </a:solidFill>
              </a:rPr>
              <a:t>AIBOTS-2026 Hackathon | Review 1</a:t>
            </a:r>
            <a:endParaRPr lang="en-US" sz="1000" dirty="0"/>
          </a:p>
        </p:txBody>
      </p:sp>
      <p:sp>
        <p:nvSpPr>
          <p:cNvPr id="7" name="Shape 5"/>
          <p:cNvSpPr/>
          <p:nvPr/>
        </p:nvSpPr>
        <p:spPr>
          <a:xfrm>
            <a:off x="457200" y="1143000"/>
            <a:ext cx="5212080" cy="658368"/>
          </a:xfrm>
          <a:prstGeom prst="roundRect">
            <a:avLst>
              <a:gd name="adj" fmla="val 11111"/>
            </a:avLst>
          </a:prstGeom>
          <a:solidFill>
            <a:srgbClr val="FFFFFF"/>
          </a:solidFill>
          <a:ln w="12700">
            <a:solidFill>
              <a:srgbClr val="BFDCC4"/>
            </a:solidFill>
            <a:prstDash val="solid"/>
          </a:ln>
        </p:spPr>
      </p:sp>
      <p:sp>
        <p:nvSpPr>
          <p:cNvPr id="8" name="Shape 6"/>
          <p:cNvSpPr/>
          <p:nvPr/>
        </p:nvSpPr>
        <p:spPr>
          <a:xfrm>
            <a:off x="457200" y="1234440"/>
            <a:ext cx="64008" cy="475488"/>
          </a:xfrm>
          <a:prstGeom prst="rect">
            <a:avLst/>
          </a:prstGeom>
          <a:solidFill>
            <a:srgbClr val="2E7D32"/>
          </a:solidFill>
          <a:ln w="12700">
            <a:solidFill>
              <a:srgbClr val="2E7D32"/>
            </a:solidFill>
            <a:prstDash val="solid"/>
          </a:ln>
        </p:spPr>
      </p:sp>
      <p:sp>
        <p:nvSpPr>
          <p:cNvPr id="9" name="Text 7"/>
          <p:cNvSpPr txBox="1"/>
          <p:nvPr/>
        </p:nvSpPr>
        <p:spPr>
          <a:xfrm>
            <a:off x="640080" y="1188720"/>
            <a:ext cx="4937760" cy="566928"/>
          </a:xfrm>
          <a:prstGeom prst="rect">
            <a:avLst/>
          </a:prstGeom>
          <a:noFill/>
          <a:ln/>
        </p:spPr>
        <p:txBody>
          <a:bodyPr wrap="square" lIns="0" tIns="0" rIns="0" bIns="0" rtlCol="0" anchor="ctr"/>
          <a:lstStyle/>
          <a:p>
            <a:pPr marL="0" indent="0">
              <a:buNone/>
            </a:pPr>
            <a:r>
              <a:rPr lang="en-US" sz="1200" b="1" dirty="0">
                <a:solidFill>
                  <a:srgbClr val="14532D"/>
                </a:solidFill>
              </a:rPr>
              <a:t>1  Sensor + weather API integration</a:t>
            </a:r>
            <a:endParaRPr lang="en-US" sz="1200" dirty="0"/>
          </a:p>
          <a:p>
            <a:pPr marL="0" indent="0">
              <a:buNone/>
            </a:pPr>
            <a:r>
              <a:rPr lang="en-US" sz="1050" dirty="0">
                <a:solidFill>
                  <a:srgbClr val="1B2B1F"/>
                </a:solidFill>
              </a:rPr>
              <a:t>Real soil readings with current and forecast weather</a:t>
            </a:r>
            <a:endParaRPr lang="en-US" sz="1200" dirty="0"/>
          </a:p>
        </p:txBody>
      </p:sp>
      <p:sp>
        <p:nvSpPr>
          <p:cNvPr id="10" name="Shape 8"/>
          <p:cNvSpPr/>
          <p:nvPr/>
        </p:nvSpPr>
        <p:spPr>
          <a:xfrm>
            <a:off x="457200" y="1874520"/>
            <a:ext cx="5212080" cy="658368"/>
          </a:xfrm>
          <a:prstGeom prst="roundRect">
            <a:avLst>
              <a:gd name="adj" fmla="val 11111"/>
            </a:avLst>
          </a:prstGeom>
          <a:solidFill>
            <a:srgbClr val="FFFFFF"/>
          </a:solidFill>
          <a:ln w="12700">
            <a:solidFill>
              <a:srgbClr val="BFDCC4"/>
            </a:solidFill>
            <a:prstDash val="solid"/>
          </a:ln>
        </p:spPr>
      </p:sp>
      <p:sp>
        <p:nvSpPr>
          <p:cNvPr id="11" name="Shape 9"/>
          <p:cNvSpPr/>
          <p:nvPr/>
        </p:nvSpPr>
        <p:spPr>
          <a:xfrm>
            <a:off x="457200" y="1965960"/>
            <a:ext cx="64008" cy="475488"/>
          </a:xfrm>
          <a:prstGeom prst="rect">
            <a:avLst/>
          </a:prstGeom>
          <a:solidFill>
            <a:srgbClr val="0EA5E9"/>
          </a:solidFill>
          <a:ln w="12700">
            <a:solidFill>
              <a:srgbClr val="0EA5E9"/>
            </a:solidFill>
            <a:prstDash val="solid"/>
          </a:ln>
        </p:spPr>
      </p:sp>
      <p:sp>
        <p:nvSpPr>
          <p:cNvPr id="12" name="Text 10"/>
          <p:cNvSpPr txBox="1"/>
          <p:nvPr/>
        </p:nvSpPr>
        <p:spPr>
          <a:xfrm>
            <a:off x="640080" y="1920240"/>
            <a:ext cx="4937760" cy="566928"/>
          </a:xfrm>
          <a:prstGeom prst="rect">
            <a:avLst/>
          </a:prstGeom>
          <a:noFill/>
          <a:ln/>
        </p:spPr>
        <p:txBody>
          <a:bodyPr wrap="square" lIns="0" tIns="0" rIns="0" bIns="0" rtlCol="0" anchor="ctr"/>
          <a:lstStyle/>
          <a:p>
            <a:pPr marL="0" indent="0">
              <a:buNone/>
            </a:pPr>
            <a:r>
              <a:rPr lang="en-US" sz="1200" b="1" dirty="0">
                <a:solidFill>
                  <a:srgbClr val="14532D"/>
                </a:solidFill>
              </a:rPr>
              <a:t>2  Weather-aware recommendations</a:t>
            </a:r>
            <a:endParaRPr lang="en-US" sz="1200" dirty="0"/>
          </a:p>
          <a:p>
            <a:pPr marL="0" indent="0">
              <a:buNone/>
            </a:pPr>
            <a:r>
              <a:rPr lang="en-US" sz="1050" dirty="0">
                <a:solidFill>
                  <a:srgbClr val="1B2B1F"/>
                </a:solidFill>
              </a:rPr>
              <a:t>Recent rain and forecast help avoid needless irrigation</a:t>
            </a:r>
            <a:endParaRPr lang="en-US" sz="1200" dirty="0"/>
          </a:p>
        </p:txBody>
      </p:sp>
      <p:sp>
        <p:nvSpPr>
          <p:cNvPr id="13" name="Shape 11"/>
          <p:cNvSpPr/>
          <p:nvPr/>
        </p:nvSpPr>
        <p:spPr>
          <a:xfrm>
            <a:off x="457200" y="2606040"/>
            <a:ext cx="5212080" cy="658368"/>
          </a:xfrm>
          <a:prstGeom prst="roundRect">
            <a:avLst>
              <a:gd name="adj" fmla="val 11111"/>
            </a:avLst>
          </a:prstGeom>
          <a:solidFill>
            <a:srgbClr val="FFFFFF"/>
          </a:solidFill>
          <a:ln w="12700">
            <a:solidFill>
              <a:srgbClr val="BFDCC4"/>
            </a:solidFill>
            <a:prstDash val="solid"/>
          </a:ln>
        </p:spPr>
      </p:sp>
      <p:sp>
        <p:nvSpPr>
          <p:cNvPr id="14" name="Shape 12"/>
          <p:cNvSpPr/>
          <p:nvPr/>
        </p:nvSpPr>
        <p:spPr>
          <a:xfrm>
            <a:off x="457200" y="2697480"/>
            <a:ext cx="64008" cy="475488"/>
          </a:xfrm>
          <a:prstGeom prst="rect">
            <a:avLst/>
          </a:prstGeom>
          <a:solidFill>
            <a:srgbClr val="2E7D32"/>
          </a:solidFill>
          <a:ln w="12700">
            <a:solidFill>
              <a:srgbClr val="2E7D32"/>
            </a:solidFill>
            <a:prstDash val="solid"/>
          </a:ln>
        </p:spPr>
      </p:sp>
      <p:sp>
        <p:nvSpPr>
          <p:cNvPr id="15" name="Text 13"/>
          <p:cNvSpPr txBox="1"/>
          <p:nvPr/>
        </p:nvSpPr>
        <p:spPr>
          <a:xfrm>
            <a:off x="640080" y="2651760"/>
            <a:ext cx="4937760" cy="566928"/>
          </a:xfrm>
          <a:prstGeom prst="rect">
            <a:avLst/>
          </a:prstGeom>
          <a:noFill/>
          <a:ln/>
        </p:spPr>
        <p:txBody>
          <a:bodyPr wrap="square" lIns="0" tIns="0" rIns="0" bIns="0" rtlCol="0" anchor="ctr"/>
          <a:lstStyle/>
          <a:p>
            <a:pPr marL="0" indent="0">
              <a:buNone/>
            </a:pPr>
            <a:r>
              <a:rPr lang="en-US" sz="1200" b="1" dirty="0">
                <a:solidFill>
                  <a:srgbClr val="14532D"/>
                </a:solidFill>
              </a:rPr>
              <a:t>3  Real soil moisture monitoring</a:t>
            </a:r>
            <a:endParaRPr lang="en-US" sz="1200" dirty="0"/>
          </a:p>
          <a:p>
            <a:pPr marL="0" indent="0">
              <a:buNone/>
            </a:pPr>
            <a:r>
              <a:rPr lang="en-US" sz="1050" dirty="0">
                <a:solidFill>
                  <a:srgbClr val="1B2B1F"/>
                </a:solidFill>
              </a:rPr>
              <a:t>Physical sensor, not weather-only estimation</a:t>
            </a:r>
            <a:endParaRPr lang="en-US" sz="1200" dirty="0"/>
          </a:p>
        </p:txBody>
      </p:sp>
      <p:sp>
        <p:nvSpPr>
          <p:cNvPr id="16" name="Shape 14"/>
          <p:cNvSpPr/>
          <p:nvPr/>
        </p:nvSpPr>
        <p:spPr>
          <a:xfrm>
            <a:off x="457200" y="3337560"/>
            <a:ext cx="5212080" cy="658368"/>
          </a:xfrm>
          <a:prstGeom prst="roundRect">
            <a:avLst>
              <a:gd name="adj" fmla="val 11111"/>
            </a:avLst>
          </a:prstGeom>
          <a:solidFill>
            <a:srgbClr val="FFFFFF"/>
          </a:solidFill>
          <a:ln w="12700">
            <a:solidFill>
              <a:srgbClr val="BFDCC4"/>
            </a:solidFill>
            <a:prstDash val="solid"/>
          </a:ln>
        </p:spPr>
      </p:sp>
      <p:sp>
        <p:nvSpPr>
          <p:cNvPr id="17" name="Shape 15"/>
          <p:cNvSpPr/>
          <p:nvPr/>
        </p:nvSpPr>
        <p:spPr>
          <a:xfrm>
            <a:off x="457200" y="3429000"/>
            <a:ext cx="64008" cy="475488"/>
          </a:xfrm>
          <a:prstGeom prst="rect">
            <a:avLst/>
          </a:prstGeom>
          <a:solidFill>
            <a:srgbClr val="0EA5E9"/>
          </a:solidFill>
          <a:ln w="12700">
            <a:solidFill>
              <a:srgbClr val="0EA5E9"/>
            </a:solidFill>
            <a:prstDash val="solid"/>
          </a:ln>
        </p:spPr>
      </p:sp>
      <p:sp>
        <p:nvSpPr>
          <p:cNvPr id="18" name="Text 16"/>
          <p:cNvSpPr txBox="1"/>
          <p:nvPr/>
        </p:nvSpPr>
        <p:spPr>
          <a:xfrm>
            <a:off x="640080" y="3383280"/>
            <a:ext cx="4937760" cy="566928"/>
          </a:xfrm>
          <a:prstGeom prst="rect">
            <a:avLst/>
          </a:prstGeom>
          <a:noFill/>
          <a:ln/>
        </p:spPr>
        <p:txBody>
          <a:bodyPr wrap="square" lIns="0" tIns="0" rIns="0" bIns="0" rtlCol="0" anchor="ctr"/>
          <a:lstStyle/>
          <a:p>
            <a:pPr marL="0" indent="0">
              <a:buNone/>
            </a:pPr>
            <a:r>
              <a:rPr lang="en-US" sz="1200" b="1" dirty="0">
                <a:solidFill>
                  <a:srgbClr val="14532D"/>
                </a:solidFill>
              </a:rPr>
              <a:t>4  Environmental analysis</a:t>
            </a:r>
            <a:endParaRPr lang="en-US" sz="1200" dirty="0"/>
          </a:p>
          <a:p>
            <a:pPr marL="0" indent="0">
              <a:buNone/>
            </a:pPr>
            <a:r>
              <a:rPr lang="en-US" sz="1050" dirty="0">
                <a:solidFill>
                  <a:srgbClr val="1B2B1F"/>
                </a:solidFill>
              </a:rPr>
              <a:t>Soil, air temperature and humidity interpreted together</a:t>
            </a:r>
            <a:endParaRPr lang="en-US" sz="1200" dirty="0"/>
          </a:p>
        </p:txBody>
      </p:sp>
      <p:sp>
        <p:nvSpPr>
          <p:cNvPr id="19" name="Shape 17"/>
          <p:cNvSpPr/>
          <p:nvPr/>
        </p:nvSpPr>
        <p:spPr>
          <a:xfrm>
            <a:off x="457200" y="4069080"/>
            <a:ext cx="5212080" cy="658368"/>
          </a:xfrm>
          <a:prstGeom prst="roundRect">
            <a:avLst>
              <a:gd name="adj" fmla="val 11111"/>
            </a:avLst>
          </a:prstGeom>
          <a:solidFill>
            <a:srgbClr val="FFFFFF"/>
          </a:solidFill>
          <a:ln w="12700">
            <a:solidFill>
              <a:srgbClr val="BFDCC4"/>
            </a:solidFill>
            <a:prstDash val="solid"/>
          </a:ln>
        </p:spPr>
      </p:sp>
      <p:sp>
        <p:nvSpPr>
          <p:cNvPr id="20" name="Shape 18"/>
          <p:cNvSpPr/>
          <p:nvPr/>
        </p:nvSpPr>
        <p:spPr>
          <a:xfrm>
            <a:off x="457200" y="4160520"/>
            <a:ext cx="64008" cy="475488"/>
          </a:xfrm>
          <a:prstGeom prst="rect">
            <a:avLst/>
          </a:prstGeom>
          <a:solidFill>
            <a:srgbClr val="2E7D32"/>
          </a:solidFill>
          <a:ln w="12700">
            <a:solidFill>
              <a:srgbClr val="2E7D32"/>
            </a:solidFill>
            <a:prstDash val="solid"/>
          </a:ln>
        </p:spPr>
      </p:sp>
      <p:sp>
        <p:nvSpPr>
          <p:cNvPr id="21" name="Text 19"/>
          <p:cNvSpPr txBox="1"/>
          <p:nvPr/>
        </p:nvSpPr>
        <p:spPr>
          <a:xfrm>
            <a:off x="640080" y="4114800"/>
            <a:ext cx="4937760" cy="566928"/>
          </a:xfrm>
          <a:prstGeom prst="rect">
            <a:avLst/>
          </a:prstGeom>
          <a:noFill/>
          <a:ln/>
        </p:spPr>
        <p:txBody>
          <a:bodyPr wrap="square" lIns="0" tIns="0" rIns="0" bIns="0" rtlCol="0" anchor="ctr"/>
          <a:lstStyle/>
          <a:p>
            <a:pPr marL="0" indent="0">
              <a:buNone/>
            </a:pPr>
            <a:r>
              <a:rPr lang="en-US" sz="1200" b="1" dirty="0">
                <a:solidFill>
                  <a:srgbClr val="14532D"/>
                </a:solidFill>
              </a:rPr>
              <a:t>5  Affordable prototype</a:t>
            </a:r>
            <a:endParaRPr lang="en-US" sz="1200" dirty="0"/>
          </a:p>
          <a:p>
            <a:pPr marL="0" indent="0">
              <a:buNone/>
            </a:pPr>
            <a:r>
              <a:rPr lang="en-US" sz="1050" dirty="0">
                <a:solidFill>
                  <a:srgbClr val="1B2B1F"/>
                </a:solidFill>
              </a:rPr>
              <a:t>ESP32 and low-cost components</a:t>
            </a:r>
            <a:endParaRPr lang="en-US" sz="1200" dirty="0"/>
          </a:p>
        </p:txBody>
      </p:sp>
      <p:sp>
        <p:nvSpPr>
          <p:cNvPr id="22" name="Shape 20"/>
          <p:cNvSpPr/>
          <p:nvPr/>
        </p:nvSpPr>
        <p:spPr>
          <a:xfrm>
            <a:off x="457200" y="4800600"/>
            <a:ext cx="5212080" cy="658368"/>
          </a:xfrm>
          <a:prstGeom prst="roundRect">
            <a:avLst>
              <a:gd name="adj" fmla="val 11111"/>
            </a:avLst>
          </a:prstGeom>
          <a:solidFill>
            <a:srgbClr val="FFFFFF"/>
          </a:solidFill>
          <a:ln w="12700">
            <a:solidFill>
              <a:srgbClr val="BFDCC4"/>
            </a:solidFill>
            <a:prstDash val="solid"/>
          </a:ln>
        </p:spPr>
      </p:sp>
      <p:sp>
        <p:nvSpPr>
          <p:cNvPr id="23" name="Shape 21"/>
          <p:cNvSpPr/>
          <p:nvPr/>
        </p:nvSpPr>
        <p:spPr>
          <a:xfrm>
            <a:off x="457200" y="4892040"/>
            <a:ext cx="64008" cy="475488"/>
          </a:xfrm>
          <a:prstGeom prst="rect">
            <a:avLst/>
          </a:prstGeom>
          <a:solidFill>
            <a:srgbClr val="0EA5E9"/>
          </a:solidFill>
          <a:ln w="12700">
            <a:solidFill>
              <a:srgbClr val="0EA5E9"/>
            </a:solidFill>
            <a:prstDash val="solid"/>
          </a:ln>
        </p:spPr>
      </p:sp>
      <p:sp>
        <p:nvSpPr>
          <p:cNvPr id="24" name="Text 22"/>
          <p:cNvSpPr txBox="1"/>
          <p:nvPr/>
        </p:nvSpPr>
        <p:spPr>
          <a:xfrm>
            <a:off x="640080" y="4846320"/>
            <a:ext cx="4937760" cy="566928"/>
          </a:xfrm>
          <a:prstGeom prst="rect">
            <a:avLst/>
          </a:prstGeom>
          <a:noFill/>
          <a:ln/>
        </p:spPr>
        <p:txBody>
          <a:bodyPr wrap="square" lIns="0" tIns="0" rIns="0" bIns="0" rtlCol="0" anchor="ctr"/>
          <a:lstStyle/>
          <a:p>
            <a:pPr marL="0" indent="0">
              <a:buNone/>
            </a:pPr>
            <a:r>
              <a:rPr lang="en-US" sz="1200" b="1" dirty="0">
                <a:solidFill>
                  <a:srgbClr val="14532D"/>
                </a:solidFill>
              </a:rPr>
              <a:t>6  Explainable recommendations</a:t>
            </a:r>
            <a:endParaRPr lang="en-US" sz="1200" dirty="0"/>
          </a:p>
          <a:p>
            <a:pPr marL="0" indent="0">
              <a:buNone/>
            </a:pPr>
            <a:r>
              <a:rPr lang="en-US" sz="1050" dirty="0">
                <a:solidFill>
                  <a:srgbClr val="1B2B1F"/>
                </a:solidFill>
              </a:rPr>
              <a:t>Shows why irrigation is needed or delayed</a:t>
            </a:r>
            <a:endParaRPr lang="en-US" sz="1200" dirty="0"/>
          </a:p>
        </p:txBody>
      </p:sp>
      <p:sp>
        <p:nvSpPr>
          <p:cNvPr id="25" name="Shape 23"/>
          <p:cNvSpPr/>
          <p:nvPr/>
        </p:nvSpPr>
        <p:spPr>
          <a:xfrm>
            <a:off x="457200" y="5532120"/>
            <a:ext cx="5212080" cy="658368"/>
          </a:xfrm>
          <a:prstGeom prst="roundRect">
            <a:avLst>
              <a:gd name="adj" fmla="val 11111"/>
            </a:avLst>
          </a:prstGeom>
          <a:solidFill>
            <a:srgbClr val="FFFFFF"/>
          </a:solidFill>
          <a:ln w="12700">
            <a:solidFill>
              <a:srgbClr val="BFDCC4"/>
            </a:solidFill>
            <a:prstDash val="solid"/>
          </a:ln>
        </p:spPr>
      </p:sp>
      <p:sp>
        <p:nvSpPr>
          <p:cNvPr id="26" name="Shape 24"/>
          <p:cNvSpPr/>
          <p:nvPr/>
        </p:nvSpPr>
        <p:spPr>
          <a:xfrm>
            <a:off x="457200" y="5623560"/>
            <a:ext cx="64008" cy="475488"/>
          </a:xfrm>
          <a:prstGeom prst="rect">
            <a:avLst/>
          </a:prstGeom>
          <a:solidFill>
            <a:srgbClr val="2E7D32"/>
          </a:solidFill>
          <a:ln w="12700">
            <a:solidFill>
              <a:srgbClr val="2E7D32"/>
            </a:solidFill>
            <a:prstDash val="solid"/>
          </a:ln>
        </p:spPr>
      </p:sp>
      <p:sp>
        <p:nvSpPr>
          <p:cNvPr id="27" name="Text 25"/>
          <p:cNvSpPr txBox="1"/>
          <p:nvPr/>
        </p:nvSpPr>
        <p:spPr>
          <a:xfrm>
            <a:off x="640080" y="5577840"/>
            <a:ext cx="4937760" cy="566928"/>
          </a:xfrm>
          <a:prstGeom prst="rect">
            <a:avLst/>
          </a:prstGeom>
          <a:noFill/>
          <a:ln/>
        </p:spPr>
        <p:txBody>
          <a:bodyPr wrap="square" lIns="0" tIns="0" rIns="0" bIns="0" rtlCol="0" anchor="ctr"/>
          <a:lstStyle/>
          <a:p>
            <a:pPr marL="0" indent="0">
              <a:buNone/>
            </a:pPr>
            <a:r>
              <a:rPr lang="en-US" sz="1200" b="1" dirty="0">
                <a:solidFill>
                  <a:srgbClr val="14532D"/>
                </a:solidFill>
              </a:rPr>
              <a:t>7  Expandable architecture</a:t>
            </a:r>
            <a:endParaRPr lang="en-US" sz="1200" dirty="0"/>
          </a:p>
          <a:p>
            <a:pPr marL="0" indent="0">
              <a:buNone/>
            </a:pPr>
            <a:r>
              <a:rPr lang="en-US" sz="1050" dirty="0">
                <a:solidFill>
                  <a:srgbClr val="1B2B1F"/>
                </a:solidFill>
              </a:rPr>
              <a:t>Future: crops, history, alerts, pump control</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852160" y="1143000"/>
          <a:ext cx="5879592" cy="914400"/>
        </p:xfrm>
        <a:graphic>
          <a:graphicData uri="http://schemas.openxmlformats.org/drawingml/2006/table">
            <a:tbl>
              <a:tblPr/>
              <a:tblGrid>
                <a:gridCol w="1600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tblGrid>
              <a:tr h="457200">
                <a:tc>
                  <a:txBody>
                    <a:bodyPr/>
                    <a:lstStyle/>
                    <a:p>
                      <a:pPr marL="0" indent="0" algn="ctr">
                        <a:buNone/>
                      </a:pPr>
                      <a:r>
                        <a:rPr lang="en-US" sz="1050" b="1" dirty="0">
                          <a:solidFill>
                            <a:srgbClr val="FFFFFF"/>
                          </a:solidFill>
                        </a:rPr>
                        <a:t>Feature</a:t>
                      </a:r>
                      <a:endParaRPr lang="en-US" sz="105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solidFill>
                      <a:srgbClr val="14532D"/>
                    </a:solidFill>
                  </a:tcPr>
                </a:tc>
                <a:tc>
                  <a:txBody>
                    <a:bodyPr/>
                    <a:lstStyle/>
                    <a:p>
                      <a:pPr marL="0" indent="0" algn="ctr">
                        <a:buNone/>
                      </a:pPr>
                      <a:r>
                        <a:rPr lang="en-US" sz="1050" b="1" dirty="0">
                          <a:solidFill>
                            <a:srgbClr val="FFFFFF"/>
                          </a:solidFill>
                        </a:rPr>
                        <a:t>Basic Sensor System</a:t>
                      </a:r>
                      <a:endParaRPr lang="en-US" sz="105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solidFill>
                      <a:srgbClr val="14532D"/>
                    </a:solidFill>
                  </a:tcPr>
                </a:tc>
                <a:tc>
                  <a:txBody>
                    <a:bodyPr/>
                    <a:lstStyle/>
                    <a:p>
                      <a:pPr marL="0" indent="0" algn="ctr">
                        <a:buNone/>
                      </a:pPr>
                      <a:r>
                        <a:rPr lang="en-US" sz="1050" b="1" dirty="0">
                          <a:solidFill>
                            <a:srgbClr val="FFFFFF"/>
                          </a:solidFill>
                        </a:rPr>
                        <a:t>Proposed System</a:t>
                      </a:r>
                      <a:endParaRPr lang="en-US" sz="105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solidFill>
                      <a:srgbClr val="14532D"/>
                    </a:solidFill>
                  </a:tcPr>
                </a:tc>
                <a:tc>
                  <a:txBody>
                    <a:bodyPr/>
                    <a:lstStyle/>
                    <a:p>
                      <a:pPr marL="0" indent="0" algn="ctr">
                        <a:buNone/>
                      </a:pPr>
                      <a:r>
                        <a:rPr lang="en-US" sz="1050" b="1" dirty="0">
                          <a:solidFill>
                            <a:srgbClr val="FFFFFF"/>
                          </a:solidFill>
                        </a:rPr>
                        <a:t>Status</a:t>
                      </a:r>
                      <a:endParaRPr lang="en-US" sz="105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457200">
                <a:tc>
                  <a:txBody>
                    <a:bodyPr/>
                    <a:lstStyle/>
                    <a:p>
                      <a:pPr marL="0" indent="0">
                        <a:buNone/>
                      </a:pPr>
                      <a:r>
                        <a:rPr lang="en-US" sz="1000" b="1" dirty="0">
                          <a:solidFill>
                            <a:srgbClr val="1B2B1F"/>
                          </a:solidFill>
                        </a:rPr>
                        <a:t>Soil moisture sensing</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buNone/>
                      </a:pPr>
                      <a:r>
                        <a:rPr lang="en-US" sz="1000" dirty="0">
                          <a:solidFill>
                            <a:srgbClr val="1B2B1F"/>
                          </a:solidFill>
                        </a:rPr>
                        <a:t>Yes</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buNone/>
                      </a:pPr>
                      <a:r>
                        <a:rPr lang="en-US" sz="1000" dirty="0">
                          <a:solidFill>
                            <a:srgbClr val="1B2B1F"/>
                          </a:solidFill>
                        </a:rPr>
                        <a:t>Yes</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lgn="ctr">
                        <a:buNone/>
                      </a:pPr>
                      <a:r>
                        <a:rPr lang="en-US" sz="1000" b="1" dirty="0">
                          <a:solidFill>
                            <a:srgbClr val="FFFFFF"/>
                          </a:solidFill>
                        </a:rPr>
                        <a:t>Hardware available</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solidFill>
                      <a:srgbClr val="2E7D32"/>
                    </a:solidFill>
                  </a:tcPr>
                </a:tc>
                <a:extLst>
                  <a:ext uri="{0D108BD9-81ED-4DB2-BD59-A6C34878D82A}">
                    <a16:rowId xmlns:a16="http://schemas.microsoft.com/office/drawing/2014/main" val="10001"/>
                  </a:ext>
                </a:extLst>
              </a:tr>
              <a:tr h="457200">
                <a:tc>
                  <a:txBody>
                    <a:bodyPr/>
                    <a:lstStyle/>
                    <a:p>
                      <a:pPr marL="0" indent="0">
                        <a:buNone/>
                      </a:pPr>
                      <a:r>
                        <a:rPr lang="en-US" sz="1000" b="1" dirty="0">
                          <a:solidFill>
                            <a:srgbClr val="1B2B1F"/>
                          </a:solidFill>
                        </a:rPr>
                        <a:t>Air temperature</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buNone/>
                      </a:pPr>
                      <a:r>
                        <a:rPr lang="en-US" sz="1000" dirty="0">
                          <a:solidFill>
                            <a:srgbClr val="1B2B1F"/>
                          </a:solidFill>
                        </a:rPr>
                        <a:t>Depends on components</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buNone/>
                      </a:pPr>
                      <a:r>
                        <a:rPr lang="en-US" sz="1000" dirty="0">
                          <a:solidFill>
                            <a:srgbClr val="1B2B1F"/>
                          </a:solidFill>
                        </a:rPr>
                        <a:t>Yes</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lgn="ctr">
                        <a:buNone/>
                      </a:pPr>
                      <a:r>
                        <a:rPr lang="en-US" sz="1000" b="1" dirty="0">
                          <a:solidFill>
                            <a:srgbClr val="FFFFFF"/>
                          </a:solidFill>
                        </a:rPr>
                        <a:t>Hardware available</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solidFill>
                      <a:srgbClr val="2E7D32"/>
                    </a:solidFill>
                  </a:tcPr>
                </a:tc>
                <a:extLst>
                  <a:ext uri="{0D108BD9-81ED-4DB2-BD59-A6C34878D82A}">
                    <a16:rowId xmlns:a16="http://schemas.microsoft.com/office/drawing/2014/main" val="10002"/>
                  </a:ext>
                </a:extLst>
              </a:tr>
              <a:tr h="457200">
                <a:tc>
                  <a:txBody>
                    <a:bodyPr/>
                    <a:lstStyle/>
                    <a:p>
                      <a:pPr marL="0" indent="0">
                        <a:buNone/>
                      </a:pPr>
                      <a:r>
                        <a:rPr lang="en-US" sz="1000" b="1" dirty="0">
                          <a:solidFill>
                            <a:srgbClr val="1B2B1F"/>
                          </a:solidFill>
                        </a:rPr>
                        <a:t>Humidity</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buNone/>
                      </a:pPr>
                      <a:r>
                        <a:rPr lang="en-US" sz="1000" dirty="0">
                          <a:solidFill>
                            <a:srgbClr val="1B2B1F"/>
                          </a:solidFill>
                        </a:rPr>
                        <a:t>Depends on components</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buNone/>
                      </a:pPr>
                      <a:r>
                        <a:rPr lang="en-US" sz="1000" dirty="0">
                          <a:solidFill>
                            <a:srgbClr val="1B2B1F"/>
                          </a:solidFill>
                        </a:rPr>
                        <a:t>Yes</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lgn="ctr">
                        <a:buNone/>
                      </a:pPr>
                      <a:r>
                        <a:rPr lang="en-US" sz="1000" b="1" dirty="0">
                          <a:solidFill>
                            <a:srgbClr val="FFFFFF"/>
                          </a:solidFill>
                        </a:rPr>
                        <a:t>Hardware available</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solidFill>
                      <a:srgbClr val="2E7D32"/>
                    </a:solidFill>
                  </a:tcPr>
                </a:tc>
                <a:extLst>
                  <a:ext uri="{0D108BD9-81ED-4DB2-BD59-A6C34878D82A}">
                    <a16:rowId xmlns:a16="http://schemas.microsoft.com/office/drawing/2014/main" val="10003"/>
                  </a:ext>
                </a:extLst>
              </a:tr>
              <a:tr h="457200">
                <a:tc>
                  <a:txBody>
                    <a:bodyPr/>
                    <a:lstStyle/>
                    <a:p>
                      <a:pPr marL="0" indent="0">
                        <a:buNone/>
                      </a:pPr>
                      <a:r>
                        <a:rPr lang="en-US" sz="1000" b="1" dirty="0">
                          <a:solidFill>
                            <a:srgbClr val="1B2B1F"/>
                          </a:solidFill>
                        </a:rPr>
                        <a:t>Weather API integration</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buNone/>
                      </a:pPr>
                      <a:r>
                        <a:rPr lang="en-US" sz="1000" dirty="0">
                          <a:solidFill>
                            <a:srgbClr val="1B2B1F"/>
                          </a:solidFill>
                        </a:rPr>
                        <a:t>Not always available</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buNone/>
                      </a:pPr>
                      <a:r>
                        <a:rPr lang="en-US" sz="1000" dirty="0">
                          <a:solidFill>
                            <a:srgbClr val="1B2B1F"/>
                          </a:solidFill>
                        </a:rPr>
                        <a:t>Core feature</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lgn="ctr">
                        <a:buNone/>
                      </a:pPr>
                      <a:r>
                        <a:rPr lang="en-US" sz="1000" b="1" dirty="0">
                          <a:solidFill>
                            <a:srgbClr val="FFFFFF"/>
                          </a:solidFill>
                        </a:rPr>
                        <a:t>Planned</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solidFill>
                      <a:srgbClr val="D97706"/>
                    </a:solidFill>
                  </a:tcPr>
                </a:tc>
                <a:extLst>
                  <a:ext uri="{0D108BD9-81ED-4DB2-BD59-A6C34878D82A}">
                    <a16:rowId xmlns:a16="http://schemas.microsoft.com/office/drawing/2014/main" val="10004"/>
                  </a:ext>
                </a:extLst>
              </a:tr>
              <a:tr h="457200">
                <a:tc>
                  <a:txBody>
                    <a:bodyPr/>
                    <a:lstStyle/>
                    <a:p>
                      <a:pPr marL="0" indent="0">
                        <a:buNone/>
                      </a:pPr>
                      <a:r>
                        <a:rPr lang="en-US" sz="1000" b="1" dirty="0">
                          <a:solidFill>
                            <a:srgbClr val="1B2B1F"/>
                          </a:solidFill>
                        </a:rPr>
                        <a:t>Rainfall forecast analysis</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buNone/>
                      </a:pPr>
                      <a:r>
                        <a:rPr lang="en-US" sz="1000" dirty="0">
                          <a:solidFill>
                            <a:srgbClr val="1B2B1F"/>
                          </a:solidFill>
                        </a:rPr>
                        <a:t>Not always available</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buNone/>
                      </a:pPr>
                      <a:r>
                        <a:rPr lang="en-US" sz="1000" dirty="0">
                          <a:solidFill>
                            <a:srgbClr val="1B2B1F"/>
                          </a:solidFill>
                        </a:rPr>
                        <a:t>In proposed workflow</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lgn="ctr">
                        <a:buNone/>
                      </a:pPr>
                      <a:r>
                        <a:rPr lang="en-US" sz="1000" b="1" dirty="0">
                          <a:solidFill>
                            <a:srgbClr val="FFFFFF"/>
                          </a:solidFill>
                        </a:rPr>
                        <a:t>Planned</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solidFill>
                      <a:srgbClr val="D97706"/>
                    </a:solidFill>
                  </a:tcPr>
                </a:tc>
                <a:extLst>
                  <a:ext uri="{0D108BD9-81ED-4DB2-BD59-A6C34878D82A}">
                    <a16:rowId xmlns:a16="http://schemas.microsoft.com/office/drawing/2014/main" val="10005"/>
                  </a:ext>
                </a:extLst>
              </a:tr>
              <a:tr h="457200">
                <a:tc>
                  <a:txBody>
                    <a:bodyPr/>
                    <a:lstStyle/>
                    <a:p>
                      <a:pPr marL="0" indent="0">
                        <a:buNone/>
                      </a:pPr>
                      <a:r>
                        <a:rPr lang="en-US" sz="1000" b="1" dirty="0">
                          <a:solidFill>
                            <a:srgbClr val="1B2B1F"/>
                          </a:solidFill>
                        </a:rPr>
                        <a:t>Dashboard and alerts</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buNone/>
                      </a:pPr>
                      <a:r>
                        <a:rPr lang="en-US" sz="1000" dirty="0">
                          <a:solidFill>
                            <a:srgbClr val="1B2B1F"/>
                          </a:solidFill>
                        </a:rPr>
                        <a:t>Depends on implementation</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buNone/>
                      </a:pPr>
                      <a:r>
                        <a:rPr lang="en-US" sz="1000" dirty="0">
                          <a:solidFill>
                            <a:srgbClr val="1B2B1F"/>
                          </a:solidFill>
                        </a:rPr>
                        <a:t>In proposed workflow</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tcPr>
                </a:tc>
                <a:tc>
                  <a:txBody>
                    <a:bodyPr/>
                    <a:lstStyle/>
                    <a:p>
                      <a:pPr marL="0" indent="0" algn="ctr">
                        <a:buNone/>
                      </a:pPr>
                      <a:r>
                        <a:rPr lang="en-US" sz="1000" b="1" dirty="0">
                          <a:solidFill>
                            <a:srgbClr val="FFFFFF"/>
                          </a:solidFill>
                        </a:rPr>
                        <a:t>Planned</a:t>
                      </a:r>
                      <a:endParaRPr lang="en-US" sz="1000" dirty="0"/>
                    </a:p>
                  </a:txBody>
                  <a:tcPr anchor="ctr">
                    <a:lnL w="12700" cap="flat" cmpd="sng" algn="ctr">
                      <a:solidFill>
                        <a:srgbClr val="BFDCC4"/>
                      </a:solidFill>
                      <a:prstDash val="solid"/>
                      <a:round/>
                      <a:headEnd type="none" w="med" len="med"/>
                      <a:tailEnd type="none" w="med" len="med"/>
                    </a:lnL>
                    <a:lnR w="12700" cap="flat" cmpd="sng" algn="ctr">
                      <a:solidFill>
                        <a:srgbClr val="BFDCC4"/>
                      </a:solidFill>
                      <a:prstDash val="solid"/>
                      <a:round/>
                      <a:headEnd type="none" w="med" len="med"/>
                      <a:tailEnd type="none" w="med" len="med"/>
                    </a:lnR>
                    <a:lnT w="12700" cap="flat" cmpd="sng" algn="ctr">
                      <a:solidFill>
                        <a:srgbClr val="BFDCC4"/>
                      </a:solidFill>
                      <a:prstDash val="solid"/>
                      <a:round/>
                      <a:headEnd type="none" w="med" len="med"/>
                      <a:tailEnd type="none" w="med" len="med"/>
                    </a:lnT>
                    <a:lnB w="12700" cap="flat" cmpd="sng" algn="ctr">
                      <a:solidFill>
                        <a:srgbClr val="BFDCC4"/>
                      </a:solidFill>
                      <a:prstDash val="solid"/>
                      <a:round/>
                      <a:headEnd type="none" w="med" len="med"/>
                      <a:tailEnd type="none" w="med" len="med"/>
                    </a:lnB>
                    <a:solidFill>
                      <a:srgbClr val="D97706"/>
                    </a:solidFill>
                  </a:tcPr>
                </a:tc>
                <a:extLst>
                  <a:ext uri="{0D108BD9-81ED-4DB2-BD59-A6C34878D82A}">
                    <a16:rowId xmlns:a16="http://schemas.microsoft.com/office/drawing/2014/main" val="10006"/>
                  </a:ext>
                </a:extLst>
              </a:tr>
            </a:tbl>
          </a:graphicData>
        </a:graphic>
      </p:graphicFrame>
      <p:sp>
        <p:nvSpPr>
          <p:cNvPr id="29" name="Shape 26"/>
          <p:cNvSpPr/>
          <p:nvPr/>
        </p:nvSpPr>
        <p:spPr>
          <a:xfrm>
            <a:off x="5852160" y="4526280"/>
            <a:ext cx="5879592" cy="1600200"/>
          </a:xfrm>
          <a:prstGeom prst="roundRect">
            <a:avLst>
              <a:gd name="adj" fmla="val 5714"/>
            </a:avLst>
          </a:prstGeom>
          <a:solidFill>
            <a:srgbClr val="14532D"/>
          </a:solidFill>
          <a:ln w="12700">
            <a:solidFill>
              <a:srgbClr val="14532D"/>
            </a:solidFill>
            <a:prstDash val="solid"/>
          </a:ln>
        </p:spPr>
      </p:sp>
      <p:sp>
        <p:nvSpPr>
          <p:cNvPr id="30" name="Text 27"/>
          <p:cNvSpPr txBox="1"/>
          <p:nvPr/>
        </p:nvSpPr>
        <p:spPr>
          <a:xfrm>
            <a:off x="6035040" y="4572000"/>
            <a:ext cx="5532120" cy="1508760"/>
          </a:xfrm>
          <a:prstGeom prst="rect">
            <a:avLst/>
          </a:prstGeom>
          <a:noFill/>
          <a:ln/>
        </p:spPr>
        <p:txBody>
          <a:bodyPr wrap="square" lIns="0" tIns="0" rIns="0" bIns="0" rtlCol="0" anchor="ctr"/>
          <a:lstStyle/>
          <a:p>
            <a:pPr marL="0" indent="0">
              <a:buNone/>
            </a:pPr>
            <a:r>
              <a:rPr lang="en-US" sz="1350" b="1" i="1" dirty="0">
                <a:solidFill>
                  <a:srgbClr val="FFFFFF"/>
                </a:solidFill>
              </a:rPr>
              <a:t>“Our innovation is the combination of real-time soil moisture sensing, environmental monitoring, and weather forecast analysis in an affordable IoT-based irrigation decision-support system.”</a:t>
            </a:r>
            <a:endParaRPr lang="en-US" sz="1350" dirty="0"/>
          </a:p>
        </p:txBody>
      </p:sp>
      <p:sp>
        <p:nvSpPr>
          <p:cNvPr id="31" name="Slide Number Placeholder 0"/>
          <p:cNvSpPr>
            <a:spLocks noGrp="1"/>
          </p:cNvSpPr>
          <p:nvPr>
            <p:ph type="sldNum" sz="quarter" idx="4294967295"/>
          </p:nvPr>
        </p:nvSpPr>
        <p:spPr>
          <a:xfrm>
            <a:off x="1115568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0"/>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4532D"/>
          </a:solidFill>
          <a:ln w="12700">
            <a:solidFill>
              <a:srgbClr val="14532D"/>
            </a:solidFill>
            <a:prstDash val="solid"/>
          </a:ln>
        </p:spPr>
      </p:sp>
      <p:sp>
        <p:nvSpPr>
          <p:cNvPr id="3" name="Shape 1"/>
          <p:cNvSpPr/>
          <p:nvPr/>
        </p:nvSpPr>
        <p:spPr>
          <a:xfrm>
            <a:off x="0" y="914400"/>
            <a:ext cx="12188952" cy="54864"/>
          </a:xfrm>
          <a:prstGeom prst="rect">
            <a:avLst/>
          </a:prstGeom>
          <a:solidFill>
            <a:srgbClr val="0EA5E9"/>
          </a:solidFill>
          <a:ln w="12700">
            <a:solidFill>
              <a:srgbClr val="0EA5E9"/>
            </a:solidFill>
            <a:prstDash val="solid"/>
          </a:ln>
        </p:spPr>
      </p:sp>
      <p:sp>
        <p:nvSpPr>
          <p:cNvPr id="4" name="Text 2"/>
          <p:cNvSpPr txBox="1"/>
          <p:nvPr/>
        </p:nvSpPr>
        <p:spPr>
          <a:xfrm>
            <a:off x="457200" y="109728"/>
            <a:ext cx="8503920" cy="694944"/>
          </a:xfrm>
          <a:prstGeom prst="rect">
            <a:avLst/>
          </a:prstGeom>
          <a:noFill/>
          <a:ln/>
        </p:spPr>
        <p:txBody>
          <a:bodyPr wrap="square" lIns="0" tIns="0" rIns="0" bIns="0" rtlCol="0" anchor="ctr"/>
          <a:lstStyle/>
          <a:p>
            <a:pPr marL="0" indent="0">
              <a:buNone/>
            </a:pPr>
            <a:r>
              <a:rPr lang="en-US" sz="2800" b="1" dirty="0">
                <a:solidFill>
                  <a:srgbClr val="FFFFFF"/>
                </a:solidFill>
              </a:rPr>
              <a:t>Hardware and System Architecture</a:t>
            </a:r>
            <a:endParaRPr lang="en-US" sz="2800" dirty="0"/>
          </a:p>
        </p:txBody>
      </p:sp>
      <p:sp>
        <p:nvSpPr>
          <p:cNvPr id="5" name="Text 3"/>
          <p:cNvSpPr txBox="1"/>
          <p:nvPr/>
        </p:nvSpPr>
        <p:spPr>
          <a:xfrm>
            <a:off x="8778240" y="109728"/>
            <a:ext cx="2971800" cy="694944"/>
          </a:xfrm>
          <a:prstGeom prst="rect">
            <a:avLst/>
          </a:prstGeom>
          <a:noFill/>
          <a:ln/>
        </p:spPr>
        <p:txBody>
          <a:bodyPr wrap="square" lIns="0" tIns="0" rIns="0" bIns="0" rtlCol="0" anchor="ctr"/>
          <a:lstStyle/>
          <a:p>
            <a:pPr marL="0" indent="0" algn="r">
              <a:buNone/>
            </a:pPr>
            <a:r>
              <a:rPr lang="en-US" sz="1200" dirty="0">
                <a:solidFill>
                  <a:srgbClr val="A7E3B0"/>
                </a:solidFill>
              </a:rPr>
              <a:t>Solution &amp; Architecture</a:t>
            </a:r>
            <a:endParaRPr lang="en-US" sz="1200" dirty="0"/>
          </a:p>
        </p:txBody>
      </p:sp>
      <p:sp>
        <p:nvSpPr>
          <p:cNvPr id="6" name="Text 4"/>
          <p:cNvSpPr txBox="1"/>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F70"/>
                </a:solidFill>
              </a:rPr>
              <a:t>AIBOTS-2026 Hackathon | Review 1</a:t>
            </a:r>
            <a:endParaRPr lang="en-US" sz="1000" dirty="0"/>
          </a:p>
        </p:txBody>
      </p:sp>
      <p:sp>
        <p:nvSpPr>
          <p:cNvPr id="7" name="Text 5"/>
          <p:cNvSpPr/>
          <p:nvPr/>
        </p:nvSpPr>
        <p:spPr>
          <a:xfrm>
            <a:off x="457200" y="1234440"/>
            <a:ext cx="2286000" cy="777240"/>
          </a:xfrm>
          <a:prstGeom prst="roundRect">
            <a:avLst>
              <a:gd name="adj" fmla="val 9412"/>
            </a:avLst>
          </a:prstGeom>
          <a:solidFill>
            <a:srgbClr val="EAF6EC"/>
          </a:solidFill>
          <a:ln w="15875">
            <a:solidFill>
              <a:srgbClr val="2E7D32"/>
            </a:solidFill>
          </a:ln>
        </p:spPr>
        <p:txBody>
          <a:bodyPr wrap="square" lIns="1016" tIns="1016" rIns="1016" bIns="1016" rtlCol="0" anchor="ctr"/>
          <a:lstStyle/>
          <a:p>
            <a:pPr marL="0" indent="0" algn="ctr">
              <a:buNone/>
            </a:pPr>
            <a:r>
              <a:rPr lang="en-US" sz="1200" b="1" dirty="0">
                <a:solidFill>
                  <a:srgbClr val="1B2B1F"/>
                </a:solidFill>
              </a:rPr>
              <a:t>Soil Moisture Sensor</a:t>
            </a:r>
            <a:endParaRPr lang="en-US" sz="1200" dirty="0"/>
          </a:p>
        </p:txBody>
      </p:sp>
      <p:sp>
        <p:nvSpPr>
          <p:cNvPr id="8" name="Text 6"/>
          <p:cNvSpPr/>
          <p:nvPr/>
        </p:nvSpPr>
        <p:spPr>
          <a:xfrm>
            <a:off x="457200" y="2240280"/>
            <a:ext cx="2286000" cy="777240"/>
          </a:xfrm>
          <a:prstGeom prst="roundRect">
            <a:avLst>
              <a:gd name="adj" fmla="val 9412"/>
            </a:avLst>
          </a:prstGeom>
          <a:solidFill>
            <a:srgbClr val="EAF6EC"/>
          </a:solidFill>
          <a:ln w="15875">
            <a:solidFill>
              <a:srgbClr val="2E7D32"/>
            </a:solidFill>
          </a:ln>
        </p:spPr>
        <p:txBody>
          <a:bodyPr wrap="square" lIns="1016" tIns="1016" rIns="1016" bIns="1016" rtlCol="0" anchor="ctr"/>
          <a:lstStyle/>
          <a:p>
            <a:pPr marL="0" indent="0" algn="ctr">
              <a:buNone/>
            </a:pPr>
            <a:r>
              <a:rPr lang="en-US" sz="1200" b="1" dirty="0">
                <a:solidFill>
                  <a:srgbClr val="1B2B1F"/>
                </a:solidFill>
              </a:rPr>
              <a:t>DHT11 Temp &amp; Humidity Sensor</a:t>
            </a:r>
            <a:endParaRPr lang="en-US" sz="1200" dirty="0"/>
          </a:p>
        </p:txBody>
      </p:sp>
      <p:sp>
        <p:nvSpPr>
          <p:cNvPr id="9" name="Text 7"/>
          <p:cNvSpPr/>
          <p:nvPr/>
        </p:nvSpPr>
        <p:spPr>
          <a:xfrm>
            <a:off x="457200" y="3246120"/>
            <a:ext cx="2286000" cy="777240"/>
          </a:xfrm>
          <a:prstGeom prst="roundRect">
            <a:avLst>
              <a:gd name="adj" fmla="val 9412"/>
            </a:avLst>
          </a:prstGeom>
          <a:solidFill>
            <a:srgbClr val="FFF8E1"/>
          </a:solidFill>
          <a:ln w="15875">
            <a:solidFill>
              <a:srgbClr val="F9A825"/>
            </a:solidFill>
          </a:ln>
        </p:spPr>
        <p:txBody>
          <a:bodyPr wrap="square" lIns="1016" tIns="1016" rIns="1016" bIns="1016" rtlCol="0" anchor="ctr"/>
          <a:lstStyle/>
          <a:p>
            <a:pPr marL="0" indent="0" algn="ctr">
              <a:buNone/>
            </a:pPr>
            <a:r>
              <a:rPr lang="en-US" sz="1200" b="1" dirty="0">
                <a:solidFill>
                  <a:srgbClr val="1B2B1F"/>
                </a:solidFill>
              </a:rPr>
              <a:t>LED + 220Ω Resistor (status only)</a:t>
            </a:r>
            <a:endParaRPr lang="en-US" sz="1200" dirty="0"/>
          </a:p>
        </p:txBody>
      </p:sp>
      <p:sp>
        <p:nvSpPr>
          <p:cNvPr id="10" name="Text 8"/>
          <p:cNvSpPr/>
          <p:nvPr/>
        </p:nvSpPr>
        <p:spPr>
          <a:xfrm>
            <a:off x="3474720" y="1234440"/>
            <a:ext cx="2011680" cy="2788920"/>
          </a:xfrm>
          <a:prstGeom prst="roundRect">
            <a:avLst>
              <a:gd name="adj" fmla="val 3636"/>
            </a:avLst>
          </a:prstGeom>
          <a:solidFill>
            <a:srgbClr val="14532D"/>
          </a:solidFill>
          <a:ln w="15875">
            <a:solidFill>
              <a:srgbClr val="14532D"/>
            </a:solidFill>
          </a:ln>
        </p:spPr>
        <p:txBody>
          <a:bodyPr wrap="square" lIns="1016" tIns="1016" rIns="1016" bIns="1016" rtlCol="0" anchor="ctr"/>
          <a:lstStyle/>
          <a:p>
            <a:pPr marL="0" indent="0" algn="ctr">
              <a:buNone/>
            </a:pPr>
            <a:r>
              <a:rPr lang="en-US" sz="1200" b="1" dirty="0">
                <a:solidFill>
                  <a:srgbClr val="1B2B1F"/>
                </a:solidFill>
              </a:rPr>
              <a:t>ESP32</a:t>
            </a:r>
            <a:endParaRPr lang="en-US" sz="1200" dirty="0"/>
          </a:p>
          <a:p>
            <a:pPr marL="0" indent="0" algn="ctr">
              <a:buNone/>
            </a:pPr>
            <a:r>
              <a:rPr lang="en-US" sz="1200" b="1" dirty="0">
                <a:solidFill>
                  <a:srgbClr val="1B2B1F"/>
                </a:solidFill>
              </a:rPr>
              <a:t>(GPIO inputs, outputs, Wi-Fi)</a:t>
            </a:r>
            <a:endParaRPr lang="en-US" sz="1200" dirty="0"/>
          </a:p>
        </p:txBody>
      </p:sp>
      <p:sp>
        <p:nvSpPr>
          <p:cNvPr id="11" name="Text 9"/>
          <p:cNvSpPr txBox="1"/>
          <p:nvPr/>
        </p:nvSpPr>
        <p:spPr>
          <a:xfrm>
            <a:off x="3474720" y="1234440"/>
            <a:ext cx="2011680" cy="2788920"/>
          </a:xfrm>
          <a:prstGeom prst="rect">
            <a:avLst/>
          </a:prstGeom>
          <a:noFill/>
          <a:ln/>
        </p:spPr>
        <p:txBody>
          <a:bodyPr wrap="square" lIns="0" tIns="0" rIns="0" bIns="0" rtlCol="0" anchor="ctr"/>
          <a:lstStyle/>
          <a:p>
            <a:pPr marL="0" indent="0" algn="ctr">
              <a:buNone/>
            </a:pPr>
            <a:r>
              <a:rPr lang="en-US" sz="1300" b="1" dirty="0">
                <a:solidFill>
                  <a:srgbClr val="FFFFFF"/>
                </a:solidFill>
              </a:rPr>
              <a:t>ESP32</a:t>
            </a:r>
            <a:endParaRPr lang="en-US" sz="1300" dirty="0"/>
          </a:p>
          <a:p>
            <a:pPr marL="0" indent="0" algn="ctr">
              <a:buNone/>
            </a:pPr>
            <a:r>
              <a:rPr lang="en-US" sz="1300" b="1" dirty="0">
                <a:solidFill>
                  <a:srgbClr val="FFFFFF"/>
                </a:solidFill>
              </a:rPr>
              <a:t>(GPIO inputs, outputs, Wi-Fi)</a:t>
            </a:r>
            <a:endParaRPr lang="en-US" sz="1300" dirty="0"/>
          </a:p>
        </p:txBody>
      </p:sp>
      <p:sp>
        <p:nvSpPr>
          <p:cNvPr id="12" name="Shape 10"/>
          <p:cNvSpPr/>
          <p:nvPr/>
        </p:nvSpPr>
        <p:spPr>
          <a:xfrm>
            <a:off x="2743200" y="1627632"/>
            <a:ext cx="731520" cy="0"/>
          </a:xfrm>
          <a:prstGeom prst="line">
            <a:avLst/>
          </a:prstGeom>
          <a:noFill/>
          <a:ln w="28575">
            <a:solidFill>
              <a:srgbClr val="1565C0"/>
            </a:solidFill>
            <a:prstDash val="solid"/>
            <a:tailEnd type="triangle"/>
          </a:ln>
        </p:spPr>
      </p:sp>
      <p:sp>
        <p:nvSpPr>
          <p:cNvPr id="13" name="Shape 11"/>
          <p:cNvSpPr/>
          <p:nvPr/>
        </p:nvSpPr>
        <p:spPr>
          <a:xfrm>
            <a:off x="2743200" y="2633472"/>
            <a:ext cx="731520" cy="0"/>
          </a:xfrm>
          <a:prstGeom prst="line">
            <a:avLst/>
          </a:prstGeom>
          <a:noFill/>
          <a:ln w="28575">
            <a:solidFill>
              <a:srgbClr val="1565C0"/>
            </a:solidFill>
            <a:prstDash val="solid"/>
            <a:tailEnd type="triangle"/>
          </a:ln>
        </p:spPr>
      </p:sp>
      <p:sp>
        <p:nvSpPr>
          <p:cNvPr id="14" name="Shape 12"/>
          <p:cNvSpPr/>
          <p:nvPr/>
        </p:nvSpPr>
        <p:spPr>
          <a:xfrm flipH="1">
            <a:off x="2743200" y="3630168"/>
            <a:ext cx="731520" cy="0"/>
          </a:xfrm>
          <a:prstGeom prst="line">
            <a:avLst/>
          </a:prstGeom>
          <a:noFill/>
          <a:ln w="28575">
            <a:solidFill>
              <a:srgbClr val="D97706"/>
            </a:solidFill>
            <a:prstDash val="solid"/>
            <a:tailEnd type="triangle"/>
          </a:ln>
        </p:spPr>
      </p:sp>
      <p:sp>
        <p:nvSpPr>
          <p:cNvPr id="15" name="Text 13"/>
          <p:cNvSpPr/>
          <p:nvPr/>
        </p:nvSpPr>
        <p:spPr>
          <a:xfrm>
            <a:off x="6217920" y="2103120"/>
            <a:ext cx="1828800" cy="1005840"/>
          </a:xfrm>
          <a:prstGeom prst="roundRect">
            <a:avLst>
              <a:gd name="adj" fmla="val 7273"/>
            </a:avLst>
          </a:prstGeom>
          <a:solidFill>
            <a:srgbClr val="E3F4FD"/>
          </a:solidFill>
          <a:ln w="15875">
            <a:solidFill>
              <a:srgbClr val="0EA5E9"/>
            </a:solidFill>
          </a:ln>
        </p:spPr>
        <p:txBody>
          <a:bodyPr wrap="square" lIns="1016" tIns="1016" rIns="1016" bIns="1016" rtlCol="0" anchor="ctr"/>
          <a:lstStyle/>
          <a:p>
            <a:pPr marL="0" indent="0" algn="ctr">
              <a:buNone/>
            </a:pPr>
            <a:r>
              <a:rPr lang="en-US" sz="1200" b="1" dirty="0">
                <a:solidFill>
                  <a:srgbClr val="1B2B1F"/>
                </a:solidFill>
              </a:rPr>
              <a:t>Backend / Data Processing (Flask)</a:t>
            </a:r>
            <a:endParaRPr lang="en-US" sz="1200" dirty="0"/>
          </a:p>
        </p:txBody>
      </p:sp>
      <p:sp>
        <p:nvSpPr>
          <p:cNvPr id="16" name="Text 14"/>
          <p:cNvSpPr/>
          <p:nvPr/>
        </p:nvSpPr>
        <p:spPr>
          <a:xfrm>
            <a:off x="6217920" y="1097280"/>
            <a:ext cx="1828800" cy="640080"/>
          </a:xfrm>
          <a:prstGeom prst="roundRect">
            <a:avLst>
              <a:gd name="adj" fmla="val 11429"/>
            </a:avLst>
          </a:prstGeom>
          <a:solidFill>
            <a:srgbClr val="E3F4FD"/>
          </a:solidFill>
          <a:ln w="15875">
            <a:solidFill>
              <a:srgbClr val="0EA5E9"/>
            </a:solidFill>
          </a:ln>
        </p:spPr>
        <p:txBody>
          <a:bodyPr wrap="square" lIns="1016" tIns="1016" rIns="1016" bIns="1016" rtlCol="0" anchor="ctr"/>
          <a:lstStyle/>
          <a:p>
            <a:pPr marL="0" indent="0" algn="ctr">
              <a:buNone/>
            </a:pPr>
            <a:r>
              <a:rPr lang="en-US" sz="1200" b="1" dirty="0">
                <a:solidFill>
                  <a:srgbClr val="1B2B1F"/>
                </a:solidFill>
              </a:rPr>
              <a:t>Weather API</a:t>
            </a:r>
            <a:endParaRPr lang="en-US" sz="1200" dirty="0"/>
          </a:p>
        </p:txBody>
      </p:sp>
      <p:sp>
        <p:nvSpPr>
          <p:cNvPr id="17" name="Shape 15"/>
          <p:cNvSpPr/>
          <p:nvPr/>
        </p:nvSpPr>
        <p:spPr>
          <a:xfrm>
            <a:off x="5486400" y="2606040"/>
            <a:ext cx="731520" cy="0"/>
          </a:xfrm>
          <a:prstGeom prst="line">
            <a:avLst/>
          </a:prstGeom>
          <a:noFill/>
          <a:ln w="28575">
            <a:solidFill>
              <a:srgbClr val="1565C0"/>
            </a:solidFill>
            <a:prstDash val="solid"/>
            <a:tailEnd type="triangle"/>
          </a:ln>
        </p:spPr>
      </p:sp>
      <p:sp>
        <p:nvSpPr>
          <p:cNvPr id="18" name="Text 16"/>
          <p:cNvSpPr txBox="1"/>
          <p:nvPr/>
        </p:nvSpPr>
        <p:spPr>
          <a:xfrm>
            <a:off x="5394960" y="2240280"/>
            <a:ext cx="914400" cy="274320"/>
          </a:xfrm>
          <a:prstGeom prst="rect">
            <a:avLst/>
          </a:prstGeom>
          <a:noFill/>
          <a:ln/>
        </p:spPr>
        <p:txBody>
          <a:bodyPr wrap="square" lIns="0" tIns="0" rIns="0" bIns="0" rtlCol="0" anchor="ctr"/>
          <a:lstStyle/>
          <a:p>
            <a:pPr marL="0" indent="0" algn="ctr">
              <a:buNone/>
            </a:pPr>
            <a:r>
              <a:rPr lang="en-US" sz="1000" b="1" dirty="0">
                <a:solidFill>
                  <a:srgbClr val="1565C0"/>
                </a:solidFill>
              </a:rPr>
              <a:t>Wi-Fi / HTTP</a:t>
            </a:r>
            <a:endParaRPr lang="en-US" sz="1000" dirty="0"/>
          </a:p>
        </p:txBody>
      </p:sp>
      <p:sp>
        <p:nvSpPr>
          <p:cNvPr id="19" name="Shape 17"/>
          <p:cNvSpPr/>
          <p:nvPr/>
        </p:nvSpPr>
        <p:spPr>
          <a:xfrm>
            <a:off x="7132320" y="1737360"/>
            <a:ext cx="0" cy="365760"/>
          </a:xfrm>
          <a:prstGeom prst="line">
            <a:avLst/>
          </a:prstGeom>
          <a:noFill/>
          <a:ln w="28575">
            <a:solidFill>
              <a:srgbClr val="1565C0"/>
            </a:solidFill>
            <a:prstDash val="solid"/>
            <a:tailEnd type="triangle"/>
          </a:ln>
        </p:spPr>
      </p:sp>
      <p:sp>
        <p:nvSpPr>
          <p:cNvPr id="20" name="Text 18"/>
          <p:cNvSpPr/>
          <p:nvPr/>
        </p:nvSpPr>
        <p:spPr>
          <a:xfrm>
            <a:off x="8503920" y="2103120"/>
            <a:ext cx="1463040" cy="1005840"/>
          </a:xfrm>
          <a:prstGeom prst="roundRect">
            <a:avLst>
              <a:gd name="adj" fmla="val 7273"/>
            </a:avLst>
          </a:prstGeom>
          <a:solidFill>
            <a:srgbClr val="E3F4FD"/>
          </a:solidFill>
          <a:ln w="15875">
            <a:solidFill>
              <a:srgbClr val="0EA5E9"/>
            </a:solidFill>
          </a:ln>
        </p:spPr>
        <p:txBody>
          <a:bodyPr wrap="square" lIns="1016" tIns="1016" rIns="1016" bIns="1016" rtlCol="0" anchor="ctr"/>
          <a:lstStyle/>
          <a:p>
            <a:pPr marL="0" indent="0" algn="ctr">
              <a:buNone/>
            </a:pPr>
            <a:r>
              <a:rPr lang="en-US" sz="1200" b="1" dirty="0">
                <a:solidFill>
                  <a:srgbClr val="1B2B1F"/>
                </a:solidFill>
              </a:rPr>
              <a:t>Prediction Engine</a:t>
            </a:r>
            <a:endParaRPr lang="en-US" sz="1200" dirty="0"/>
          </a:p>
        </p:txBody>
      </p:sp>
      <p:sp>
        <p:nvSpPr>
          <p:cNvPr id="21" name="Text 19"/>
          <p:cNvSpPr/>
          <p:nvPr/>
        </p:nvSpPr>
        <p:spPr>
          <a:xfrm>
            <a:off x="10332720" y="2103120"/>
            <a:ext cx="1399032" cy="1005840"/>
          </a:xfrm>
          <a:prstGeom prst="roundRect">
            <a:avLst>
              <a:gd name="adj" fmla="val 7273"/>
            </a:avLst>
          </a:prstGeom>
          <a:solidFill>
            <a:srgbClr val="E3F4FD"/>
          </a:solidFill>
          <a:ln w="15875">
            <a:solidFill>
              <a:srgbClr val="0EA5E9"/>
            </a:solidFill>
          </a:ln>
        </p:spPr>
        <p:txBody>
          <a:bodyPr wrap="square" lIns="1016" tIns="1016" rIns="1016" bIns="1016" rtlCol="0" anchor="ctr"/>
          <a:lstStyle/>
          <a:p>
            <a:pPr marL="0" indent="0" algn="ctr">
              <a:buNone/>
            </a:pPr>
            <a:r>
              <a:rPr lang="en-US" sz="1200" b="1" dirty="0">
                <a:solidFill>
                  <a:srgbClr val="1B2B1F"/>
                </a:solidFill>
              </a:rPr>
              <a:t>Web Dashboard &amp; Alerts</a:t>
            </a:r>
            <a:endParaRPr lang="en-US" sz="1200" dirty="0"/>
          </a:p>
        </p:txBody>
      </p:sp>
      <p:sp>
        <p:nvSpPr>
          <p:cNvPr id="22" name="Shape 20"/>
          <p:cNvSpPr/>
          <p:nvPr/>
        </p:nvSpPr>
        <p:spPr>
          <a:xfrm>
            <a:off x="8046720" y="2606040"/>
            <a:ext cx="457200" cy="0"/>
          </a:xfrm>
          <a:prstGeom prst="line">
            <a:avLst/>
          </a:prstGeom>
          <a:noFill/>
          <a:ln w="28575">
            <a:solidFill>
              <a:srgbClr val="1565C0"/>
            </a:solidFill>
            <a:prstDash val="solid"/>
            <a:tailEnd type="triangle"/>
          </a:ln>
        </p:spPr>
      </p:sp>
      <p:sp>
        <p:nvSpPr>
          <p:cNvPr id="23" name="Shape 21"/>
          <p:cNvSpPr/>
          <p:nvPr/>
        </p:nvSpPr>
        <p:spPr>
          <a:xfrm>
            <a:off x="9966960" y="2606040"/>
            <a:ext cx="365760" cy="0"/>
          </a:xfrm>
          <a:prstGeom prst="line">
            <a:avLst/>
          </a:prstGeom>
          <a:noFill/>
          <a:ln w="28575">
            <a:solidFill>
              <a:srgbClr val="1565C0"/>
            </a:solidFill>
            <a:prstDash val="solid"/>
            <a:tailEnd type="triangle"/>
          </a:ln>
        </p:spPr>
      </p:sp>
      <p:sp>
        <p:nvSpPr>
          <p:cNvPr id="24" name="Text 22"/>
          <p:cNvSpPr txBox="1"/>
          <p:nvPr/>
        </p:nvSpPr>
        <p:spPr>
          <a:xfrm>
            <a:off x="6217920" y="3246120"/>
            <a:ext cx="5486400" cy="731520"/>
          </a:xfrm>
          <a:prstGeom prst="rect">
            <a:avLst/>
          </a:prstGeom>
          <a:noFill/>
          <a:ln/>
        </p:spPr>
        <p:txBody>
          <a:bodyPr wrap="square" lIns="0" tIns="0" rIns="0" bIns="0" rtlCol="0" anchor="ctr"/>
          <a:lstStyle/>
          <a:p>
            <a:pPr marL="0" indent="0">
              <a:buNone/>
            </a:pPr>
            <a:r>
              <a:rPr lang="en-US" sz="1250" b="1" dirty="0">
                <a:solidFill>
                  <a:srgbClr val="14532D"/>
                </a:solidFill>
              </a:rPr>
              <a:t>Sensor data + weather data are combined in the backend before a recommendation is made</a:t>
            </a:r>
            <a:endParaRPr lang="en-US" sz="1250" dirty="0"/>
          </a:p>
        </p:txBody>
      </p:sp>
      <p:sp>
        <p:nvSpPr>
          <p:cNvPr id="25" name="Shape 23"/>
          <p:cNvSpPr/>
          <p:nvPr/>
        </p:nvSpPr>
        <p:spPr>
          <a:xfrm>
            <a:off x="457200" y="4297680"/>
            <a:ext cx="3657600" cy="1280160"/>
          </a:xfrm>
          <a:prstGeom prst="roundRect">
            <a:avLst>
              <a:gd name="adj" fmla="val 5714"/>
            </a:avLst>
          </a:prstGeom>
          <a:solidFill>
            <a:srgbClr val="FFFFFF"/>
          </a:solidFill>
          <a:ln w="12700">
            <a:solidFill>
              <a:srgbClr val="BFDCC4"/>
            </a:solidFill>
            <a:prstDash val="solid"/>
          </a:ln>
        </p:spPr>
      </p:sp>
      <p:sp>
        <p:nvSpPr>
          <p:cNvPr id="26" name="Shape 24"/>
          <p:cNvSpPr/>
          <p:nvPr/>
        </p:nvSpPr>
        <p:spPr>
          <a:xfrm>
            <a:off x="457200" y="4389120"/>
            <a:ext cx="64008" cy="1097280"/>
          </a:xfrm>
          <a:prstGeom prst="rect">
            <a:avLst/>
          </a:prstGeom>
          <a:solidFill>
            <a:srgbClr val="2E7D32"/>
          </a:solidFill>
          <a:ln w="12700">
            <a:solidFill>
              <a:srgbClr val="2E7D32"/>
            </a:solidFill>
            <a:prstDash val="solid"/>
          </a:ln>
        </p:spPr>
      </p:sp>
      <p:sp>
        <p:nvSpPr>
          <p:cNvPr id="27" name="Text 25"/>
          <p:cNvSpPr txBox="1"/>
          <p:nvPr/>
        </p:nvSpPr>
        <p:spPr>
          <a:xfrm>
            <a:off x="640080" y="4343400"/>
            <a:ext cx="3383280" cy="1188720"/>
          </a:xfrm>
          <a:prstGeom prst="rect">
            <a:avLst/>
          </a:prstGeom>
          <a:noFill/>
          <a:ln/>
        </p:spPr>
        <p:txBody>
          <a:bodyPr wrap="square" lIns="0" tIns="0" rIns="0" bIns="0" rtlCol="0" anchor="ctr"/>
          <a:lstStyle/>
          <a:p>
            <a:pPr marL="0" indent="0">
              <a:buNone/>
            </a:pPr>
            <a:r>
              <a:rPr lang="en-US" sz="1300" b="1" dirty="0">
                <a:solidFill>
                  <a:srgbClr val="14532D"/>
                </a:solidFill>
              </a:rPr>
              <a:t>Breadboard + jumper wires</a:t>
            </a:r>
            <a:endParaRPr lang="en-US" sz="1300" dirty="0"/>
          </a:p>
          <a:p>
            <a:pPr marL="0" indent="0">
              <a:buNone/>
            </a:pPr>
            <a:r>
              <a:rPr lang="en-US" sz="1200" dirty="0">
                <a:solidFill>
                  <a:srgbClr val="1B2B1F"/>
                </a:solidFill>
              </a:rPr>
              <a:t>Physical prototype connections between ESP32, sensors and LED.</a:t>
            </a:r>
            <a:endParaRPr lang="en-US" sz="1300" dirty="0"/>
          </a:p>
        </p:txBody>
      </p:sp>
      <p:sp>
        <p:nvSpPr>
          <p:cNvPr id="28" name="Shape 26"/>
          <p:cNvSpPr/>
          <p:nvPr/>
        </p:nvSpPr>
        <p:spPr>
          <a:xfrm>
            <a:off x="4251960" y="4297680"/>
            <a:ext cx="3657600" cy="1280160"/>
          </a:xfrm>
          <a:prstGeom prst="roundRect">
            <a:avLst>
              <a:gd name="adj" fmla="val 5714"/>
            </a:avLst>
          </a:prstGeom>
          <a:solidFill>
            <a:srgbClr val="FFFFFF"/>
          </a:solidFill>
          <a:ln w="12700">
            <a:solidFill>
              <a:srgbClr val="BFDCC4"/>
            </a:solidFill>
            <a:prstDash val="solid"/>
          </a:ln>
        </p:spPr>
      </p:sp>
      <p:sp>
        <p:nvSpPr>
          <p:cNvPr id="29" name="Shape 27"/>
          <p:cNvSpPr/>
          <p:nvPr/>
        </p:nvSpPr>
        <p:spPr>
          <a:xfrm>
            <a:off x="4251960" y="4389120"/>
            <a:ext cx="64008" cy="1097280"/>
          </a:xfrm>
          <a:prstGeom prst="rect">
            <a:avLst/>
          </a:prstGeom>
          <a:solidFill>
            <a:srgbClr val="0EA5E9"/>
          </a:solidFill>
          <a:ln w="12700">
            <a:solidFill>
              <a:srgbClr val="0EA5E9"/>
            </a:solidFill>
            <a:prstDash val="solid"/>
          </a:ln>
        </p:spPr>
      </p:sp>
      <p:sp>
        <p:nvSpPr>
          <p:cNvPr id="30" name="Text 28"/>
          <p:cNvSpPr txBox="1"/>
          <p:nvPr/>
        </p:nvSpPr>
        <p:spPr>
          <a:xfrm>
            <a:off x="4434840" y="4343400"/>
            <a:ext cx="3383280" cy="1188720"/>
          </a:xfrm>
          <a:prstGeom prst="rect">
            <a:avLst/>
          </a:prstGeom>
          <a:noFill/>
          <a:ln/>
        </p:spPr>
        <p:txBody>
          <a:bodyPr wrap="square" lIns="0" tIns="0" rIns="0" bIns="0" rtlCol="0" anchor="ctr"/>
          <a:lstStyle/>
          <a:p>
            <a:pPr marL="0" indent="0">
              <a:buNone/>
            </a:pPr>
            <a:r>
              <a:rPr lang="en-US" sz="1300" b="1" dirty="0">
                <a:solidFill>
                  <a:srgbClr val="14532D"/>
                </a:solidFill>
              </a:rPr>
              <a:t>USB data cable</a:t>
            </a:r>
            <a:endParaRPr lang="en-US" sz="1300" dirty="0"/>
          </a:p>
          <a:p>
            <a:pPr marL="0" indent="0">
              <a:buNone/>
            </a:pPr>
            <a:r>
              <a:rPr lang="en-US" sz="1200" dirty="0">
                <a:solidFill>
                  <a:srgbClr val="1B2B1F"/>
                </a:solidFill>
              </a:rPr>
              <a:t>Powers the ESP32, uploads code and gives serial debugging.</a:t>
            </a:r>
            <a:endParaRPr lang="en-US" sz="1300" dirty="0"/>
          </a:p>
        </p:txBody>
      </p:sp>
      <p:sp>
        <p:nvSpPr>
          <p:cNvPr id="31" name="Shape 29"/>
          <p:cNvSpPr/>
          <p:nvPr/>
        </p:nvSpPr>
        <p:spPr>
          <a:xfrm>
            <a:off x="8046720" y="4297680"/>
            <a:ext cx="3685032" cy="1280160"/>
          </a:xfrm>
          <a:prstGeom prst="roundRect">
            <a:avLst>
              <a:gd name="adj" fmla="val 5714"/>
            </a:avLst>
          </a:prstGeom>
          <a:solidFill>
            <a:srgbClr val="FFFFFF"/>
          </a:solidFill>
          <a:ln w="12700">
            <a:solidFill>
              <a:srgbClr val="BFDCC4"/>
            </a:solidFill>
            <a:prstDash val="solid"/>
          </a:ln>
        </p:spPr>
      </p:sp>
      <p:sp>
        <p:nvSpPr>
          <p:cNvPr id="32" name="Shape 30"/>
          <p:cNvSpPr/>
          <p:nvPr/>
        </p:nvSpPr>
        <p:spPr>
          <a:xfrm>
            <a:off x="8046720" y="4389120"/>
            <a:ext cx="64008" cy="1097280"/>
          </a:xfrm>
          <a:prstGeom prst="rect">
            <a:avLst/>
          </a:prstGeom>
          <a:solidFill>
            <a:srgbClr val="F9A825"/>
          </a:solidFill>
          <a:ln w="12700">
            <a:solidFill>
              <a:srgbClr val="F9A825"/>
            </a:solidFill>
            <a:prstDash val="solid"/>
          </a:ln>
        </p:spPr>
      </p:sp>
      <p:sp>
        <p:nvSpPr>
          <p:cNvPr id="33" name="Text 31"/>
          <p:cNvSpPr txBox="1"/>
          <p:nvPr/>
        </p:nvSpPr>
        <p:spPr>
          <a:xfrm>
            <a:off x="8229600" y="4343400"/>
            <a:ext cx="3410712" cy="1188720"/>
          </a:xfrm>
          <a:prstGeom prst="rect">
            <a:avLst/>
          </a:prstGeom>
          <a:noFill/>
          <a:ln/>
        </p:spPr>
        <p:txBody>
          <a:bodyPr wrap="square" lIns="0" tIns="0" rIns="0" bIns="0" rtlCol="0" anchor="ctr"/>
          <a:lstStyle/>
          <a:p>
            <a:pPr marL="0" indent="0">
              <a:buNone/>
            </a:pPr>
            <a:r>
              <a:rPr lang="en-US" sz="1300" b="1" dirty="0">
                <a:solidFill>
                  <a:srgbClr val="14532D"/>
                </a:solidFill>
              </a:rPr>
              <a:t>Note</a:t>
            </a:r>
            <a:endParaRPr lang="en-US" sz="1300" dirty="0"/>
          </a:p>
          <a:p>
            <a:pPr marL="0" indent="0">
              <a:buNone/>
            </a:pPr>
            <a:r>
              <a:rPr lang="en-US" sz="1200" dirty="0">
                <a:solidFill>
                  <a:srgbClr val="1B2B1F"/>
                </a:solidFill>
              </a:rPr>
              <a:t>The LED is a status indicator, not a pump. Arrows show data flow.</a:t>
            </a:r>
            <a:endParaRPr lang="en-US" sz="1300" dirty="0"/>
          </a:p>
        </p:txBody>
      </p:sp>
      <p:sp>
        <p:nvSpPr>
          <p:cNvPr id="34" name="Text 32"/>
          <p:cNvSpPr txBox="1"/>
          <p:nvPr/>
        </p:nvSpPr>
        <p:spPr>
          <a:xfrm>
            <a:off x="457200" y="5760720"/>
            <a:ext cx="11247120" cy="365760"/>
          </a:xfrm>
          <a:prstGeom prst="rect">
            <a:avLst/>
          </a:prstGeom>
          <a:noFill/>
          <a:ln/>
        </p:spPr>
        <p:txBody>
          <a:bodyPr wrap="square" lIns="0" tIns="0" rIns="0" bIns="0" rtlCol="0" anchor="ctr"/>
          <a:lstStyle/>
          <a:p>
            <a:pPr marL="0" indent="0">
              <a:buNone/>
            </a:pPr>
            <a:r>
              <a:rPr lang="en-US" sz="1300" b="1" dirty="0">
                <a:solidFill>
                  <a:srgbClr val="B45309"/>
                </a:solidFill>
              </a:rPr>
              <a:t>Diagram shows the proposed design. Backend, API and dashboard are planned components.</a:t>
            </a:r>
            <a:endParaRPr lang="en-US" sz="1300" dirty="0"/>
          </a:p>
        </p:txBody>
      </p:sp>
      <p:sp>
        <p:nvSpPr>
          <p:cNvPr id="35" name="Slide Number Placeholder 0"/>
          <p:cNvSpPr>
            <a:spLocks noGrp="1"/>
          </p:cNvSpPr>
          <p:nvPr>
            <p:ph type="sldNum" sz="quarter" idx="4294967295"/>
          </p:nvPr>
        </p:nvSpPr>
        <p:spPr>
          <a:xfrm>
            <a:off x="1115568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0"/>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4532D"/>
          </a:solidFill>
          <a:ln w="12700">
            <a:solidFill>
              <a:srgbClr val="14532D"/>
            </a:solidFill>
            <a:prstDash val="solid"/>
          </a:ln>
        </p:spPr>
      </p:sp>
      <p:sp>
        <p:nvSpPr>
          <p:cNvPr id="3" name="Shape 1"/>
          <p:cNvSpPr/>
          <p:nvPr/>
        </p:nvSpPr>
        <p:spPr>
          <a:xfrm>
            <a:off x="0" y="914400"/>
            <a:ext cx="12188952" cy="54864"/>
          </a:xfrm>
          <a:prstGeom prst="rect">
            <a:avLst/>
          </a:prstGeom>
          <a:solidFill>
            <a:srgbClr val="0EA5E9"/>
          </a:solidFill>
          <a:ln w="12700">
            <a:solidFill>
              <a:srgbClr val="0EA5E9"/>
            </a:solidFill>
            <a:prstDash val="solid"/>
          </a:ln>
        </p:spPr>
      </p:sp>
      <p:sp>
        <p:nvSpPr>
          <p:cNvPr id="4" name="Text 2"/>
          <p:cNvSpPr txBox="1"/>
          <p:nvPr/>
        </p:nvSpPr>
        <p:spPr>
          <a:xfrm>
            <a:off x="457200" y="109728"/>
            <a:ext cx="8503920" cy="694944"/>
          </a:xfrm>
          <a:prstGeom prst="rect">
            <a:avLst/>
          </a:prstGeom>
          <a:noFill/>
          <a:ln/>
        </p:spPr>
        <p:txBody>
          <a:bodyPr wrap="square" lIns="0" tIns="0" rIns="0" bIns="0" rtlCol="0" anchor="ctr"/>
          <a:lstStyle/>
          <a:p>
            <a:pPr marL="0" indent="0">
              <a:buNone/>
            </a:pPr>
            <a:r>
              <a:rPr lang="en-US" sz="2800" b="1" dirty="0">
                <a:solidFill>
                  <a:srgbClr val="FFFFFF"/>
                </a:solidFill>
              </a:rPr>
              <a:t>Software Architecture and Technology Stack</a:t>
            </a:r>
            <a:endParaRPr lang="en-US" sz="2800" dirty="0"/>
          </a:p>
        </p:txBody>
      </p:sp>
      <p:sp>
        <p:nvSpPr>
          <p:cNvPr id="5" name="Text 3"/>
          <p:cNvSpPr txBox="1"/>
          <p:nvPr/>
        </p:nvSpPr>
        <p:spPr>
          <a:xfrm>
            <a:off x="8778240" y="109728"/>
            <a:ext cx="2971800" cy="694944"/>
          </a:xfrm>
          <a:prstGeom prst="rect">
            <a:avLst/>
          </a:prstGeom>
          <a:noFill/>
          <a:ln/>
        </p:spPr>
        <p:txBody>
          <a:bodyPr wrap="square" lIns="0" tIns="0" rIns="0" bIns="0" rtlCol="0" anchor="ctr"/>
          <a:lstStyle/>
          <a:p>
            <a:pPr marL="0" indent="0" algn="r">
              <a:buNone/>
            </a:pPr>
            <a:r>
              <a:rPr lang="en-US" sz="1200" dirty="0">
                <a:solidFill>
                  <a:srgbClr val="A7E3B0"/>
                </a:solidFill>
              </a:rPr>
              <a:t>Solution &amp; Architecture</a:t>
            </a:r>
            <a:endParaRPr lang="en-US" sz="1200" dirty="0"/>
          </a:p>
        </p:txBody>
      </p:sp>
      <p:sp>
        <p:nvSpPr>
          <p:cNvPr id="6" name="Text 4"/>
          <p:cNvSpPr txBox="1"/>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F70"/>
                </a:solidFill>
              </a:rPr>
              <a:t>AIBOTS-2026 Hackathon | Review 1</a:t>
            </a:r>
            <a:endParaRPr lang="en-US" sz="1000" dirty="0"/>
          </a:p>
        </p:txBody>
      </p:sp>
      <p:sp>
        <p:nvSpPr>
          <p:cNvPr id="7" name="Text 5"/>
          <p:cNvSpPr/>
          <p:nvPr/>
        </p:nvSpPr>
        <p:spPr>
          <a:xfrm>
            <a:off x="457200" y="1188720"/>
            <a:ext cx="2468880" cy="640080"/>
          </a:xfrm>
          <a:prstGeom prst="roundRect">
            <a:avLst>
              <a:gd name="adj" fmla="val 11429"/>
            </a:avLst>
          </a:prstGeom>
          <a:solidFill>
            <a:srgbClr val="1565C0"/>
          </a:solidFill>
          <a:ln w="15875">
            <a:solidFill>
              <a:srgbClr val="1565C0"/>
            </a:solidFill>
          </a:ln>
        </p:spPr>
        <p:txBody>
          <a:bodyPr wrap="square" lIns="1016" tIns="1016" rIns="1016" bIns="1016" rtlCol="0" anchor="ctr"/>
          <a:lstStyle/>
          <a:p>
            <a:pPr marL="0" indent="0" algn="ctr">
              <a:buNone/>
            </a:pPr>
            <a:r>
              <a:rPr lang="en-US" sz="1400" b="1" dirty="0">
                <a:solidFill>
                  <a:srgbClr val="FFFFFF"/>
                </a:solidFill>
              </a:rPr>
              <a:t>Frontend</a:t>
            </a:r>
            <a:endParaRPr lang="en-US" sz="1400" dirty="0"/>
          </a:p>
        </p:txBody>
      </p:sp>
      <p:sp>
        <p:nvSpPr>
          <p:cNvPr id="8" name="Text 6"/>
          <p:cNvSpPr/>
          <p:nvPr/>
        </p:nvSpPr>
        <p:spPr>
          <a:xfrm>
            <a:off x="3017520" y="1188720"/>
            <a:ext cx="8714232" cy="640080"/>
          </a:xfrm>
          <a:prstGeom prst="roundRect">
            <a:avLst>
              <a:gd name="adj" fmla="val 11429"/>
            </a:avLst>
          </a:prstGeom>
          <a:solidFill>
            <a:srgbClr val="FFFFFF"/>
          </a:solidFill>
          <a:ln w="15875">
            <a:solidFill>
              <a:srgbClr val="BFDCC4"/>
            </a:solidFill>
          </a:ln>
        </p:spPr>
        <p:txBody>
          <a:bodyPr wrap="square" lIns="2540" tIns="2540" rIns="2540" bIns="2540" rtlCol="0" anchor="ctr"/>
          <a:lstStyle/>
          <a:p>
            <a:pPr marL="0" indent="0" algn="l">
              <a:buNone/>
            </a:pPr>
            <a:r>
              <a:rPr lang="en-US" sz="1400" dirty="0">
                <a:solidFill>
                  <a:srgbClr val="1B2B1F"/>
                </a:solidFill>
              </a:rPr>
              <a:t>React.js • Tailwind CSS • Chart.js</a:t>
            </a:r>
            <a:endParaRPr lang="en-US" sz="1400" dirty="0"/>
          </a:p>
        </p:txBody>
      </p:sp>
      <p:sp>
        <p:nvSpPr>
          <p:cNvPr id="9" name="Shape 7"/>
          <p:cNvSpPr/>
          <p:nvPr/>
        </p:nvSpPr>
        <p:spPr>
          <a:xfrm>
            <a:off x="1691640" y="1828800"/>
            <a:ext cx="0" cy="109728"/>
          </a:xfrm>
          <a:prstGeom prst="line">
            <a:avLst/>
          </a:prstGeom>
          <a:noFill/>
          <a:ln w="25400">
            <a:solidFill>
              <a:srgbClr val="0EA5E9"/>
            </a:solidFill>
            <a:prstDash val="solid"/>
          </a:ln>
        </p:spPr>
      </p:sp>
      <p:sp>
        <p:nvSpPr>
          <p:cNvPr id="10" name="Text 8"/>
          <p:cNvSpPr/>
          <p:nvPr/>
        </p:nvSpPr>
        <p:spPr>
          <a:xfrm>
            <a:off x="457200" y="1938528"/>
            <a:ext cx="2468880" cy="640080"/>
          </a:xfrm>
          <a:prstGeom prst="roundRect">
            <a:avLst>
              <a:gd name="adj" fmla="val 11429"/>
            </a:avLst>
          </a:prstGeom>
          <a:solidFill>
            <a:srgbClr val="2E7D32"/>
          </a:solidFill>
          <a:ln w="15875">
            <a:solidFill>
              <a:srgbClr val="2E7D32"/>
            </a:solidFill>
          </a:ln>
        </p:spPr>
        <p:txBody>
          <a:bodyPr wrap="square" lIns="1016" tIns="1016" rIns="1016" bIns="1016" rtlCol="0" anchor="ctr"/>
          <a:lstStyle/>
          <a:p>
            <a:pPr marL="0" indent="0" algn="ctr">
              <a:buNone/>
            </a:pPr>
            <a:r>
              <a:rPr lang="en-US" sz="1400" b="1" dirty="0">
                <a:solidFill>
                  <a:srgbClr val="FFFFFF"/>
                </a:solidFill>
              </a:rPr>
              <a:t>Backend</a:t>
            </a:r>
            <a:endParaRPr lang="en-US" sz="1400" dirty="0"/>
          </a:p>
        </p:txBody>
      </p:sp>
      <p:sp>
        <p:nvSpPr>
          <p:cNvPr id="11" name="Text 9"/>
          <p:cNvSpPr/>
          <p:nvPr/>
        </p:nvSpPr>
        <p:spPr>
          <a:xfrm>
            <a:off x="3017520" y="1938528"/>
            <a:ext cx="8714232" cy="640080"/>
          </a:xfrm>
          <a:prstGeom prst="roundRect">
            <a:avLst>
              <a:gd name="adj" fmla="val 11429"/>
            </a:avLst>
          </a:prstGeom>
          <a:solidFill>
            <a:srgbClr val="FFFFFF"/>
          </a:solidFill>
          <a:ln w="15875">
            <a:solidFill>
              <a:srgbClr val="BFDCC4"/>
            </a:solidFill>
          </a:ln>
        </p:spPr>
        <p:txBody>
          <a:bodyPr wrap="square" lIns="2540" tIns="2540" rIns="2540" bIns="2540" rtlCol="0" anchor="ctr"/>
          <a:lstStyle/>
          <a:p>
            <a:pPr marL="0" indent="0" algn="l">
              <a:buNone/>
            </a:pPr>
            <a:r>
              <a:rPr lang="en-US" sz="1400" dirty="0">
                <a:solidFill>
                  <a:srgbClr val="1B2B1F"/>
                </a:solidFill>
              </a:rPr>
              <a:t>Python Flask: sensor-data processing, weather API integration, recommendation logic</a:t>
            </a:r>
            <a:endParaRPr lang="en-US" sz="1400" dirty="0"/>
          </a:p>
        </p:txBody>
      </p:sp>
      <p:sp>
        <p:nvSpPr>
          <p:cNvPr id="12" name="Shape 10"/>
          <p:cNvSpPr/>
          <p:nvPr/>
        </p:nvSpPr>
        <p:spPr>
          <a:xfrm>
            <a:off x="1691640" y="2578608"/>
            <a:ext cx="0" cy="109728"/>
          </a:xfrm>
          <a:prstGeom prst="line">
            <a:avLst/>
          </a:prstGeom>
          <a:noFill/>
          <a:ln w="25400">
            <a:solidFill>
              <a:srgbClr val="0EA5E9"/>
            </a:solidFill>
            <a:prstDash val="solid"/>
          </a:ln>
        </p:spPr>
      </p:sp>
      <p:sp>
        <p:nvSpPr>
          <p:cNvPr id="13" name="Text 11"/>
          <p:cNvSpPr/>
          <p:nvPr/>
        </p:nvSpPr>
        <p:spPr>
          <a:xfrm>
            <a:off x="457200" y="2688336"/>
            <a:ext cx="2468880" cy="640080"/>
          </a:xfrm>
          <a:prstGeom prst="roundRect">
            <a:avLst>
              <a:gd name="adj" fmla="val 11429"/>
            </a:avLst>
          </a:prstGeom>
          <a:solidFill>
            <a:srgbClr val="6B8E23"/>
          </a:solidFill>
          <a:ln w="15875">
            <a:solidFill>
              <a:srgbClr val="6B8E23"/>
            </a:solidFill>
          </a:ln>
        </p:spPr>
        <p:txBody>
          <a:bodyPr wrap="square" lIns="1016" tIns="1016" rIns="1016" bIns="1016" rtlCol="0" anchor="ctr"/>
          <a:lstStyle/>
          <a:p>
            <a:pPr marL="0" indent="0" algn="ctr">
              <a:buNone/>
            </a:pPr>
            <a:r>
              <a:rPr lang="en-US" sz="1400" b="1" dirty="0">
                <a:solidFill>
                  <a:srgbClr val="FFFFFF"/>
                </a:solidFill>
              </a:rPr>
              <a:t>Database</a:t>
            </a:r>
            <a:endParaRPr lang="en-US" sz="1400" dirty="0"/>
          </a:p>
        </p:txBody>
      </p:sp>
      <p:sp>
        <p:nvSpPr>
          <p:cNvPr id="14" name="Text 12"/>
          <p:cNvSpPr/>
          <p:nvPr/>
        </p:nvSpPr>
        <p:spPr>
          <a:xfrm>
            <a:off x="3017520" y="2688336"/>
            <a:ext cx="8714232" cy="640080"/>
          </a:xfrm>
          <a:prstGeom prst="roundRect">
            <a:avLst>
              <a:gd name="adj" fmla="val 11429"/>
            </a:avLst>
          </a:prstGeom>
          <a:solidFill>
            <a:srgbClr val="FFFFFF"/>
          </a:solidFill>
          <a:ln w="15875">
            <a:solidFill>
              <a:srgbClr val="BFDCC4"/>
            </a:solidFill>
          </a:ln>
        </p:spPr>
        <p:txBody>
          <a:bodyPr wrap="square" lIns="2540" tIns="2540" rIns="2540" bIns="2540" rtlCol="0" anchor="ctr"/>
          <a:lstStyle/>
          <a:p>
            <a:pPr marL="0" indent="0" algn="l">
              <a:buNone/>
            </a:pPr>
            <a:r>
              <a:rPr lang="en-US" sz="1400" dirty="0">
                <a:solidFill>
                  <a:srgbClr val="1B2B1F"/>
                </a:solidFill>
              </a:rPr>
              <a:t>SQLite for readings and history, if required</a:t>
            </a:r>
            <a:endParaRPr lang="en-US" sz="1400" dirty="0"/>
          </a:p>
        </p:txBody>
      </p:sp>
      <p:sp>
        <p:nvSpPr>
          <p:cNvPr id="15" name="Shape 13"/>
          <p:cNvSpPr/>
          <p:nvPr/>
        </p:nvSpPr>
        <p:spPr>
          <a:xfrm>
            <a:off x="1691640" y="3328416"/>
            <a:ext cx="0" cy="109728"/>
          </a:xfrm>
          <a:prstGeom prst="line">
            <a:avLst/>
          </a:prstGeom>
          <a:noFill/>
          <a:ln w="25400">
            <a:solidFill>
              <a:srgbClr val="0EA5E9"/>
            </a:solidFill>
            <a:prstDash val="solid"/>
          </a:ln>
        </p:spPr>
      </p:sp>
      <p:sp>
        <p:nvSpPr>
          <p:cNvPr id="16" name="Text 14"/>
          <p:cNvSpPr/>
          <p:nvPr/>
        </p:nvSpPr>
        <p:spPr>
          <a:xfrm>
            <a:off x="457200" y="3438144"/>
            <a:ext cx="2468880" cy="640080"/>
          </a:xfrm>
          <a:prstGeom prst="roundRect">
            <a:avLst>
              <a:gd name="adj" fmla="val 11429"/>
            </a:avLst>
          </a:prstGeom>
          <a:solidFill>
            <a:srgbClr val="0E7490"/>
          </a:solidFill>
          <a:ln w="15875">
            <a:solidFill>
              <a:srgbClr val="0E7490"/>
            </a:solidFill>
          </a:ln>
        </p:spPr>
        <p:txBody>
          <a:bodyPr wrap="square" lIns="1016" tIns="1016" rIns="1016" bIns="1016" rtlCol="0" anchor="ctr"/>
          <a:lstStyle/>
          <a:p>
            <a:pPr marL="0" indent="0" algn="ctr">
              <a:buNone/>
            </a:pPr>
            <a:r>
              <a:rPr lang="en-US" sz="1400" b="1" dirty="0">
                <a:solidFill>
                  <a:srgbClr val="FFFFFF"/>
                </a:solidFill>
              </a:rPr>
              <a:t>Communication</a:t>
            </a:r>
            <a:endParaRPr lang="en-US" sz="1400" dirty="0"/>
          </a:p>
        </p:txBody>
      </p:sp>
      <p:sp>
        <p:nvSpPr>
          <p:cNvPr id="17" name="Text 15"/>
          <p:cNvSpPr/>
          <p:nvPr/>
        </p:nvSpPr>
        <p:spPr>
          <a:xfrm>
            <a:off x="3017520" y="3438144"/>
            <a:ext cx="8714232" cy="640080"/>
          </a:xfrm>
          <a:prstGeom prst="roundRect">
            <a:avLst>
              <a:gd name="adj" fmla="val 11429"/>
            </a:avLst>
          </a:prstGeom>
          <a:solidFill>
            <a:srgbClr val="FFFFFF"/>
          </a:solidFill>
          <a:ln w="15875">
            <a:solidFill>
              <a:srgbClr val="BFDCC4"/>
            </a:solidFill>
          </a:ln>
        </p:spPr>
        <p:txBody>
          <a:bodyPr wrap="square" lIns="2540" tIns="2540" rIns="2540" bIns="2540" rtlCol="0" anchor="ctr"/>
          <a:lstStyle/>
          <a:p>
            <a:pPr marL="0" indent="0" algn="l">
              <a:buNone/>
            </a:pPr>
            <a:r>
              <a:rPr lang="en-US" sz="1400" dirty="0">
                <a:solidFill>
                  <a:srgbClr val="1B2B1F"/>
                </a:solidFill>
              </a:rPr>
              <a:t>Wi-Fi • HTTP requests to a backend endpoint</a:t>
            </a:r>
            <a:endParaRPr lang="en-US" sz="1400" dirty="0"/>
          </a:p>
        </p:txBody>
      </p:sp>
      <p:sp>
        <p:nvSpPr>
          <p:cNvPr id="18" name="Shape 16"/>
          <p:cNvSpPr/>
          <p:nvPr/>
        </p:nvSpPr>
        <p:spPr>
          <a:xfrm>
            <a:off x="1691640" y="4078224"/>
            <a:ext cx="0" cy="109728"/>
          </a:xfrm>
          <a:prstGeom prst="line">
            <a:avLst/>
          </a:prstGeom>
          <a:noFill/>
          <a:ln w="25400">
            <a:solidFill>
              <a:srgbClr val="0EA5E9"/>
            </a:solidFill>
            <a:prstDash val="solid"/>
          </a:ln>
        </p:spPr>
      </p:sp>
      <p:sp>
        <p:nvSpPr>
          <p:cNvPr id="19" name="Text 17"/>
          <p:cNvSpPr/>
          <p:nvPr/>
        </p:nvSpPr>
        <p:spPr>
          <a:xfrm>
            <a:off x="457200" y="4187952"/>
            <a:ext cx="2468880" cy="640080"/>
          </a:xfrm>
          <a:prstGeom prst="roundRect">
            <a:avLst>
              <a:gd name="adj" fmla="val 11429"/>
            </a:avLst>
          </a:prstGeom>
          <a:solidFill>
            <a:srgbClr val="2E7D32"/>
          </a:solidFill>
          <a:ln w="15875">
            <a:solidFill>
              <a:srgbClr val="2E7D32"/>
            </a:solidFill>
          </a:ln>
        </p:spPr>
        <p:txBody>
          <a:bodyPr wrap="square" lIns="1016" tIns="1016" rIns="1016" bIns="1016" rtlCol="0" anchor="ctr"/>
          <a:lstStyle/>
          <a:p>
            <a:pPr marL="0" indent="0" algn="ctr">
              <a:buNone/>
            </a:pPr>
            <a:r>
              <a:rPr lang="en-US" sz="1400" b="1" dirty="0">
                <a:solidFill>
                  <a:srgbClr val="FFFFFF"/>
                </a:solidFill>
              </a:rPr>
              <a:t>Device Firmware</a:t>
            </a:r>
            <a:endParaRPr lang="en-US" sz="1400" dirty="0"/>
          </a:p>
        </p:txBody>
      </p:sp>
      <p:sp>
        <p:nvSpPr>
          <p:cNvPr id="20" name="Text 18"/>
          <p:cNvSpPr/>
          <p:nvPr/>
        </p:nvSpPr>
        <p:spPr>
          <a:xfrm>
            <a:off x="3017520" y="4187952"/>
            <a:ext cx="8714232" cy="640080"/>
          </a:xfrm>
          <a:prstGeom prst="roundRect">
            <a:avLst>
              <a:gd name="adj" fmla="val 11429"/>
            </a:avLst>
          </a:prstGeom>
          <a:solidFill>
            <a:srgbClr val="FFFFFF"/>
          </a:solidFill>
          <a:ln w="15875">
            <a:solidFill>
              <a:srgbClr val="BFDCC4"/>
            </a:solidFill>
          </a:ln>
        </p:spPr>
        <p:txBody>
          <a:bodyPr wrap="square" lIns="2540" tIns="2540" rIns="2540" bIns="2540" rtlCol="0" anchor="ctr"/>
          <a:lstStyle/>
          <a:p>
            <a:pPr marL="0" indent="0" algn="l">
              <a:buNone/>
            </a:pPr>
            <a:r>
              <a:rPr lang="en-US" sz="1400" dirty="0">
                <a:solidFill>
                  <a:srgbClr val="1B2B1F"/>
                </a:solidFill>
              </a:rPr>
              <a:t>Arduino IDE or compatible • C/C++ to read sensors and transmit data</a:t>
            </a:r>
            <a:endParaRPr lang="en-US" sz="1400" dirty="0"/>
          </a:p>
        </p:txBody>
      </p:sp>
      <p:sp>
        <p:nvSpPr>
          <p:cNvPr id="21" name="Shape 19"/>
          <p:cNvSpPr/>
          <p:nvPr/>
        </p:nvSpPr>
        <p:spPr>
          <a:xfrm>
            <a:off x="1691640" y="4828032"/>
            <a:ext cx="0" cy="109728"/>
          </a:xfrm>
          <a:prstGeom prst="line">
            <a:avLst/>
          </a:prstGeom>
          <a:noFill/>
          <a:ln w="25400">
            <a:solidFill>
              <a:srgbClr val="0EA5E9"/>
            </a:solidFill>
            <a:prstDash val="solid"/>
          </a:ln>
        </p:spPr>
      </p:sp>
      <p:sp>
        <p:nvSpPr>
          <p:cNvPr id="22" name="Text 20"/>
          <p:cNvSpPr/>
          <p:nvPr/>
        </p:nvSpPr>
        <p:spPr>
          <a:xfrm>
            <a:off x="457200" y="4937760"/>
            <a:ext cx="2468880" cy="640080"/>
          </a:xfrm>
          <a:prstGeom prst="roundRect">
            <a:avLst>
              <a:gd name="adj" fmla="val 11429"/>
            </a:avLst>
          </a:prstGeom>
          <a:solidFill>
            <a:srgbClr val="14532D"/>
          </a:solidFill>
          <a:ln w="15875">
            <a:solidFill>
              <a:srgbClr val="14532D"/>
            </a:solidFill>
          </a:ln>
        </p:spPr>
        <p:txBody>
          <a:bodyPr wrap="square" lIns="1016" tIns="1016" rIns="1016" bIns="1016" rtlCol="0" anchor="ctr"/>
          <a:lstStyle/>
          <a:p>
            <a:pPr marL="0" indent="0" algn="ctr">
              <a:buNone/>
            </a:pPr>
            <a:r>
              <a:rPr lang="en-US" sz="1400" b="1" dirty="0">
                <a:solidFill>
                  <a:srgbClr val="FFFFFF"/>
                </a:solidFill>
              </a:rPr>
              <a:t>Hardware</a:t>
            </a:r>
            <a:endParaRPr lang="en-US" sz="1400" dirty="0"/>
          </a:p>
        </p:txBody>
      </p:sp>
      <p:sp>
        <p:nvSpPr>
          <p:cNvPr id="23" name="Text 21"/>
          <p:cNvSpPr/>
          <p:nvPr/>
        </p:nvSpPr>
        <p:spPr>
          <a:xfrm>
            <a:off x="3017520" y="4937760"/>
            <a:ext cx="8714232" cy="640080"/>
          </a:xfrm>
          <a:prstGeom prst="roundRect">
            <a:avLst>
              <a:gd name="adj" fmla="val 11429"/>
            </a:avLst>
          </a:prstGeom>
          <a:solidFill>
            <a:srgbClr val="FFFFFF"/>
          </a:solidFill>
          <a:ln w="15875">
            <a:solidFill>
              <a:srgbClr val="BFDCC4"/>
            </a:solidFill>
          </a:ln>
        </p:spPr>
        <p:txBody>
          <a:bodyPr wrap="square" lIns="2540" tIns="2540" rIns="2540" bIns="2540" rtlCol="0" anchor="ctr"/>
          <a:lstStyle/>
          <a:p>
            <a:pPr marL="0" indent="0" algn="l">
              <a:buNone/>
            </a:pPr>
            <a:r>
              <a:rPr lang="en-US" sz="1400" dirty="0">
                <a:solidFill>
                  <a:srgbClr val="1B2B1F"/>
                </a:solidFill>
              </a:rPr>
              <a:t>ESP32 • Soil moisture sensor • DHT11 • LED indicator</a:t>
            </a:r>
            <a:endParaRPr lang="en-US" sz="1400" dirty="0"/>
          </a:p>
        </p:txBody>
      </p:sp>
      <p:sp>
        <p:nvSpPr>
          <p:cNvPr id="24" name="Text 22"/>
          <p:cNvSpPr txBox="1"/>
          <p:nvPr/>
        </p:nvSpPr>
        <p:spPr>
          <a:xfrm>
            <a:off x="457200" y="5760720"/>
            <a:ext cx="5486400" cy="320040"/>
          </a:xfrm>
          <a:prstGeom prst="rect">
            <a:avLst/>
          </a:prstGeom>
          <a:noFill/>
          <a:ln/>
        </p:spPr>
        <p:txBody>
          <a:bodyPr wrap="square" lIns="0" tIns="0" rIns="0" bIns="0" rtlCol="0" anchor="ctr"/>
          <a:lstStyle/>
          <a:p>
            <a:pPr marL="0" indent="0">
              <a:buNone/>
            </a:pPr>
            <a:r>
              <a:rPr lang="en-US" sz="1250" b="1" dirty="0">
                <a:solidFill>
                  <a:srgbClr val="B45309"/>
                </a:solidFill>
              </a:rPr>
              <a:t>All items are proposed technologies; none is claimed as implemented.</a:t>
            </a:r>
            <a:endParaRPr lang="en-US" sz="1250" dirty="0"/>
          </a:p>
        </p:txBody>
      </p:sp>
      <p:sp>
        <p:nvSpPr>
          <p:cNvPr id="25" name="Text 23"/>
          <p:cNvSpPr txBox="1"/>
          <p:nvPr/>
        </p:nvSpPr>
        <p:spPr>
          <a:xfrm>
            <a:off x="457200" y="6053328"/>
            <a:ext cx="11247120" cy="320040"/>
          </a:xfrm>
          <a:prstGeom prst="rect">
            <a:avLst/>
          </a:prstGeom>
          <a:noFill/>
          <a:ln/>
        </p:spPr>
        <p:txBody>
          <a:bodyPr wrap="square" lIns="0" tIns="0" rIns="0" bIns="0" rtlCol="0" anchor="ctr"/>
          <a:lstStyle/>
          <a:p>
            <a:pPr marL="0" indent="0">
              <a:buNone/>
            </a:pPr>
            <a:r>
              <a:rPr lang="en-US" sz="1250" b="1" dirty="0">
                <a:solidFill>
                  <a:srgbClr val="14532D"/>
                </a:solidFill>
              </a:rPr>
              <a:t>The weather API key stays in a backend environment variable, never in frontend code or screenshots.</a:t>
            </a:r>
            <a:endParaRPr lang="en-US" sz="1250" dirty="0"/>
          </a:p>
        </p:txBody>
      </p:sp>
      <p:sp>
        <p:nvSpPr>
          <p:cNvPr id="26" name="Slide Number Placeholder 0"/>
          <p:cNvSpPr>
            <a:spLocks noGrp="1"/>
          </p:cNvSpPr>
          <p:nvPr>
            <p:ph type="sldNum" sz="quarter" idx="4294967295"/>
          </p:nvPr>
        </p:nvSpPr>
        <p:spPr>
          <a:xfrm>
            <a:off x="1115568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0"/>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4532D"/>
          </a:solidFill>
          <a:ln w="12700">
            <a:solidFill>
              <a:srgbClr val="14532D"/>
            </a:solidFill>
            <a:prstDash val="solid"/>
          </a:ln>
        </p:spPr>
      </p:sp>
      <p:sp>
        <p:nvSpPr>
          <p:cNvPr id="3" name="Shape 1"/>
          <p:cNvSpPr/>
          <p:nvPr/>
        </p:nvSpPr>
        <p:spPr>
          <a:xfrm>
            <a:off x="0" y="914400"/>
            <a:ext cx="12188952" cy="54864"/>
          </a:xfrm>
          <a:prstGeom prst="rect">
            <a:avLst/>
          </a:prstGeom>
          <a:solidFill>
            <a:srgbClr val="0EA5E9"/>
          </a:solidFill>
          <a:ln w="12700">
            <a:solidFill>
              <a:srgbClr val="0EA5E9"/>
            </a:solidFill>
            <a:prstDash val="solid"/>
          </a:ln>
        </p:spPr>
      </p:sp>
      <p:sp>
        <p:nvSpPr>
          <p:cNvPr id="4" name="Text 2"/>
          <p:cNvSpPr txBox="1"/>
          <p:nvPr/>
        </p:nvSpPr>
        <p:spPr>
          <a:xfrm>
            <a:off x="457200" y="109728"/>
            <a:ext cx="8503920" cy="694944"/>
          </a:xfrm>
          <a:prstGeom prst="rect">
            <a:avLst/>
          </a:prstGeom>
          <a:noFill/>
          <a:ln/>
        </p:spPr>
        <p:txBody>
          <a:bodyPr wrap="square" lIns="0" tIns="0" rIns="0" bIns="0" rtlCol="0" anchor="ctr"/>
          <a:lstStyle/>
          <a:p>
            <a:pPr marL="0" indent="0">
              <a:buNone/>
            </a:pPr>
            <a:r>
              <a:rPr lang="en-US" sz="2800" b="1" dirty="0">
                <a:solidFill>
                  <a:srgbClr val="FFFFFF"/>
                </a:solidFill>
              </a:rPr>
              <a:t>Prediction and Irrigation Decision Logic</a:t>
            </a:r>
            <a:endParaRPr lang="en-US" sz="2800" dirty="0"/>
          </a:p>
        </p:txBody>
      </p:sp>
      <p:sp>
        <p:nvSpPr>
          <p:cNvPr id="5" name="Text 3"/>
          <p:cNvSpPr txBox="1"/>
          <p:nvPr/>
        </p:nvSpPr>
        <p:spPr>
          <a:xfrm>
            <a:off x="8778240" y="109728"/>
            <a:ext cx="2971800" cy="694944"/>
          </a:xfrm>
          <a:prstGeom prst="rect">
            <a:avLst/>
          </a:prstGeom>
          <a:noFill/>
          <a:ln/>
        </p:spPr>
        <p:txBody>
          <a:bodyPr wrap="square" lIns="0" tIns="0" rIns="0" bIns="0" rtlCol="0" anchor="ctr"/>
          <a:lstStyle/>
          <a:p>
            <a:pPr marL="0" indent="0" algn="r">
              <a:buNone/>
            </a:pPr>
            <a:r>
              <a:rPr lang="en-US" sz="1200" dirty="0">
                <a:solidFill>
                  <a:srgbClr val="A7E3B0"/>
                </a:solidFill>
              </a:rPr>
              <a:t>Solution &amp; Architecture</a:t>
            </a:r>
            <a:endParaRPr lang="en-US" sz="1200" dirty="0"/>
          </a:p>
        </p:txBody>
      </p:sp>
      <p:sp>
        <p:nvSpPr>
          <p:cNvPr id="6" name="Text 4"/>
          <p:cNvSpPr txBox="1"/>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F70"/>
                </a:solidFill>
              </a:rPr>
              <a:t>AIBOTS-2026 Hackathon | Review 1</a:t>
            </a:r>
            <a:endParaRPr lang="en-US" sz="1000" dirty="0"/>
          </a:p>
        </p:txBody>
      </p:sp>
      <p:sp>
        <p:nvSpPr>
          <p:cNvPr id="7" name="Text 5"/>
          <p:cNvSpPr txBox="1"/>
          <p:nvPr/>
        </p:nvSpPr>
        <p:spPr>
          <a:xfrm>
            <a:off x="457200" y="1143000"/>
            <a:ext cx="3474720" cy="320040"/>
          </a:xfrm>
          <a:prstGeom prst="rect">
            <a:avLst/>
          </a:prstGeom>
          <a:noFill/>
          <a:ln/>
        </p:spPr>
        <p:txBody>
          <a:bodyPr wrap="square" lIns="0" tIns="0" rIns="0" bIns="0" rtlCol="0" anchor="ctr"/>
          <a:lstStyle/>
          <a:p>
            <a:pPr marL="0" indent="0">
              <a:buNone/>
            </a:pPr>
            <a:r>
              <a:rPr lang="en-US" sz="1600" b="1" dirty="0">
                <a:solidFill>
                  <a:srgbClr val="14532D"/>
                </a:solidFill>
              </a:rPr>
              <a:t>Inputs</a:t>
            </a:r>
            <a:endParaRPr lang="en-US" sz="1600" dirty="0"/>
          </a:p>
        </p:txBody>
      </p:sp>
      <p:sp>
        <p:nvSpPr>
          <p:cNvPr id="8" name="Text 6"/>
          <p:cNvSpPr txBox="1"/>
          <p:nvPr/>
        </p:nvSpPr>
        <p:spPr>
          <a:xfrm>
            <a:off x="457200" y="1554480"/>
            <a:ext cx="3383280" cy="3931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2B1F"/>
                </a:solidFill>
              </a:rPr>
              <a:t>Soil moisture reading</a:t>
            </a:r>
            <a:endParaRPr lang="en-US" sz="1300" dirty="0"/>
          </a:p>
          <a:p>
            <a:pPr marL="342900" indent="-342900">
              <a:spcAft>
                <a:spcPts val="600"/>
              </a:spcAft>
              <a:buSzPct val="100000"/>
              <a:buChar char="•"/>
            </a:pPr>
            <a:r>
              <a:rPr lang="en-US" sz="1300" dirty="0">
                <a:solidFill>
                  <a:srgbClr val="1B2B1F"/>
                </a:solidFill>
              </a:rPr>
              <a:t>Air temperature</a:t>
            </a:r>
            <a:endParaRPr lang="en-US" sz="1300" dirty="0"/>
          </a:p>
          <a:p>
            <a:pPr marL="342900" indent="-342900">
              <a:spcAft>
                <a:spcPts val="600"/>
              </a:spcAft>
              <a:buSzPct val="100000"/>
              <a:buChar char="•"/>
            </a:pPr>
            <a:r>
              <a:rPr lang="en-US" sz="1300" dirty="0">
                <a:solidFill>
                  <a:srgbClr val="1B2B1F"/>
                </a:solidFill>
              </a:rPr>
              <a:t>Relative humidity</a:t>
            </a:r>
            <a:endParaRPr lang="en-US" sz="1300" dirty="0"/>
          </a:p>
          <a:p>
            <a:pPr marL="342900" indent="-342900">
              <a:spcAft>
                <a:spcPts val="600"/>
              </a:spcAft>
              <a:buSzPct val="100000"/>
              <a:buChar char="•"/>
            </a:pPr>
            <a:r>
              <a:rPr lang="en-US" sz="1300" dirty="0">
                <a:solidFill>
                  <a:srgbClr val="1B2B1F"/>
                </a:solidFill>
              </a:rPr>
              <a:t>Recent rainfall</a:t>
            </a:r>
            <a:endParaRPr lang="en-US" sz="1300" dirty="0"/>
          </a:p>
          <a:p>
            <a:pPr marL="342900" indent="-342900">
              <a:spcAft>
                <a:spcPts val="600"/>
              </a:spcAft>
              <a:buSzPct val="100000"/>
              <a:buChar char="•"/>
            </a:pPr>
            <a:r>
              <a:rPr lang="en-US" sz="1300" dirty="0">
                <a:solidFill>
                  <a:srgbClr val="1B2B1F"/>
                </a:solidFill>
              </a:rPr>
              <a:t>Weather forecast</a:t>
            </a:r>
            <a:endParaRPr lang="en-US" sz="1300" dirty="0"/>
          </a:p>
          <a:p>
            <a:pPr marL="342900" indent="-342900">
              <a:spcAft>
                <a:spcPts val="600"/>
              </a:spcAft>
              <a:buSzPct val="100000"/>
              <a:buChar char="•"/>
            </a:pPr>
            <a:r>
              <a:rPr lang="en-US" sz="1300" dirty="0">
                <a:solidFill>
                  <a:srgbClr val="1B2B1F"/>
                </a:solidFill>
              </a:rPr>
              <a:t>Crop type</a:t>
            </a:r>
            <a:endParaRPr lang="en-US" sz="1300" dirty="0"/>
          </a:p>
          <a:p>
            <a:pPr marL="342900" indent="-342900">
              <a:spcAft>
                <a:spcPts val="600"/>
              </a:spcAft>
              <a:buSzPct val="100000"/>
              <a:buChar char="•"/>
            </a:pPr>
            <a:r>
              <a:rPr lang="en-US" sz="1300" dirty="0">
                <a:solidFill>
                  <a:srgbClr val="1B2B1F"/>
                </a:solidFill>
              </a:rPr>
              <a:t>Soil type</a:t>
            </a:r>
            <a:endParaRPr lang="en-US" sz="1300" dirty="0"/>
          </a:p>
          <a:p>
            <a:pPr marL="342900" indent="-342900">
              <a:spcAft>
                <a:spcPts val="600"/>
              </a:spcAft>
              <a:buSzPct val="100000"/>
              <a:buChar char="•"/>
            </a:pPr>
            <a:r>
              <a:rPr lang="en-US" sz="1300" dirty="0">
                <a:solidFill>
                  <a:srgbClr val="1B2B1F"/>
                </a:solidFill>
              </a:rPr>
              <a:t>Last irrigation date (if available)</a:t>
            </a:r>
            <a:endParaRPr lang="en-US" sz="1300" dirty="0"/>
          </a:p>
        </p:txBody>
      </p:sp>
      <p:sp>
        <p:nvSpPr>
          <p:cNvPr id="9" name="Text 7"/>
          <p:cNvSpPr txBox="1"/>
          <p:nvPr/>
        </p:nvSpPr>
        <p:spPr>
          <a:xfrm>
            <a:off x="4114800" y="1143000"/>
            <a:ext cx="3931920" cy="320040"/>
          </a:xfrm>
          <a:prstGeom prst="rect">
            <a:avLst/>
          </a:prstGeom>
          <a:noFill/>
          <a:ln/>
        </p:spPr>
        <p:txBody>
          <a:bodyPr wrap="square" lIns="0" tIns="0" rIns="0" bIns="0" rtlCol="0" anchor="ctr"/>
          <a:lstStyle/>
          <a:p>
            <a:pPr marL="0" indent="0">
              <a:buNone/>
            </a:pPr>
            <a:r>
              <a:rPr lang="en-US" sz="1600" b="1" dirty="0">
                <a:solidFill>
                  <a:srgbClr val="1565C0"/>
                </a:solidFill>
              </a:rPr>
              <a:t>Processing</a:t>
            </a:r>
            <a:endParaRPr lang="en-US" sz="1600" dirty="0"/>
          </a:p>
        </p:txBody>
      </p:sp>
      <p:sp>
        <p:nvSpPr>
          <p:cNvPr id="10" name="Text 8"/>
          <p:cNvSpPr txBox="1"/>
          <p:nvPr/>
        </p:nvSpPr>
        <p:spPr>
          <a:xfrm>
            <a:off x="4114800" y="1554480"/>
            <a:ext cx="3931920" cy="393192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300" dirty="0">
                <a:solidFill>
                  <a:srgbClr val="1B2B1F"/>
                </a:solidFill>
              </a:rPr>
              <a:t>Calibrate and interpret the soil sensor</a:t>
            </a:r>
            <a:endParaRPr lang="en-US" sz="1300" dirty="0"/>
          </a:p>
          <a:p>
            <a:pPr marL="342900" indent="-342900">
              <a:spcAft>
                <a:spcPts val="600"/>
              </a:spcAft>
              <a:buSzPct val="100000"/>
              <a:buFont typeface="+mj-lt"/>
              <a:buAutoNum type="arabicPeriod"/>
            </a:pPr>
            <a:r>
              <a:rPr lang="en-US" sz="1300" dirty="0">
                <a:solidFill>
                  <a:srgbClr val="1B2B1F"/>
                </a:solidFill>
              </a:rPr>
              <a:t>Classify soil as dry, moderate or wet</a:t>
            </a:r>
            <a:endParaRPr lang="en-US" sz="1300" dirty="0"/>
          </a:p>
          <a:p>
            <a:pPr marL="342900" indent="-342900">
              <a:spcAft>
                <a:spcPts val="600"/>
              </a:spcAft>
              <a:buSzPct val="100000"/>
              <a:buFont typeface="+mj-lt"/>
              <a:buAutoNum type="arabicPeriod"/>
            </a:pPr>
            <a:r>
              <a:rPr lang="en-US" sz="1300" dirty="0">
                <a:solidFill>
                  <a:srgbClr val="1B2B1F"/>
                </a:solidFill>
              </a:rPr>
              <a:t>Analyze recent rain and forecast</a:t>
            </a:r>
            <a:endParaRPr lang="en-US" sz="1300" dirty="0"/>
          </a:p>
          <a:p>
            <a:pPr marL="342900" indent="-342900">
              <a:spcAft>
                <a:spcPts val="600"/>
              </a:spcAft>
              <a:buSzPct val="100000"/>
              <a:buFont typeface="+mj-lt"/>
              <a:buAutoNum type="arabicPeriod"/>
            </a:pPr>
            <a:r>
              <a:rPr lang="en-US" sz="1300" dirty="0">
                <a:solidFill>
                  <a:srgbClr val="1B2B1F"/>
                </a:solidFill>
              </a:rPr>
              <a:t>Consider evaporative demand</a:t>
            </a:r>
            <a:endParaRPr lang="en-US" sz="1300" dirty="0"/>
          </a:p>
          <a:p>
            <a:pPr marL="342900" indent="-342900">
              <a:spcAft>
                <a:spcPts val="600"/>
              </a:spcAft>
              <a:buSzPct val="100000"/>
              <a:buFont typeface="+mj-lt"/>
              <a:buAutoNum type="arabicPeriod"/>
            </a:pPr>
            <a:r>
              <a:rPr lang="en-US" sz="1300" dirty="0">
                <a:solidFill>
                  <a:srgbClr val="1B2B1F"/>
                </a:solidFill>
              </a:rPr>
              <a:t>Consider crop water needs if known</a:t>
            </a:r>
            <a:endParaRPr lang="en-US" sz="1300" dirty="0"/>
          </a:p>
          <a:p>
            <a:pPr marL="342900" indent="-342900">
              <a:spcAft>
                <a:spcPts val="600"/>
              </a:spcAft>
              <a:buSzPct val="100000"/>
              <a:buFont typeface="+mj-lt"/>
              <a:buAutoNum type="arabicPeriod"/>
            </a:pPr>
            <a:r>
              <a:rPr lang="en-US" sz="1300" dirty="0">
                <a:solidFill>
                  <a:srgbClr val="1B2B1F"/>
                </a:solidFill>
              </a:rPr>
              <a:t>Combine using transparent rules</a:t>
            </a:r>
            <a:endParaRPr lang="en-US" sz="1300" dirty="0"/>
          </a:p>
          <a:p>
            <a:pPr marL="342900" indent="-342900">
              <a:spcAft>
                <a:spcPts val="600"/>
              </a:spcAft>
              <a:buSzPct val="100000"/>
              <a:buFont typeface="+mj-lt"/>
              <a:buAutoNum type="arabicPeriod"/>
            </a:pPr>
            <a:r>
              <a:rPr lang="en-US" sz="1300" dirty="0">
                <a:solidFill>
                  <a:srgbClr val="1B2B1F"/>
                </a:solidFill>
              </a:rPr>
              <a:t>Generate recommendation with explanation</a:t>
            </a:r>
            <a:endParaRPr lang="en-US" sz="1300" dirty="0"/>
          </a:p>
        </p:txBody>
      </p:sp>
      <p:sp>
        <p:nvSpPr>
          <p:cNvPr id="11" name="Text 9"/>
          <p:cNvSpPr txBox="1"/>
          <p:nvPr/>
        </p:nvSpPr>
        <p:spPr>
          <a:xfrm>
            <a:off x="8321040" y="1143000"/>
            <a:ext cx="3383280" cy="320040"/>
          </a:xfrm>
          <a:prstGeom prst="rect">
            <a:avLst/>
          </a:prstGeom>
          <a:noFill/>
          <a:ln/>
        </p:spPr>
        <p:txBody>
          <a:bodyPr wrap="square" lIns="0" tIns="0" rIns="0" bIns="0" rtlCol="0" anchor="ctr"/>
          <a:lstStyle/>
          <a:p>
            <a:pPr marL="0" indent="0">
              <a:buNone/>
            </a:pPr>
            <a:r>
              <a:rPr lang="en-US" sz="1600" b="1" dirty="0">
                <a:solidFill>
                  <a:srgbClr val="14532D"/>
                </a:solidFill>
              </a:rPr>
              <a:t>Example scenarios</a:t>
            </a:r>
            <a:endParaRPr lang="en-US" sz="1600" dirty="0"/>
          </a:p>
        </p:txBody>
      </p:sp>
      <p:sp>
        <p:nvSpPr>
          <p:cNvPr id="12" name="Shape 10"/>
          <p:cNvSpPr/>
          <p:nvPr/>
        </p:nvSpPr>
        <p:spPr>
          <a:xfrm>
            <a:off x="8321040" y="1554480"/>
            <a:ext cx="3410712" cy="1188720"/>
          </a:xfrm>
          <a:prstGeom prst="roundRect">
            <a:avLst>
              <a:gd name="adj" fmla="val 6154"/>
            </a:avLst>
          </a:prstGeom>
          <a:solidFill>
            <a:srgbClr val="FFFFFF"/>
          </a:solidFill>
          <a:ln w="12700">
            <a:solidFill>
              <a:srgbClr val="BFDCC4"/>
            </a:solidFill>
            <a:prstDash val="solid"/>
          </a:ln>
        </p:spPr>
      </p:sp>
      <p:sp>
        <p:nvSpPr>
          <p:cNvPr id="13" name="Shape 11"/>
          <p:cNvSpPr/>
          <p:nvPr/>
        </p:nvSpPr>
        <p:spPr>
          <a:xfrm>
            <a:off x="8321040" y="1645920"/>
            <a:ext cx="64008" cy="1005840"/>
          </a:xfrm>
          <a:prstGeom prst="rect">
            <a:avLst/>
          </a:prstGeom>
          <a:solidFill>
            <a:srgbClr val="C0392B"/>
          </a:solidFill>
          <a:ln w="12700">
            <a:solidFill>
              <a:srgbClr val="C0392B"/>
            </a:solidFill>
            <a:prstDash val="solid"/>
          </a:ln>
        </p:spPr>
      </p:sp>
      <p:sp>
        <p:nvSpPr>
          <p:cNvPr id="14" name="Text 12"/>
          <p:cNvSpPr txBox="1"/>
          <p:nvPr/>
        </p:nvSpPr>
        <p:spPr>
          <a:xfrm>
            <a:off x="8503920" y="1600200"/>
            <a:ext cx="3136392" cy="1097280"/>
          </a:xfrm>
          <a:prstGeom prst="rect">
            <a:avLst/>
          </a:prstGeom>
          <a:noFill/>
          <a:ln/>
        </p:spPr>
        <p:txBody>
          <a:bodyPr wrap="square" lIns="0" tIns="0" rIns="0" bIns="0" rtlCol="0" anchor="ctr"/>
          <a:lstStyle/>
          <a:p>
            <a:pPr marL="0" indent="0">
              <a:buNone/>
            </a:pPr>
            <a:r>
              <a:rPr lang="en-US" sz="1300" b="1" dirty="0">
                <a:solidFill>
                  <a:srgbClr val="14532D"/>
                </a:solidFill>
              </a:rPr>
              <a:t>A: Dry soil + no recent rain</a:t>
            </a:r>
            <a:endParaRPr lang="en-US" sz="1300" dirty="0"/>
          </a:p>
          <a:p>
            <a:pPr marL="0" indent="0">
              <a:buNone/>
            </a:pPr>
            <a:r>
              <a:rPr lang="en-US" sz="1150" dirty="0">
                <a:solidFill>
                  <a:srgbClr val="1B2B1F"/>
                </a:solidFill>
              </a:rPr>
              <a:t>Flags a potentially high irrigation need.</a:t>
            </a:r>
            <a:endParaRPr lang="en-US" sz="1300" dirty="0"/>
          </a:p>
        </p:txBody>
      </p:sp>
      <p:sp>
        <p:nvSpPr>
          <p:cNvPr id="15" name="Shape 13"/>
          <p:cNvSpPr/>
          <p:nvPr/>
        </p:nvSpPr>
        <p:spPr>
          <a:xfrm>
            <a:off x="8321040" y="2880360"/>
            <a:ext cx="3410712" cy="1188720"/>
          </a:xfrm>
          <a:prstGeom prst="roundRect">
            <a:avLst>
              <a:gd name="adj" fmla="val 6154"/>
            </a:avLst>
          </a:prstGeom>
          <a:solidFill>
            <a:srgbClr val="FFFFFF"/>
          </a:solidFill>
          <a:ln w="12700">
            <a:solidFill>
              <a:srgbClr val="BFDCC4"/>
            </a:solidFill>
            <a:prstDash val="solid"/>
          </a:ln>
        </p:spPr>
      </p:sp>
      <p:sp>
        <p:nvSpPr>
          <p:cNvPr id="16" name="Shape 14"/>
          <p:cNvSpPr/>
          <p:nvPr/>
        </p:nvSpPr>
        <p:spPr>
          <a:xfrm>
            <a:off x="8321040" y="2971800"/>
            <a:ext cx="64008" cy="1005840"/>
          </a:xfrm>
          <a:prstGeom prst="rect">
            <a:avLst/>
          </a:prstGeom>
          <a:solidFill>
            <a:srgbClr val="0EA5E9"/>
          </a:solidFill>
          <a:ln w="12700">
            <a:solidFill>
              <a:srgbClr val="0EA5E9"/>
            </a:solidFill>
            <a:prstDash val="solid"/>
          </a:ln>
        </p:spPr>
      </p:sp>
      <p:sp>
        <p:nvSpPr>
          <p:cNvPr id="17" name="Text 15"/>
          <p:cNvSpPr txBox="1"/>
          <p:nvPr/>
        </p:nvSpPr>
        <p:spPr>
          <a:xfrm>
            <a:off x="8503920" y="2926080"/>
            <a:ext cx="3136392" cy="1097280"/>
          </a:xfrm>
          <a:prstGeom prst="rect">
            <a:avLst/>
          </a:prstGeom>
          <a:noFill/>
          <a:ln/>
        </p:spPr>
        <p:txBody>
          <a:bodyPr wrap="square" lIns="0" tIns="0" rIns="0" bIns="0" rtlCol="0" anchor="ctr"/>
          <a:lstStyle/>
          <a:p>
            <a:pPr marL="0" indent="0">
              <a:buNone/>
            </a:pPr>
            <a:r>
              <a:rPr lang="en-US" sz="1300" b="1" dirty="0">
                <a:solidFill>
                  <a:srgbClr val="14532D"/>
                </a:solidFill>
              </a:rPr>
              <a:t>B: Moist soil + recent rain</a:t>
            </a:r>
            <a:endParaRPr lang="en-US" sz="1300" dirty="0"/>
          </a:p>
          <a:p>
            <a:pPr marL="0" indent="0">
              <a:buNone/>
            </a:pPr>
            <a:r>
              <a:rPr lang="en-US" sz="1150" dirty="0">
                <a:solidFill>
                  <a:srgbClr val="1B2B1F"/>
                </a:solidFill>
              </a:rPr>
              <a:t>May delay irrigation and keep monitoring.</a:t>
            </a:r>
            <a:endParaRPr lang="en-US" sz="1300" dirty="0"/>
          </a:p>
        </p:txBody>
      </p:sp>
      <p:sp>
        <p:nvSpPr>
          <p:cNvPr id="18" name="Shape 16"/>
          <p:cNvSpPr/>
          <p:nvPr/>
        </p:nvSpPr>
        <p:spPr>
          <a:xfrm>
            <a:off x="8321040" y="4206240"/>
            <a:ext cx="3410712" cy="1188720"/>
          </a:xfrm>
          <a:prstGeom prst="roundRect">
            <a:avLst>
              <a:gd name="adj" fmla="val 6154"/>
            </a:avLst>
          </a:prstGeom>
          <a:solidFill>
            <a:srgbClr val="FFFFFF"/>
          </a:solidFill>
          <a:ln w="12700">
            <a:solidFill>
              <a:srgbClr val="BFDCC4"/>
            </a:solidFill>
            <a:prstDash val="solid"/>
          </a:ln>
        </p:spPr>
      </p:sp>
      <p:sp>
        <p:nvSpPr>
          <p:cNvPr id="19" name="Shape 17"/>
          <p:cNvSpPr/>
          <p:nvPr/>
        </p:nvSpPr>
        <p:spPr>
          <a:xfrm>
            <a:off x="8321040" y="4297680"/>
            <a:ext cx="64008" cy="1005840"/>
          </a:xfrm>
          <a:prstGeom prst="rect">
            <a:avLst/>
          </a:prstGeom>
          <a:solidFill>
            <a:srgbClr val="2E7D32"/>
          </a:solidFill>
          <a:ln w="12700">
            <a:solidFill>
              <a:srgbClr val="2E7D32"/>
            </a:solidFill>
            <a:prstDash val="solid"/>
          </a:ln>
        </p:spPr>
      </p:sp>
      <p:sp>
        <p:nvSpPr>
          <p:cNvPr id="20" name="Text 18"/>
          <p:cNvSpPr txBox="1"/>
          <p:nvPr/>
        </p:nvSpPr>
        <p:spPr>
          <a:xfrm>
            <a:off x="8503920" y="4251960"/>
            <a:ext cx="3136392" cy="1097280"/>
          </a:xfrm>
          <a:prstGeom prst="rect">
            <a:avLst/>
          </a:prstGeom>
          <a:noFill/>
          <a:ln/>
        </p:spPr>
        <p:txBody>
          <a:bodyPr wrap="square" lIns="0" tIns="0" rIns="0" bIns="0" rtlCol="0" anchor="ctr"/>
          <a:lstStyle/>
          <a:p>
            <a:pPr marL="0" indent="0">
              <a:buNone/>
            </a:pPr>
            <a:r>
              <a:rPr lang="en-US" sz="1300" b="1" dirty="0">
                <a:solidFill>
                  <a:srgbClr val="14532D"/>
                </a:solidFill>
              </a:rPr>
              <a:t>C: Dry soil + rain forecast</a:t>
            </a:r>
            <a:endParaRPr lang="en-US" sz="1300" dirty="0"/>
          </a:p>
          <a:p>
            <a:pPr marL="0" indent="0">
              <a:buNone/>
            </a:pPr>
            <a:r>
              <a:rPr lang="en-US" sz="1150" dirty="0">
                <a:solidFill>
                  <a:srgbClr val="1B2B1F"/>
                </a:solidFill>
              </a:rPr>
              <a:t>Weighs sensor reading against forecast and suggests a next action.</a:t>
            </a:r>
            <a:endParaRPr lang="en-US" sz="1300" dirty="0"/>
          </a:p>
        </p:txBody>
      </p:sp>
      <p:sp>
        <p:nvSpPr>
          <p:cNvPr id="21" name="Shape 19"/>
          <p:cNvSpPr/>
          <p:nvPr/>
        </p:nvSpPr>
        <p:spPr>
          <a:xfrm>
            <a:off x="457200" y="5577840"/>
            <a:ext cx="11274552" cy="777240"/>
          </a:xfrm>
          <a:prstGeom prst="roundRect">
            <a:avLst>
              <a:gd name="adj" fmla="val 9412"/>
            </a:avLst>
          </a:prstGeom>
          <a:solidFill>
            <a:srgbClr val="EAF6EC"/>
          </a:solidFill>
          <a:ln w="12700">
            <a:solidFill>
              <a:srgbClr val="2E7D32"/>
            </a:solidFill>
            <a:prstDash val="solid"/>
          </a:ln>
        </p:spPr>
      </p:sp>
      <p:sp>
        <p:nvSpPr>
          <p:cNvPr id="22" name="Text 20"/>
          <p:cNvSpPr txBox="1"/>
          <p:nvPr/>
        </p:nvSpPr>
        <p:spPr>
          <a:xfrm>
            <a:off x="640080" y="5596128"/>
            <a:ext cx="10881360" cy="731520"/>
          </a:xfrm>
          <a:prstGeom prst="rect">
            <a:avLst/>
          </a:prstGeom>
          <a:noFill/>
          <a:ln/>
        </p:spPr>
        <p:txBody>
          <a:bodyPr wrap="square" lIns="0" tIns="0" rIns="0" bIns="0" rtlCol="0" anchor="ctr"/>
          <a:lstStyle/>
          <a:p>
            <a:pPr marL="0" indent="0">
              <a:buNone/>
            </a:pPr>
            <a:r>
              <a:rPr lang="en-US" sz="1300" b="1" dirty="0">
                <a:solidFill>
                  <a:srgbClr val="14532D"/>
                </a:solidFill>
              </a:rPr>
              <a:t>First prototype: calibrated rule-based logic. Forecasts are uncertain and crop needs vary. Machine learning only if suitable data and evaluation exist. No accuracy is claimed.</a:t>
            </a:r>
            <a:endParaRPr lang="en-US" sz="1300" dirty="0"/>
          </a:p>
        </p:txBody>
      </p:sp>
      <p:sp>
        <p:nvSpPr>
          <p:cNvPr id="25" name="Slide Number Placeholder 0"/>
          <p:cNvSpPr>
            <a:spLocks noGrp="1"/>
          </p:cNvSpPr>
          <p:nvPr>
            <p:ph type="sldNum" sz="quarter" idx="4294967295"/>
          </p:nvPr>
        </p:nvSpPr>
        <p:spPr>
          <a:xfrm>
            <a:off x="1115568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0"/>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4532D"/>
          </a:solidFill>
          <a:ln w="12700">
            <a:solidFill>
              <a:srgbClr val="14532D"/>
            </a:solidFill>
            <a:prstDash val="solid"/>
          </a:ln>
        </p:spPr>
      </p:sp>
      <p:sp>
        <p:nvSpPr>
          <p:cNvPr id="3" name="Shape 1"/>
          <p:cNvSpPr/>
          <p:nvPr/>
        </p:nvSpPr>
        <p:spPr>
          <a:xfrm>
            <a:off x="0" y="914400"/>
            <a:ext cx="12188952" cy="54864"/>
          </a:xfrm>
          <a:prstGeom prst="rect">
            <a:avLst/>
          </a:prstGeom>
          <a:solidFill>
            <a:srgbClr val="0EA5E9"/>
          </a:solidFill>
          <a:ln w="12700">
            <a:solidFill>
              <a:srgbClr val="0EA5E9"/>
            </a:solidFill>
            <a:prstDash val="solid"/>
          </a:ln>
        </p:spPr>
      </p:sp>
      <p:sp>
        <p:nvSpPr>
          <p:cNvPr id="4" name="Text 2"/>
          <p:cNvSpPr txBox="1"/>
          <p:nvPr/>
        </p:nvSpPr>
        <p:spPr>
          <a:xfrm>
            <a:off x="457200" y="109728"/>
            <a:ext cx="8503920" cy="694944"/>
          </a:xfrm>
          <a:prstGeom prst="rect">
            <a:avLst/>
          </a:prstGeom>
          <a:noFill/>
          <a:ln/>
        </p:spPr>
        <p:txBody>
          <a:bodyPr wrap="square" lIns="0" tIns="0" rIns="0" bIns="0" rtlCol="0" anchor="ctr"/>
          <a:lstStyle/>
          <a:p>
            <a:pPr marL="0" indent="0">
              <a:buNone/>
            </a:pPr>
            <a:r>
              <a:rPr lang="en-US" sz="2800" b="1" dirty="0">
                <a:solidFill>
                  <a:srgbClr val="FFFFFF"/>
                </a:solidFill>
              </a:rPr>
              <a:t>Dashboard and Expected Output</a:t>
            </a:r>
            <a:endParaRPr lang="en-US" sz="2800" dirty="0"/>
          </a:p>
        </p:txBody>
      </p:sp>
      <p:sp>
        <p:nvSpPr>
          <p:cNvPr id="5" name="Text 3"/>
          <p:cNvSpPr txBox="1"/>
          <p:nvPr/>
        </p:nvSpPr>
        <p:spPr>
          <a:xfrm>
            <a:off x="8778240" y="109728"/>
            <a:ext cx="2971800" cy="694944"/>
          </a:xfrm>
          <a:prstGeom prst="rect">
            <a:avLst/>
          </a:prstGeom>
          <a:noFill/>
          <a:ln/>
        </p:spPr>
        <p:txBody>
          <a:bodyPr wrap="square" lIns="0" tIns="0" rIns="0" bIns="0" rtlCol="0" anchor="ctr"/>
          <a:lstStyle/>
          <a:p>
            <a:pPr marL="0" indent="0" algn="r">
              <a:buNone/>
            </a:pPr>
            <a:r>
              <a:rPr lang="en-US" sz="1200" dirty="0">
                <a:solidFill>
                  <a:srgbClr val="A7E3B0"/>
                </a:solidFill>
              </a:rPr>
              <a:t>Proposed Design (Mockup)</a:t>
            </a:r>
            <a:endParaRPr lang="en-US" sz="1200" dirty="0"/>
          </a:p>
        </p:txBody>
      </p:sp>
      <p:sp>
        <p:nvSpPr>
          <p:cNvPr id="6" name="Text 4"/>
          <p:cNvSpPr txBox="1"/>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F70"/>
                </a:solidFill>
              </a:rPr>
              <a:t>AIBOTS-2026 Hackathon | Review 1</a:t>
            </a:r>
            <a:endParaRPr lang="en-US" sz="1000" dirty="0"/>
          </a:p>
        </p:txBody>
      </p:sp>
      <p:sp>
        <p:nvSpPr>
          <p:cNvPr id="7" name="Text 5"/>
          <p:cNvSpPr txBox="1"/>
          <p:nvPr/>
        </p:nvSpPr>
        <p:spPr>
          <a:xfrm>
            <a:off x="457200" y="1051560"/>
            <a:ext cx="11247120" cy="274320"/>
          </a:xfrm>
          <a:prstGeom prst="rect">
            <a:avLst/>
          </a:prstGeom>
          <a:noFill/>
          <a:ln/>
        </p:spPr>
        <p:txBody>
          <a:bodyPr wrap="square" lIns="0" tIns="0" rIns="0" bIns="0" rtlCol="0" anchor="ctr"/>
          <a:lstStyle/>
          <a:p>
            <a:pPr marL="0" indent="0">
              <a:buNone/>
            </a:pPr>
            <a:r>
              <a:rPr lang="en-US" sz="1200" b="1" dirty="0">
                <a:solidFill>
                  <a:srgbClr val="B45309"/>
                </a:solidFill>
              </a:rPr>
              <a:t>MOCKUP: illustrative values only, not actual system performance</a:t>
            </a:r>
            <a:endParaRPr lang="en-US" sz="1200" dirty="0"/>
          </a:p>
        </p:txBody>
      </p:sp>
      <p:sp>
        <p:nvSpPr>
          <p:cNvPr id="8" name="Shape 6"/>
          <p:cNvSpPr/>
          <p:nvPr/>
        </p:nvSpPr>
        <p:spPr>
          <a:xfrm>
            <a:off x="457200" y="1371600"/>
            <a:ext cx="11274552" cy="4937760"/>
          </a:xfrm>
          <a:prstGeom prst="roundRect">
            <a:avLst>
              <a:gd name="adj" fmla="val 1852"/>
            </a:avLst>
          </a:prstGeom>
          <a:solidFill>
            <a:srgbClr val="FFFFFF"/>
          </a:solidFill>
          <a:ln w="19050">
            <a:solidFill>
              <a:srgbClr val="9AD0A2"/>
            </a:solidFill>
            <a:prstDash val="solid"/>
          </a:ln>
        </p:spPr>
      </p:sp>
      <p:sp>
        <p:nvSpPr>
          <p:cNvPr id="9" name="Shape 7"/>
          <p:cNvSpPr/>
          <p:nvPr/>
        </p:nvSpPr>
        <p:spPr>
          <a:xfrm>
            <a:off x="594360" y="1508760"/>
            <a:ext cx="2103120" cy="914400"/>
          </a:xfrm>
          <a:prstGeom prst="roundRect">
            <a:avLst>
              <a:gd name="adj" fmla="val 8000"/>
            </a:avLst>
          </a:prstGeom>
          <a:solidFill>
            <a:srgbClr val="E3F4FD"/>
          </a:solidFill>
          <a:ln w="12700">
            <a:solidFill>
              <a:srgbClr val="0EA5E9"/>
            </a:solidFill>
            <a:prstDash val="solid"/>
          </a:ln>
        </p:spPr>
      </p:sp>
      <p:sp>
        <p:nvSpPr>
          <p:cNvPr id="10" name="Text 8"/>
          <p:cNvSpPr txBox="1"/>
          <p:nvPr/>
        </p:nvSpPr>
        <p:spPr>
          <a:xfrm>
            <a:off x="685800" y="1554480"/>
            <a:ext cx="1920240" cy="822960"/>
          </a:xfrm>
          <a:prstGeom prst="rect">
            <a:avLst/>
          </a:prstGeom>
          <a:noFill/>
          <a:ln/>
        </p:spPr>
        <p:txBody>
          <a:bodyPr wrap="square" lIns="0" tIns="0" rIns="0" bIns="0" rtlCol="0" anchor="ctr"/>
          <a:lstStyle/>
          <a:p>
            <a:pPr marL="0" indent="0">
              <a:buNone/>
            </a:pPr>
            <a:r>
              <a:rPr lang="en-US" sz="1100" dirty="0">
                <a:solidFill>
                  <a:srgbClr val="1565C0"/>
                </a:solidFill>
              </a:rPr>
              <a:t>Soil moisture</a:t>
            </a:r>
            <a:endParaRPr lang="en-US" sz="1100" dirty="0"/>
          </a:p>
          <a:p>
            <a:pPr marL="0" indent="0">
              <a:buNone/>
            </a:pPr>
            <a:r>
              <a:rPr lang="en-US" sz="1800" b="1" dirty="0">
                <a:solidFill>
                  <a:srgbClr val="1B2B1F"/>
                </a:solidFill>
              </a:rPr>
              <a:t>-- %</a:t>
            </a:r>
            <a:endParaRPr lang="en-US" sz="1100" dirty="0"/>
          </a:p>
        </p:txBody>
      </p:sp>
      <p:sp>
        <p:nvSpPr>
          <p:cNvPr id="11" name="Shape 9"/>
          <p:cNvSpPr/>
          <p:nvPr/>
        </p:nvSpPr>
        <p:spPr>
          <a:xfrm>
            <a:off x="2816352" y="1508760"/>
            <a:ext cx="2103120" cy="914400"/>
          </a:xfrm>
          <a:prstGeom prst="roundRect">
            <a:avLst>
              <a:gd name="adj" fmla="val 8000"/>
            </a:avLst>
          </a:prstGeom>
          <a:solidFill>
            <a:srgbClr val="EAF6EC"/>
          </a:solidFill>
          <a:ln w="12700">
            <a:solidFill>
              <a:srgbClr val="2E7D32"/>
            </a:solidFill>
            <a:prstDash val="solid"/>
          </a:ln>
        </p:spPr>
      </p:sp>
      <p:sp>
        <p:nvSpPr>
          <p:cNvPr id="12" name="Text 10"/>
          <p:cNvSpPr txBox="1"/>
          <p:nvPr/>
        </p:nvSpPr>
        <p:spPr>
          <a:xfrm>
            <a:off x="2907792" y="1554480"/>
            <a:ext cx="1920240" cy="822960"/>
          </a:xfrm>
          <a:prstGeom prst="rect">
            <a:avLst/>
          </a:prstGeom>
          <a:noFill/>
          <a:ln/>
        </p:spPr>
        <p:txBody>
          <a:bodyPr wrap="square" lIns="0" tIns="0" rIns="0" bIns="0" rtlCol="0" anchor="ctr"/>
          <a:lstStyle/>
          <a:p>
            <a:pPr marL="0" indent="0">
              <a:buNone/>
            </a:pPr>
            <a:r>
              <a:rPr lang="en-US" sz="1100" dirty="0">
                <a:solidFill>
                  <a:srgbClr val="1565C0"/>
                </a:solidFill>
              </a:rPr>
              <a:t>Soil status</a:t>
            </a:r>
            <a:endParaRPr lang="en-US" sz="1100" dirty="0"/>
          </a:p>
          <a:p>
            <a:pPr marL="0" indent="0">
              <a:buNone/>
            </a:pPr>
            <a:r>
              <a:rPr lang="en-US" sz="1300" b="1" dirty="0">
                <a:solidFill>
                  <a:srgbClr val="1B2B1F"/>
                </a:solidFill>
              </a:rPr>
              <a:t>Dry / Moderate / Wet</a:t>
            </a:r>
            <a:endParaRPr lang="en-US" sz="1100" dirty="0"/>
          </a:p>
        </p:txBody>
      </p:sp>
      <p:sp>
        <p:nvSpPr>
          <p:cNvPr id="13" name="Shape 11"/>
          <p:cNvSpPr/>
          <p:nvPr/>
        </p:nvSpPr>
        <p:spPr>
          <a:xfrm>
            <a:off x="5038344" y="1508760"/>
            <a:ext cx="2103120" cy="914400"/>
          </a:xfrm>
          <a:prstGeom prst="roundRect">
            <a:avLst>
              <a:gd name="adj" fmla="val 8000"/>
            </a:avLst>
          </a:prstGeom>
          <a:solidFill>
            <a:srgbClr val="E3F4FD"/>
          </a:solidFill>
          <a:ln w="12700">
            <a:solidFill>
              <a:srgbClr val="0EA5E9"/>
            </a:solidFill>
            <a:prstDash val="solid"/>
          </a:ln>
        </p:spPr>
      </p:sp>
      <p:sp>
        <p:nvSpPr>
          <p:cNvPr id="14" name="Text 12"/>
          <p:cNvSpPr txBox="1"/>
          <p:nvPr/>
        </p:nvSpPr>
        <p:spPr>
          <a:xfrm>
            <a:off x="5129784" y="1554480"/>
            <a:ext cx="1920240" cy="822960"/>
          </a:xfrm>
          <a:prstGeom prst="rect">
            <a:avLst/>
          </a:prstGeom>
          <a:noFill/>
          <a:ln/>
        </p:spPr>
        <p:txBody>
          <a:bodyPr wrap="square" lIns="0" tIns="0" rIns="0" bIns="0" rtlCol="0" anchor="ctr"/>
          <a:lstStyle/>
          <a:p>
            <a:pPr marL="0" indent="0">
              <a:buNone/>
            </a:pPr>
            <a:r>
              <a:rPr lang="en-US" sz="1100" dirty="0">
                <a:solidFill>
                  <a:srgbClr val="1565C0"/>
                </a:solidFill>
              </a:rPr>
              <a:t>Temperature</a:t>
            </a:r>
            <a:endParaRPr lang="en-US" sz="1100" dirty="0"/>
          </a:p>
          <a:p>
            <a:pPr marL="0" indent="0">
              <a:buNone/>
            </a:pPr>
            <a:r>
              <a:rPr lang="en-US" sz="1800" b="1" dirty="0">
                <a:solidFill>
                  <a:srgbClr val="1B2B1F"/>
                </a:solidFill>
              </a:rPr>
              <a:t>-- °C</a:t>
            </a:r>
            <a:endParaRPr lang="en-US" sz="1100" dirty="0"/>
          </a:p>
        </p:txBody>
      </p:sp>
      <p:sp>
        <p:nvSpPr>
          <p:cNvPr id="15" name="Shape 13"/>
          <p:cNvSpPr/>
          <p:nvPr/>
        </p:nvSpPr>
        <p:spPr>
          <a:xfrm>
            <a:off x="7260336" y="1508760"/>
            <a:ext cx="2103120" cy="914400"/>
          </a:xfrm>
          <a:prstGeom prst="roundRect">
            <a:avLst>
              <a:gd name="adj" fmla="val 8000"/>
            </a:avLst>
          </a:prstGeom>
          <a:solidFill>
            <a:srgbClr val="E3F4FD"/>
          </a:solidFill>
          <a:ln w="12700">
            <a:solidFill>
              <a:srgbClr val="0EA5E9"/>
            </a:solidFill>
            <a:prstDash val="solid"/>
          </a:ln>
        </p:spPr>
      </p:sp>
      <p:sp>
        <p:nvSpPr>
          <p:cNvPr id="16" name="Text 14"/>
          <p:cNvSpPr txBox="1"/>
          <p:nvPr/>
        </p:nvSpPr>
        <p:spPr>
          <a:xfrm>
            <a:off x="7351776" y="1554480"/>
            <a:ext cx="1920240" cy="822960"/>
          </a:xfrm>
          <a:prstGeom prst="rect">
            <a:avLst/>
          </a:prstGeom>
          <a:noFill/>
          <a:ln/>
        </p:spPr>
        <p:txBody>
          <a:bodyPr wrap="square" lIns="0" tIns="0" rIns="0" bIns="0" rtlCol="0" anchor="ctr"/>
          <a:lstStyle/>
          <a:p>
            <a:pPr marL="0" indent="0">
              <a:buNone/>
            </a:pPr>
            <a:r>
              <a:rPr lang="en-US" sz="1100" dirty="0">
                <a:solidFill>
                  <a:srgbClr val="1565C0"/>
                </a:solidFill>
              </a:rPr>
              <a:t>Humidity</a:t>
            </a:r>
            <a:endParaRPr lang="en-US" sz="1100" dirty="0"/>
          </a:p>
          <a:p>
            <a:pPr marL="0" indent="0">
              <a:buNone/>
            </a:pPr>
            <a:r>
              <a:rPr lang="en-US" sz="1800" b="1" dirty="0">
                <a:solidFill>
                  <a:srgbClr val="1B2B1F"/>
                </a:solidFill>
              </a:rPr>
              <a:t>-- %</a:t>
            </a:r>
            <a:endParaRPr lang="en-US" sz="1100" dirty="0"/>
          </a:p>
        </p:txBody>
      </p:sp>
      <p:sp>
        <p:nvSpPr>
          <p:cNvPr id="17" name="Shape 15"/>
          <p:cNvSpPr/>
          <p:nvPr/>
        </p:nvSpPr>
        <p:spPr>
          <a:xfrm>
            <a:off x="9482328" y="1508760"/>
            <a:ext cx="2103120" cy="914400"/>
          </a:xfrm>
          <a:prstGeom prst="roundRect">
            <a:avLst>
              <a:gd name="adj" fmla="val 8000"/>
            </a:avLst>
          </a:prstGeom>
          <a:solidFill>
            <a:srgbClr val="E3F4FD"/>
          </a:solidFill>
          <a:ln w="12700">
            <a:solidFill>
              <a:srgbClr val="0EA5E9"/>
            </a:solidFill>
            <a:prstDash val="solid"/>
          </a:ln>
        </p:spPr>
      </p:sp>
      <p:sp>
        <p:nvSpPr>
          <p:cNvPr id="18" name="Text 16"/>
          <p:cNvSpPr txBox="1"/>
          <p:nvPr/>
        </p:nvSpPr>
        <p:spPr>
          <a:xfrm>
            <a:off x="9573768" y="1554480"/>
            <a:ext cx="1920240" cy="822960"/>
          </a:xfrm>
          <a:prstGeom prst="rect">
            <a:avLst/>
          </a:prstGeom>
          <a:noFill/>
          <a:ln/>
        </p:spPr>
        <p:txBody>
          <a:bodyPr wrap="square" lIns="0" tIns="0" rIns="0" bIns="0" rtlCol="0" anchor="ctr"/>
          <a:lstStyle/>
          <a:p>
            <a:pPr marL="0" indent="0">
              <a:buNone/>
            </a:pPr>
            <a:r>
              <a:rPr lang="en-US" sz="1100" dirty="0">
                <a:solidFill>
                  <a:srgbClr val="1565C0"/>
                </a:solidFill>
              </a:rPr>
              <a:t>Recent rainfall</a:t>
            </a:r>
            <a:endParaRPr lang="en-US" sz="1100" dirty="0"/>
          </a:p>
          <a:p>
            <a:pPr marL="0" indent="0">
              <a:buNone/>
            </a:pPr>
            <a:r>
              <a:rPr lang="en-US" sz="1800" b="1" dirty="0">
                <a:solidFill>
                  <a:srgbClr val="1B2B1F"/>
                </a:solidFill>
              </a:rPr>
              <a:t>-- mm</a:t>
            </a:r>
            <a:endParaRPr lang="en-US" sz="1100" dirty="0"/>
          </a:p>
        </p:txBody>
      </p:sp>
      <p:graphicFrame>
        <p:nvGraphicFramePr>
          <p:cNvPr id="19" name="Chart 0"/>
          <p:cNvGraphicFramePr/>
          <p:nvPr/>
        </p:nvGraphicFramePr>
        <p:xfrm>
          <a:off x="594360" y="2606040"/>
          <a:ext cx="57607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7"/>
          <p:cNvSpPr/>
          <p:nvPr/>
        </p:nvSpPr>
        <p:spPr>
          <a:xfrm>
            <a:off x="6537960" y="2606040"/>
            <a:ext cx="5029200" cy="1600200"/>
          </a:xfrm>
          <a:prstGeom prst="roundRect">
            <a:avLst>
              <a:gd name="adj" fmla="val 4571"/>
            </a:avLst>
          </a:prstGeom>
          <a:solidFill>
            <a:srgbClr val="FFF8E1"/>
          </a:solidFill>
          <a:ln w="12700">
            <a:solidFill>
              <a:srgbClr val="F9A825"/>
            </a:solidFill>
            <a:prstDash val="solid"/>
          </a:ln>
        </p:spPr>
      </p:sp>
      <p:sp>
        <p:nvSpPr>
          <p:cNvPr id="21" name="Text 18"/>
          <p:cNvSpPr txBox="1"/>
          <p:nvPr/>
        </p:nvSpPr>
        <p:spPr>
          <a:xfrm>
            <a:off x="6675120" y="2651760"/>
            <a:ext cx="4754880" cy="1508760"/>
          </a:xfrm>
          <a:prstGeom prst="rect">
            <a:avLst/>
          </a:prstGeom>
          <a:noFill/>
          <a:ln/>
        </p:spPr>
        <p:txBody>
          <a:bodyPr wrap="square" lIns="0" tIns="0" rIns="0" bIns="0" rtlCol="0" anchor="ctr"/>
          <a:lstStyle/>
          <a:p>
            <a:pPr marL="0" indent="0">
              <a:spcAft>
                <a:spcPts val="300"/>
              </a:spcAft>
              <a:buNone/>
            </a:pPr>
            <a:r>
              <a:rPr lang="en-US" sz="1300" b="1" dirty="0">
                <a:solidFill>
                  <a:srgbClr val="000000"/>
                </a:solidFill>
              </a:rPr>
              <a:t>Soil Status: Dry</a:t>
            </a:r>
            <a:endParaRPr lang="en-US" sz="1300" dirty="0"/>
          </a:p>
          <a:p>
            <a:pPr marL="0" indent="0">
              <a:spcAft>
                <a:spcPts val="300"/>
              </a:spcAft>
              <a:buNone/>
            </a:pPr>
            <a:r>
              <a:rPr lang="en-US" sz="1150" dirty="0">
                <a:solidFill>
                  <a:srgbClr val="000000"/>
                </a:solidFill>
              </a:rPr>
              <a:t>Weather: Hot conditions, no significant recent rainfall.</a:t>
            </a:r>
            <a:endParaRPr lang="en-US" sz="1300" dirty="0"/>
          </a:p>
          <a:p>
            <a:pPr marL="0" indent="0">
              <a:spcAft>
                <a:spcPts val="300"/>
              </a:spcAft>
              <a:buNone/>
            </a:pPr>
            <a:r>
              <a:rPr lang="en-US" sz="1150" b="1" dirty="0">
                <a:solidFill>
                  <a:srgbClr val="000000"/>
                </a:solidFill>
              </a:rPr>
              <a:t>Recommendation: Irrigation may be needed. Check crop requirements and local conditions.</a:t>
            </a:r>
            <a:endParaRPr lang="en-US" sz="1300" dirty="0"/>
          </a:p>
        </p:txBody>
      </p:sp>
      <p:sp>
        <p:nvSpPr>
          <p:cNvPr id="22" name="Text 19"/>
          <p:cNvSpPr/>
          <p:nvPr/>
        </p:nvSpPr>
        <p:spPr>
          <a:xfrm>
            <a:off x="6537960" y="4343400"/>
            <a:ext cx="2468880" cy="731520"/>
          </a:xfrm>
          <a:prstGeom prst="roundRect">
            <a:avLst>
              <a:gd name="adj" fmla="val 10000"/>
            </a:avLst>
          </a:prstGeom>
          <a:solidFill>
            <a:srgbClr val="EAF6EC"/>
          </a:solidFill>
          <a:ln w="15875">
            <a:solidFill>
              <a:srgbClr val="2E7D32"/>
            </a:solidFill>
          </a:ln>
        </p:spPr>
        <p:txBody>
          <a:bodyPr wrap="square" lIns="1016" tIns="1016" rIns="1016" bIns="1016" rtlCol="0" anchor="ctr"/>
          <a:lstStyle/>
          <a:p>
            <a:pPr marL="0" indent="0" algn="ctr">
              <a:buNone/>
            </a:pPr>
            <a:r>
              <a:rPr lang="en-US" sz="1200" dirty="0">
                <a:solidFill>
                  <a:srgbClr val="1B2B1F"/>
                </a:solidFill>
              </a:rPr>
              <a:t>Sensor connection: Connected</a:t>
            </a:r>
            <a:endParaRPr lang="en-US" sz="1200" dirty="0"/>
          </a:p>
        </p:txBody>
      </p:sp>
      <p:sp>
        <p:nvSpPr>
          <p:cNvPr id="23" name="Text 20"/>
          <p:cNvSpPr/>
          <p:nvPr/>
        </p:nvSpPr>
        <p:spPr>
          <a:xfrm>
            <a:off x="9098280" y="4343400"/>
            <a:ext cx="2468880" cy="731520"/>
          </a:xfrm>
          <a:prstGeom prst="roundRect">
            <a:avLst>
              <a:gd name="adj" fmla="val 10000"/>
            </a:avLst>
          </a:prstGeom>
          <a:solidFill>
            <a:srgbClr val="EAF6EC"/>
          </a:solidFill>
          <a:ln w="15875">
            <a:solidFill>
              <a:srgbClr val="2E7D32"/>
            </a:solidFill>
          </a:ln>
        </p:spPr>
        <p:txBody>
          <a:bodyPr wrap="square" lIns="1016" tIns="1016" rIns="1016" bIns="1016" rtlCol="0" anchor="ctr"/>
          <a:lstStyle/>
          <a:p>
            <a:pPr marL="0" indent="0" algn="ctr">
              <a:buNone/>
            </a:pPr>
            <a:r>
              <a:rPr lang="en-US" sz="1200" dirty="0">
                <a:solidFill>
                  <a:srgbClr val="1B2B1F"/>
                </a:solidFill>
              </a:rPr>
              <a:t>LED status: Dry warning</a:t>
            </a:r>
            <a:endParaRPr lang="en-US" sz="1200" dirty="0"/>
          </a:p>
        </p:txBody>
      </p:sp>
      <p:sp>
        <p:nvSpPr>
          <p:cNvPr id="24" name="Text 21"/>
          <p:cNvSpPr/>
          <p:nvPr/>
        </p:nvSpPr>
        <p:spPr>
          <a:xfrm>
            <a:off x="6537960" y="5212080"/>
            <a:ext cx="5029200" cy="960120"/>
          </a:xfrm>
          <a:prstGeom prst="roundRect">
            <a:avLst>
              <a:gd name="adj" fmla="val 7619"/>
            </a:avLst>
          </a:prstGeom>
          <a:solidFill>
            <a:srgbClr val="FDECEA"/>
          </a:solidFill>
          <a:ln w="15875">
            <a:solidFill>
              <a:srgbClr val="C0392B"/>
            </a:solidFill>
          </a:ln>
        </p:spPr>
        <p:txBody>
          <a:bodyPr wrap="square" lIns="1016" tIns="1016" rIns="1016" bIns="1016" rtlCol="0" anchor="ctr"/>
          <a:lstStyle/>
          <a:p>
            <a:pPr marL="0" indent="0" algn="ctr">
              <a:buNone/>
            </a:pPr>
            <a:r>
              <a:rPr lang="en-US" sz="1300" b="1" dirty="0">
                <a:solidFill>
                  <a:srgbClr val="8E2A1F"/>
                </a:solidFill>
              </a:rPr>
              <a:t>ALERT: Soil moisture has fallen below the dry threshold</a:t>
            </a:r>
            <a:endParaRPr lang="en-US" sz="1300" dirty="0"/>
          </a:p>
        </p:txBody>
      </p:sp>
      <p:sp>
        <p:nvSpPr>
          <p:cNvPr id="25" name="Slide Number Placeholder 0"/>
          <p:cNvSpPr>
            <a:spLocks noGrp="1"/>
          </p:cNvSpPr>
          <p:nvPr>
            <p:ph type="sldNum" sz="quarter" idx="4294967295"/>
          </p:nvPr>
        </p:nvSpPr>
        <p:spPr>
          <a:xfrm>
            <a:off x="1115568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0"/>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4532D"/>
          </a:solidFill>
          <a:ln w="12700">
            <a:solidFill>
              <a:srgbClr val="14532D"/>
            </a:solidFill>
            <a:prstDash val="solid"/>
          </a:ln>
        </p:spPr>
      </p:sp>
      <p:sp>
        <p:nvSpPr>
          <p:cNvPr id="3" name="Shape 1"/>
          <p:cNvSpPr/>
          <p:nvPr/>
        </p:nvSpPr>
        <p:spPr>
          <a:xfrm>
            <a:off x="0" y="914400"/>
            <a:ext cx="12188952" cy="54864"/>
          </a:xfrm>
          <a:prstGeom prst="rect">
            <a:avLst/>
          </a:prstGeom>
          <a:solidFill>
            <a:srgbClr val="0EA5E9"/>
          </a:solidFill>
          <a:ln w="12700">
            <a:solidFill>
              <a:srgbClr val="0EA5E9"/>
            </a:solidFill>
            <a:prstDash val="solid"/>
          </a:ln>
        </p:spPr>
      </p:sp>
      <p:sp>
        <p:nvSpPr>
          <p:cNvPr id="4" name="Text 2"/>
          <p:cNvSpPr txBox="1"/>
          <p:nvPr/>
        </p:nvSpPr>
        <p:spPr>
          <a:xfrm>
            <a:off x="457200" y="109728"/>
            <a:ext cx="8503920" cy="694944"/>
          </a:xfrm>
          <a:prstGeom prst="rect">
            <a:avLst/>
          </a:prstGeom>
          <a:noFill/>
          <a:ln/>
        </p:spPr>
        <p:txBody>
          <a:bodyPr wrap="square" lIns="0" tIns="0" rIns="0" bIns="0" rtlCol="0" anchor="ctr"/>
          <a:lstStyle/>
          <a:p>
            <a:pPr marL="0" indent="0">
              <a:buNone/>
            </a:pPr>
            <a:r>
              <a:rPr lang="en-US" sz="2800" b="1" dirty="0">
                <a:solidFill>
                  <a:srgbClr val="FFFFFF"/>
                </a:solidFill>
              </a:rPr>
              <a:t>Feasibility and Execution Plan</a:t>
            </a:r>
            <a:endParaRPr lang="en-US" sz="2800" dirty="0"/>
          </a:p>
        </p:txBody>
      </p:sp>
      <p:sp>
        <p:nvSpPr>
          <p:cNvPr id="5" name="Text 3"/>
          <p:cNvSpPr txBox="1"/>
          <p:nvPr/>
        </p:nvSpPr>
        <p:spPr>
          <a:xfrm>
            <a:off x="8778240" y="109728"/>
            <a:ext cx="2971800" cy="694944"/>
          </a:xfrm>
          <a:prstGeom prst="rect">
            <a:avLst/>
          </a:prstGeom>
          <a:noFill/>
          <a:ln/>
        </p:spPr>
        <p:txBody>
          <a:bodyPr wrap="square" lIns="0" tIns="0" rIns="0" bIns="0" rtlCol="0" anchor="ctr"/>
          <a:lstStyle/>
          <a:p>
            <a:pPr marL="0" indent="0" algn="r">
              <a:buNone/>
            </a:pPr>
            <a:r>
              <a:rPr lang="en-US" sz="1200" dirty="0">
                <a:solidFill>
                  <a:srgbClr val="A7E3B0"/>
                </a:solidFill>
              </a:rPr>
              <a:t>Feasibility &amp; Execution</a:t>
            </a:r>
            <a:endParaRPr lang="en-US" sz="1200" dirty="0"/>
          </a:p>
        </p:txBody>
      </p:sp>
      <p:sp>
        <p:nvSpPr>
          <p:cNvPr id="6" name="Text 4"/>
          <p:cNvSpPr txBox="1"/>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F70"/>
                </a:solidFill>
              </a:rPr>
              <a:t>AIBOTS-2026 Hackathon | Review 1</a:t>
            </a:r>
            <a:endParaRPr lang="en-US" sz="1000" dirty="0"/>
          </a:p>
        </p:txBody>
      </p:sp>
      <p:sp>
        <p:nvSpPr>
          <p:cNvPr id="7" name="Shape 5"/>
          <p:cNvSpPr/>
          <p:nvPr/>
        </p:nvSpPr>
        <p:spPr>
          <a:xfrm>
            <a:off x="640080" y="1554480"/>
            <a:ext cx="10881360" cy="0"/>
          </a:xfrm>
          <a:prstGeom prst="line">
            <a:avLst/>
          </a:prstGeom>
          <a:noFill/>
          <a:ln w="38100">
            <a:solidFill>
              <a:srgbClr val="0EA5E9"/>
            </a:solidFill>
            <a:prstDash val="solid"/>
          </a:ln>
        </p:spPr>
      </p:sp>
      <p:sp>
        <p:nvSpPr>
          <p:cNvPr id="8" name="Shape 6"/>
          <p:cNvSpPr/>
          <p:nvPr/>
        </p:nvSpPr>
        <p:spPr>
          <a:xfrm>
            <a:off x="960120" y="1325880"/>
            <a:ext cx="457200" cy="457200"/>
          </a:xfrm>
          <a:prstGeom prst="ellipse">
            <a:avLst/>
          </a:prstGeom>
          <a:solidFill>
            <a:srgbClr val="2E7D32"/>
          </a:solidFill>
          <a:ln w="25400">
            <a:solidFill>
              <a:srgbClr val="FFFFFF"/>
            </a:solidFill>
            <a:prstDash val="solid"/>
          </a:ln>
        </p:spPr>
      </p:sp>
      <p:sp>
        <p:nvSpPr>
          <p:cNvPr id="9" name="Text 7"/>
          <p:cNvSpPr txBox="1"/>
          <p:nvPr/>
        </p:nvSpPr>
        <p:spPr>
          <a:xfrm>
            <a:off x="960120" y="1325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Shape 8"/>
          <p:cNvSpPr/>
          <p:nvPr/>
        </p:nvSpPr>
        <p:spPr>
          <a:xfrm>
            <a:off x="457200" y="1965960"/>
            <a:ext cx="1508760" cy="3200400"/>
          </a:xfrm>
          <a:prstGeom prst="roundRect">
            <a:avLst>
              <a:gd name="adj" fmla="val 4848"/>
            </a:avLst>
          </a:prstGeom>
          <a:solidFill>
            <a:srgbClr val="FFFFFF"/>
          </a:solidFill>
          <a:ln w="12700">
            <a:solidFill>
              <a:srgbClr val="BFDCC4"/>
            </a:solidFill>
            <a:prstDash val="solid"/>
          </a:ln>
        </p:spPr>
      </p:sp>
      <p:sp>
        <p:nvSpPr>
          <p:cNvPr id="11" name="Text 9"/>
          <p:cNvSpPr txBox="1"/>
          <p:nvPr/>
        </p:nvSpPr>
        <p:spPr>
          <a:xfrm>
            <a:off x="530352" y="2011680"/>
            <a:ext cx="1371600" cy="640080"/>
          </a:xfrm>
          <a:prstGeom prst="rect">
            <a:avLst/>
          </a:prstGeom>
          <a:noFill/>
          <a:ln/>
        </p:spPr>
        <p:txBody>
          <a:bodyPr wrap="square" lIns="0" tIns="0" rIns="0" bIns="0" rtlCol="0" anchor="ctr"/>
          <a:lstStyle/>
          <a:p>
            <a:pPr marL="0" indent="0" algn="ctr">
              <a:buNone/>
            </a:pPr>
            <a:r>
              <a:rPr lang="en-US" sz="1250" b="1" dirty="0">
                <a:solidFill>
                  <a:srgbClr val="14532D"/>
                </a:solidFill>
              </a:rPr>
              <a:t>Hardware Setup</a:t>
            </a:r>
            <a:endParaRPr lang="en-US" sz="1250" dirty="0"/>
          </a:p>
        </p:txBody>
      </p:sp>
      <p:sp>
        <p:nvSpPr>
          <p:cNvPr id="12" name="Text 10"/>
          <p:cNvSpPr txBox="1"/>
          <p:nvPr/>
        </p:nvSpPr>
        <p:spPr>
          <a:xfrm>
            <a:off x="530352" y="2743200"/>
            <a:ext cx="1371600" cy="23774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B2B1F"/>
                </a:solidFill>
              </a:rPr>
              <a:t>Connect sensors to ESP32</a:t>
            </a:r>
            <a:endParaRPr lang="en-US" sz="1050" dirty="0"/>
          </a:p>
          <a:p>
            <a:pPr marL="342900" indent="-342900">
              <a:spcAft>
                <a:spcPts val="500"/>
              </a:spcAft>
              <a:buSzPct val="100000"/>
              <a:buChar char="•"/>
            </a:pPr>
            <a:r>
              <a:rPr lang="en-US" sz="1050" dirty="0">
                <a:solidFill>
                  <a:srgbClr val="1B2B1F"/>
                </a:solidFill>
              </a:rPr>
              <a:t>Wire LED with 220Ω resistor</a:t>
            </a:r>
            <a:endParaRPr lang="en-US" sz="1050" dirty="0"/>
          </a:p>
          <a:p>
            <a:pPr marL="342900" indent="-342900">
              <a:spcAft>
                <a:spcPts val="500"/>
              </a:spcAft>
              <a:buSzPct val="100000"/>
              <a:buChar char="•"/>
            </a:pPr>
            <a:r>
              <a:rPr lang="en-US" sz="1050" dirty="0">
                <a:solidFill>
                  <a:srgbClr val="1B2B1F"/>
                </a:solidFill>
              </a:rPr>
              <a:t>Check serial output</a:t>
            </a:r>
            <a:endParaRPr lang="en-US" sz="1050" dirty="0"/>
          </a:p>
        </p:txBody>
      </p:sp>
      <p:sp>
        <p:nvSpPr>
          <p:cNvPr id="13" name="Shape 11"/>
          <p:cNvSpPr/>
          <p:nvPr/>
        </p:nvSpPr>
        <p:spPr>
          <a:xfrm>
            <a:off x="2578608" y="1325880"/>
            <a:ext cx="457200" cy="457200"/>
          </a:xfrm>
          <a:prstGeom prst="ellipse">
            <a:avLst/>
          </a:prstGeom>
          <a:solidFill>
            <a:srgbClr val="1565C0"/>
          </a:solidFill>
          <a:ln w="25400">
            <a:solidFill>
              <a:srgbClr val="FFFFFF"/>
            </a:solidFill>
            <a:prstDash val="solid"/>
          </a:ln>
        </p:spPr>
      </p:sp>
      <p:sp>
        <p:nvSpPr>
          <p:cNvPr id="14" name="Text 12"/>
          <p:cNvSpPr txBox="1"/>
          <p:nvPr/>
        </p:nvSpPr>
        <p:spPr>
          <a:xfrm>
            <a:off x="2578608" y="1325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5" name="Shape 13"/>
          <p:cNvSpPr/>
          <p:nvPr/>
        </p:nvSpPr>
        <p:spPr>
          <a:xfrm>
            <a:off x="2075688" y="1965960"/>
            <a:ext cx="1508760" cy="3200400"/>
          </a:xfrm>
          <a:prstGeom prst="roundRect">
            <a:avLst>
              <a:gd name="adj" fmla="val 4848"/>
            </a:avLst>
          </a:prstGeom>
          <a:solidFill>
            <a:srgbClr val="FFFFFF"/>
          </a:solidFill>
          <a:ln w="12700">
            <a:solidFill>
              <a:srgbClr val="BFDCC4"/>
            </a:solidFill>
            <a:prstDash val="solid"/>
          </a:ln>
        </p:spPr>
      </p:sp>
      <p:sp>
        <p:nvSpPr>
          <p:cNvPr id="16" name="Text 14"/>
          <p:cNvSpPr txBox="1"/>
          <p:nvPr/>
        </p:nvSpPr>
        <p:spPr>
          <a:xfrm>
            <a:off x="2148840" y="2011680"/>
            <a:ext cx="1371600" cy="640080"/>
          </a:xfrm>
          <a:prstGeom prst="rect">
            <a:avLst/>
          </a:prstGeom>
          <a:noFill/>
          <a:ln/>
        </p:spPr>
        <p:txBody>
          <a:bodyPr wrap="square" lIns="0" tIns="0" rIns="0" bIns="0" rtlCol="0" anchor="ctr"/>
          <a:lstStyle/>
          <a:p>
            <a:pPr marL="0" indent="0" algn="ctr">
              <a:buNone/>
            </a:pPr>
            <a:r>
              <a:rPr lang="en-US" sz="1250" b="1" dirty="0">
                <a:solidFill>
                  <a:srgbClr val="14532D"/>
                </a:solidFill>
              </a:rPr>
              <a:t>Sensor Calibration</a:t>
            </a:r>
            <a:endParaRPr lang="en-US" sz="1250" dirty="0"/>
          </a:p>
        </p:txBody>
      </p:sp>
      <p:sp>
        <p:nvSpPr>
          <p:cNvPr id="17" name="Text 15"/>
          <p:cNvSpPr txBox="1"/>
          <p:nvPr/>
        </p:nvSpPr>
        <p:spPr>
          <a:xfrm>
            <a:off x="2148840" y="2743200"/>
            <a:ext cx="1371600" cy="23774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B2B1F"/>
                </a:solidFill>
              </a:rPr>
              <a:t>Collect dry and wet readings</a:t>
            </a:r>
            <a:endParaRPr lang="en-US" sz="1050" dirty="0"/>
          </a:p>
          <a:p>
            <a:pPr marL="342900" indent="-342900">
              <a:spcAft>
                <a:spcPts val="500"/>
              </a:spcAft>
              <a:buSzPct val="100000"/>
              <a:buChar char="•"/>
            </a:pPr>
            <a:r>
              <a:rPr lang="en-US" sz="1050" dirty="0">
                <a:solidFill>
                  <a:srgbClr val="1B2B1F"/>
                </a:solidFill>
              </a:rPr>
              <a:t>Set thresholds</a:t>
            </a:r>
            <a:endParaRPr lang="en-US" sz="1050" dirty="0"/>
          </a:p>
          <a:p>
            <a:pPr marL="342900" indent="-342900">
              <a:spcAft>
                <a:spcPts val="500"/>
              </a:spcAft>
              <a:buSzPct val="100000"/>
              <a:buChar char="•"/>
            </a:pPr>
            <a:r>
              <a:rPr lang="en-US" sz="1050" dirty="0">
                <a:solidFill>
                  <a:srgbClr val="1B2B1F"/>
                </a:solidFill>
              </a:rPr>
              <a:t>Verify with chosen soil</a:t>
            </a:r>
            <a:endParaRPr lang="en-US" sz="1050" dirty="0"/>
          </a:p>
        </p:txBody>
      </p:sp>
      <p:sp>
        <p:nvSpPr>
          <p:cNvPr id="18" name="Shape 16"/>
          <p:cNvSpPr/>
          <p:nvPr/>
        </p:nvSpPr>
        <p:spPr>
          <a:xfrm>
            <a:off x="4197096" y="1325880"/>
            <a:ext cx="457200" cy="457200"/>
          </a:xfrm>
          <a:prstGeom prst="ellipse">
            <a:avLst/>
          </a:prstGeom>
          <a:solidFill>
            <a:srgbClr val="2E7D32"/>
          </a:solidFill>
          <a:ln w="25400">
            <a:solidFill>
              <a:srgbClr val="FFFFFF"/>
            </a:solidFill>
            <a:prstDash val="solid"/>
          </a:ln>
        </p:spPr>
      </p:sp>
      <p:sp>
        <p:nvSpPr>
          <p:cNvPr id="19" name="Text 17"/>
          <p:cNvSpPr txBox="1"/>
          <p:nvPr/>
        </p:nvSpPr>
        <p:spPr>
          <a:xfrm>
            <a:off x="4197096" y="1325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20" name="Shape 18"/>
          <p:cNvSpPr/>
          <p:nvPr/>
        </p:nvSpPr>
        <p:spPr>
          <a:xfrm>
            <a:off x="3694176" y="1965960"/>
            <a:ext cx="1508760" cy="3200400"/>
          </a:xfrm>
          <a:prstGeom prst="roundRect">
            <a:avLst>
              <a:gd name="adj" fmla="val 4848"/>
            </a:avLst>
          </a:prstGeom>
          <a:solidFill>
            <a:srgbClr val="FFFFFF"/>
          </a:solidFill>
          <a:ln w="12700">
            <a:solidFill>
              <a:srgbClr val="BFDCC4"/>
            </a:solidFill>
            <a:prstDash val="solid"/>
          </a:ln>
        </p:spPr>
      </p:sp>
      <p:sp>
        <p:nvSpPr>
          <p:cNvPr id="21" name="Text 19"/>
          <p:cNvSpPr txBox="1"/>
          <p:nvPr/>
        </p:nvSpPr>
        <p:spPr>
          <a:xfrm>
            <a:off x="3767328" y="2011680"/>
            <a:ext cx="1371600" cy="640080"/>
          </a:xfrm>
          <a:prstGeom prst="rect">
            <a:avLst/>
          </a:prstGeom>
          <a:noFill/>
          <a:ln/>
        </p:spPr>
        <p:txBody>
          <a:bodyPr wrap="square" lIns="0" tIns="0" rIns="0" bIns="0" rtlCol="0" anchor="ctr"/>
          <a:lstStyle/>
          <a:p>
            <a:pPr marL="0" indent="0" algn="ctr">
              <a:buNone/>
            </a:pPr>
            <a:r>
              <a:rPr lang="en-US" sz="1250" b="1" dirty="0">
                <a:solidFill>
                  <a:srgbClr val="14532D"/>
                </a:solidFill>
              </a:rPr>
              <a:t>IoT Communication</a:t>
            </a:r>
            <a:endParaRPr lang="en-US" sz="1250" dirty="0"/>
          </a:p>
        </p:txBody>
      </p:sp>
      <p:sp>
        <p:nvSpPr>
          <p:cNvPr id="22" name="Text 20"/>
          <p:cNvSpPr txBox="1"/>
          <p:nvPr/>
        </p:nvSpPr>
        <p:spPr>
          <a:xfrm>
            <a:off x="3767328" y="2743200"/>
            <a:ext cx="1371600" cy="23774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B2B1F"/>
                </a:solidFill>
              </a:rPr>
              <a:t>Connect ESP32 to Wi-Fi</a:t>
            </a:r>
            <a:endParaRPr lang="en-US" sz="1050" dirty="0"/>
          </a:p>
          <a:p>
            <a:pPr marL="342900" indent="-342900">
              <a:spcAft>
                <a:spcPts val="500"/>
              </a:spcAft>
              <a:buSzPct val="100000"/>
              <a:buChar char="•"/>
            </a:pPr>
            <a:r>
              <a:rPr lang="en-US" sz="1050" dirty="0">
                <a:solidFill>
                  <a:srgbClr val="1B2B1F"/>
                </a:solidFill>
              </a:rPr>
              <a:t>Send readings to backend</a:t>
            </a:r>
            <a:endParaRPr lang="en-US" sz="1050" dirty="0"/>
          </a:p>
          <a:p>
            <a:pPr marL="342900" indent="-342900">
              <a:spcAft>
                <a:spcPts val="500"/>
              </a:spcAft>
              <a:buSzPct val="100000"/>
              <a:buChar char="•"/>
            </a:pPr>
            <a:r>
              <a:rPr lang="en-US" sz="1050" dirty="0">
                <a:solidFill>
                  <a:srgbClr val="1B2B1F"/>
                </a:solidFill>
              </a:rPr>
              <a:t>Handle network failures</a:t>
            </a:r>
            <a:endParaRPr lang="en-US" sz="1050" dirty="0"/>
          </a:p>
        </p:txBody>
      </p:sp>
      <p:sp>
        <p:nvSpPr>
          <p:cNvPr id="23" name="Shape 21"/>
          <p:cNvSpPr/>
          <p:nvPr/>
        </p:nvSpPr>
        <p:spPr>
          <a:xfrm>
            <a:off x="5815584" y="1325880"/>
            <a:ext cx="457200" cy="457200"/>
          </a:xfrm>
          <a:prstGeom prst="ellipse">
            <a:avLst/>
          </a:prstGeom>
          <a:solidFill>
            <a:srgbClr val="1565C0"/>
          </a:solidFill>
          <a:ln w="25400">
            <a:solidFill>
              <a:srgbClr val="FFFFFF"/>
            </a:solidFill>
            <a:prstDash val="solid"/>
          </a:ln>
        </p:spPr>
      </p:sp>
      <p:sp>
        <p:nvSpPr>
          <p:cNvPr id="24" name="Text 22"/>
          <p:cNvSpPr txBox="1"/>
          <p:nvPr/>
        </p:nvSpPr>
        <p:spPr>
          <a:xfrm>
            <a:off x="5815584" y="1325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5" name="Shape 23"/>
          <p:cNvSpPr/>
          <p:nvPr/>
        </p:nvSpPr>
        <p:spPr>
          <a:xfrm>
            <a:off x="5312664" y="1965960"/>
            <a:ext cx="1508760" cy="3200400"/>
          </a:xfrm>
          <a:prstGeom prst="roundRect">
            <a:avLst>
              <a:gd name="adj" fmla="val 4848"/>
            </a:avLst>
          </a:prstGeom>
          <a:solidFill>
            <a:srgbClr val="FFFFFF"/>
          </a:solidFill>
          <a:ln w="12700">
            <a:solidFill>
              <a:srgbClr val="BFDCC4"/>
            </a:solidFill>
            <a:prstDash val="solid"/>
          </a:ln>
        </p:spPr>
      </p:sp>
      <p:sp>
        <p:nvSpPr>
          <p:cNvPr id="26" name="Text 24"/>
          <p:cNvSpPr txBox="1"/>
          <p:nvPr/>
        </p:nvSpPr>
        <p:spPr>
          <a:xfrm>
            <a:off x="5385816" y="2011680"/>
            <a:ext cx="1371600" cy="640080"/>
          </a:xfrm>
          <a:prstGeom prst="rect">
            <a:avLst/>
          </a:prstGeom>
          <a:noFill/>
          <a:ln/>
        </p:spPr>
        <p:txBody>
          <a:bodyPr wrap="square" lIns="0" tIns="0" rIns="0" bIns="0" rtlCol="0" anchor="ctr"/>
          <a:lstStyle/>
          <a:p>
            <a:pPr marL="0" indent="0" algn="ctr">
              <a:buNone/>
            </a:pPr>
            <a:r>
              <a:rPr lang="en-US" sz="1250" b="1" dirty="0">
                <a:solidFill>
                  <a:srgbClr val="14532D"/>
                </a:solidFill>
              </a:rPr>
              <a:t>Weather API</a:t>
            </a:r>
            <a:endParaRPr lang="en-US" sz="1250" dirty="0"/>
          </a:p>
        </p:txBody>
      </p:sp>
      <p:sp>
        <p:nvSpPr>
          <p:cNvPr id="27" name="Text 25"/>
          <p:cNvSpPr txBox="1"/>
          <p:nvPr/>
        </p:nvSpPr>
        <p:spPr>
          <a:xfrm>
            <a:off x="5385816" y="2743200"/>
            <a:ext cx="1371600" cy="23774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B2B1F"/>
                </a:solidFill>
              </a:rPr>
              <a:t>Get current and forecast data</a:t>
            </a:r>
            <a:endParaRPr lang="en-US" sz="1050" dirty="0"/>
          </a:p>
          <a:p>
            <a:pPr marL="342900" indent="-342900">
              <a:spcAft>
                <a:spcPts val="500"/>
              </a:spcAft>
              <a:buSzPct val="100000"/>
              <a:buChar char="•"/>
            </a:pPr>
            <a:r>
              <a:rPr lang="en-US" sz="1050" dirty="0">
                <a:solidFill>
                  <a:srgbClr val="1B2B1F"/>
                </a:solidFill>
              </a:rPr>
              <a:t>Process rain, temp, humidity</a:t>
            </a:r>
            <a:endParaRPr lang="en-US" sz="1050" dirty="0"/>
          </a:p>
        </p:txBody>
      </p:sp>
      <p:sp>
        <p:nvSpPr>
          <p:cNvPr id="28" name="Shape 26"/>
          <p:cNvSpPr/>
          <p:nvPr/>
        </p:nvSpPr>
        <p:spPr>
          <a:xfrm>
            <a:off x="7434072" y="1325880"/>
            <a:ext cx="457200" cy="457200"/>
          </a:xfrm>
          <a:prstGeom prst="ellipse">
            <a:avLst/>
          </a:prstGeom>
          <a:solidFill>
            <a:srgbClr val="2E7D32"/>
          </a:solidFill>
          <a:ln w="25400">
            <a:solidFill>
              <a:srgbClr val="FFFFFF"/>
            </a:solidFill>
            <a:prstDash val="solid"/>
          </a:ln>
        </p:spPr>
      </p:sp>
      <p:sp>
        <p:nvSpPr>
          <p:cNvPr id="29" name="Text 27"/>
          <p:cNvSpPr txBox="1"/>
          <p:nvPr/>
        </p:nvSpPr>
        <p:spPr>
          <a:xfrm>
            <a:off x="7434072" y="1325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30" name="Shape 28"/>
          <p:cNvSpPr/>
          <p:nvPr/>
        </p:nvSpPr>
        <p:spPr>
          <a:xfrm>
            <a:off x="6931152" y="1965960"/>
            <a:ext cx="1508760" cy="3200400"/>
          </a:xfrm>
          <a:prstGeom prst="roundRect">
            <a:avLst>
              <a:gd name="adj" fmla="val 4848"/>
            </a:avLst>
          </a:prstGeom>
          <a:solidFill>
            <a:srgbClr val="FFFFFF"/>
          </a:solidFill>
          <a:ln w="12700">
            <a:solidFill>
              <a:srgbClr val="BFDCC4"/>
            </a:solidFill>
            <a:prstDash val="solid"/>
          </a:ln>
        </p:spPr>
      </p:sp>
      <p:sp>
        <p:nvSpPr>
          <p:cNvPr id="31" name="Text 29"/>
          <p:cNvSpPr txBox="1"/>
          <p:nvPr/>
        </p:nvSpPr>
        <p:spPr>
          <a:xfrm>
            <a:off x="7004304" y="2011680"/>
            <a:ext cx="1371600" cy="640080"/>
          </a:xfrm>
          <a:prstGeom prst="rect">
            <a:avLst/>
          </a:prstGeom>
          <a:noFill/>
          <a:ln/>
        </p:spPr>
        <p:txBody>
          <a:bodyPr wrap="square" lIns="0" tIns="0" rIns="0" bIns="0" rtlCol="0" anchor="ctr"/>
          <a:lstStyle/>
          <a:p>
            <a:pPr marL="0" indent="0" algn="ctr">
              <a:buNone/>
            </a:pPr>
            <a:r>
              <a:rPr lang="en-US" sz="1250" b="1" dirty="0">
                <a:solidFill>
                  <a:srgbClr val="14532D"/>
                </a:solidFill>
              </a:rPr>
              <a:t>Recommendation Engine</a:t>
            </a:r>
            <a:endParaRPr lang="en-US" sz="1250" dirty="0"/>
          </a:p>
        </p:txBody>
      </p:sp>
      <p:sp>
        <p:nvSpPr>
          <p:cNvPr id="32" name="Text 30"/>
          <p:cNvSpPr txBox="1"/>
          <p:nvPr/>
        </p:nvSpPr>
        <p:spPr>
          <a:xfrm>
            <a:off x="7004304" y="2743200"/>
            <a:ext cx="1371600" cy="23774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B2B1F"/>
                </a:solidFill>
              </a:rPr>
              <a:t>Combine sensor and weather data</a:t>
            </a:r>
            <a:endParaRPr lang="en-US" sz="1050" dirty="0"/>
          </a:p>
          <a:p>
            <a:pPr marL="342900" indent="-342900">
              <a:spcAft>
                <a:spcPts val="500"/>
              </a:spcAft>
              <a:buSzPct val="100000"/>
              <a:buChar char="•"/>
            </a:pPr>
            <a:r>
              <a:rPr lang="en-US" sz="1050" dirty="0">
                <a:solidFill>
                  <a:srgbClr val="1B2B1F"/>
                </a:solidFill>
              </a:rPr>
              <a:t>Write transparent rules</a:t>
            </a:r>
            <a:endParaRPr lang="en-US" sz="1050" dirty="0"/>
          </a:p>
        </p:txBody>
      </p:sp>
      <p:sp>
        <p:nvSpPr>
          <p:cNvPr id="33" name="Shape 31"/>
          <p:cNvSpPr/>
          <p:nvPr/>
        </p:nvSpPr>
        <p:spPr>
          <a:xfrm>
            <a:off x="9052560" y="1325880"/>
            <a:ext cx="457200" cy="457200"/>
          </a:xfrm>
          <a:prstGeom prst="ellipse">
            <a:avLst/>
          </a:prstGeom>
          <a:solidFill>
            <a:srgbClr val="1565C0"/>
          </a:solidFill>
          <a:ln w="25400">
            <a:solidFill>
              <a:srgbClr val="FFFFFF"/>
            </a:solidFill>
            <a:prstDash val="solid"/>
          </a:ln>
        </p:spPr>
      </p:sp>
      <p:sp>
        <p:nvSpPr>
          <p:cNvPr id="34" name="Text 32"/>
          <p:cNvSpPr txBox="1"/>
          <p:nvPr/>
        </p:nvSpPr>
        <p:spPr>
          <a:xfrm>
            <a:off x="9052560" y="1325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35" name="Shape 33"/>
          <p:cNvSpPr/>
          <p:nvPr/>
        </p:nvSpPr>
        <p:spPr>
          <a:xfrm>
            <a:off x="8549640" y="1965960"/>
            <a:ext cx="1508760" cy="3200400"/>
          </a:xfrm>
          <a:prstGeom prst="roundRect">
            <a:avLst>
              <a:gd name="adj" fmla="val 4848"/>
            </a:avLst>
          </a:prstGeom>
          <a:solidFill>
            <a:srgbClr val="FFFFFF"/>
          </a:solidFill>
          <a:ln w="12700">
            <a:solidFill>
              <a:srgbClr val="BFDCC4"/>
            </a:solidFill>
            <a:prstDash val="solid"/>
          </a:ln>
        </p:spPr>
      </p:sp>
      <p:sp>
        <p:nvSpPr>
          <p:cNvPr id="36" name="Text 34"/>
          <p:cNvSpPr txBox="1"/>
          <p:nvPr/>
        </p:nvSpPr>
        <p:spPr>
          <a:xfrm>
            <a:off x="8622792" y="2011680"/>
            <a:ext cx="1371600" cy="640080"/>
          </a:xfrm>
          <a:prstGeom prst="rect">
            <a:avLst/>
          </a:prstGeom>
          <a:noFill/>
          <a:ln/>
        </p:spPr>
        <p:txBody>
          <a:bodyPr wrap="square" lIns="0" tIns="0" rIns="0" bIns="0" rtlCol="0" anchor="ctr"/>
          <a:lstStyle/>
          <a:p>
            <a:pPr marL="0" indent="0" algn="ctr">
              <a:buNone/>
            </a:pPr>
            <a:r>
              <a:rPr lang="en-US" sz="1250" b="1" dirty="0">
                <a:solidFill>
                  <a:srgbClr val="14532D"/>
                </a:solidFill>
              </a:rPr>
              <a:t>Dashboard</a:t>
            </a:r>
            <a:endParaRPr lang="en-US" sz="1250" dirty="0"/>
          </a:p>
        </p:txBody>
      </p:sp>
      <p:sp>
        <p:nvSpPr>
          <p:cNvPr id="37" name="Text 35"/>
          <p:cNvSpPr txBox="1"/>
          <p:nvPr/>
        </p:nvSpPr>
        <p:spPr>
          <a:xfrm>
            <a:off x="8622792" y="2743200"/>
            <a:ext cx="1371600" cy="23774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B2B1F"/>
                </a:solidFill>
              </a:rPr>
              <a:t>Show readings and trends</a:t>
            </a:r>
            <a:endParaRPr lang="en-US" sz="1050" dirty="0"/>
          </a:p>
          <a:p>
            <a:pPr marL="342900" indent="-342900">
              <a:spcAft>
                <a:spcPts val="500"/>
              </a:spcAft>
              <a:buSzPct val="100000"/>
              <a:buChar char="•"/>
            </a:pPr>
            <a:r>
              <a:rPr lang="en-US" sz="1050" dirty="0">
                <a:solidFill>
                  <a:srgbClr val="1B2B1F"/>
                </a:solidFill>
              </a:rPr>
              <a:t>Add warnings and status</a:t>
            </a:r>
            <a:endParaRPr lang="en-US" sz="1050" dirty="0"/>
          </a:p>
        </p:txBody>
      </p:sp>
      <p:sp>
        <p:nvSpPr>
          <p:cNvPr id="38" name="Shape 36"/>
          <p:cNvSpPr/>
          <p:nvPr/>
        </p:nvSpPr>
        <p:spPr>
          <a:xfrm>
            <a:off x="10671048" y="1325880"/>
            <a:ext cx="457200" cy="457200"/>
          </a:xfrm>
          <a:prstGeom prst="ellipse">
            <a:avLst/>
          </a:prstGeom>
          <a:solidFill>
            <a:srgbClr val="2E7D32"/>
          </a:solidFill>
          <a:ln w="25400">
            <a:solidFill>
              <a:srgbClr val="FFFFFF"/>
            </a:solidFill>
            <a:prstDash val="solid"/>
          </a:ln>
        </p:spPr>
      </p:sp>
      <p:sp>
        <p:nvSpPr>
          <p:cNvPr id="39" name="Text 37"/>
          <p:cNvSpPr txBox="1"/>
          <p:nvPr/>
        </p:nvSpPr>
        <p:spPr>
          <a:xfrm>
            <a:off x="10671048" y="1325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7</a:t>
            </a:r>
            <a:endParaRPr lang="en-US" sz="1400" dirty="0"/>
          </a:p>
        </p:txBody>
      </p:sp>
      <p:sp>
        <p:nvSpPr>
          <p:cNvPr id="40" name="Shape 38"/>
          <p:cNvSpPr/>
          <p:nvPr/>
        </p:nvSpPr>
        <p:spPr>
          <a:xfrm>
            <a:off x="10168128" y="1965960"/>
            <a:ext cx="1508760" cy="3200400"/>
          </a:xfrm>
          <a:prstGeom prst="roundRect">
            <a:avLst>
              <a:gd name="adj" fmla="val 4848"/>
            </a:avLst>
          </a:prstGeom>
          <a:solidFill>
            <a:srgbClr val="FFFFFF"/>
          </a:solidFill>
          <a:ln w="12700">
            <a:solidFill>
              <a:srgbClr val="BFDCC4"/>
            </a:solidFill>
            <a:prstDash val="solid"/>
          </a:ln>
        </p:spPr>
      </p:sp>
      <p:sp>
        <p:nvSpPr>
          <p:cNvPr id="41" name="Text 39"/>
          <p:cNvSpPr txBox="1"/>
          <p:nvPr/>
        </p:nvSpPr>
        <p:spPr>
          <a:xfrm>
            <a:off x="10241280" y="2011680"/>
            <a:ext cx="1371600" cy="640080"/>
          </a:xfrm>
          <a:prstGeom prst="rect">
            <a:avLst/>
          </a:prstGeom>
          <a:noFill/>
          <a:ln/>
        </p:spPr>
        <p:txBody>
          <a:bodyPr wrap="square" lIns="0" tIns="0" rIns="0" bIns="0" rtlCol="0" anchor="ctr"/>
          <a:lstStyle/>
          <a:p>
            <a:pPr marL="0" indent="0" algn="ctr">
              <a:buNone/>
            </a:pPr>
            <a:r>
              <a:rPr lang="en-US" sz="1250" b="1" dirty="0">
                <a:solidFill>
                  <a:srgbClr val="14532D"/>
                </a:solidFill>
              </a:rPr>
              <a:t>Testing &amp; Demo</a:t>
            </a:r>
            <a:endParaRPr lang="en-US" sz="1250" dirty="0"/>
          </a:p>
        </p:txBody>
      </p:sp>
      <p:sp>
        <p:nvSpPr>
          <p:cNvPr id="42" name="Text 40"/>
          <p:cNvSpPr txBox="1"/>
          <p:nvPr/>
        </p:nvSpPr>
        <p:spPr>
          <a:xfrm>
            <a:off x="10241280" y="2743200"/>
            <a:ext cx="1371600" cy="23774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B2B1F"/>
                </a:solidFill>
              </a:rPr>
              <a:t>Dry and moist soil tests</a:t>
            </a:r>
            <a:endParaRPr lang="en-US" sz="1050" dirty="0"/>
          </a:p>
          <a:p>
            <a:pPr marL="342900" indent="-342900">
              <a:spcAft>
                <a:spcPts val="500"/>
              </a:spcAft>
              <a:buSzPct val="100000"/>
              <a:buChar char="•"/>
            </a:pPr>
            <a:r>
              <a:rPr lang="en-US" sz="1050" dirty="0">
                <a:solidFill>
                  <a:srgbClr val="1B2B1F"/>
                </a:solidFill>
              </a:rPr>
              <a:t>Simulate rain and forecasts</a:t>
            </a:r>
            <a:endParaRPr lang="en-US" sz="1050" dirty="0"/>
          </a:p>
          <a:p>
            <a:pPr marL="342900" indent="-342900">
              <a:spcAft>
                <a:spcPts val="500"/>
              </a:spcAft>
              <a:buSzPct val="100000"/>
              <a:buChar char="•"/>
            </a:pPr>
            <a:r>
              <a:rPr lang="en-US" sz="1050" dirty="0">
                <a:solidFill>
                  <a:srgbClr val="1B2B1F"/>
                </a:solidFill>
              </a:rPr>
              <a:t>Check expected behavior</a:t>
            </a:r>
            <a:endParaRPr lang="en-US" sz="1050" dirty="0"/>
          </a:p>
        </p:txBody>
      </p:sp>
      <p:sp>
        <p:nvSpPr>
          <p:cNvPr id="43" name="Text 41"/>
          <p:cNvSpPr txBox="1"/>
          <p:nvPr/>
        </p:nvSpPr>
        <p:spPr>
          <a:xfrm>
            <a:off x="457200" y="5303520"/>
            <a:ext cx="11247120" cy="320040"/>
          </a:xfrm>
          <a:prstGeom prst="rect">
            <a:avLst/>
          </a:prstGeom>
          <a:noFill/>
          <a:ln/>
        </p:spPr>
        <p:txBody>
          <a:bodyPr wrap="square" lIns="0" tIns="0" rIns="0" bIns="0" rtlCol="0" anchor="ctr"/>
          <a:lstStyle/>
          <a:p>
            <a:pPr marL="0" indent="0">
              <a:buNone/>
            </a:pPr>
            <a:r>
              <a:rPr lang="en-US" sz="1250" i="1" dirty="0">
                <a:solidFill>
                  <a:srgbClr val="6B7F70"/>
                </a:solidFill>
              </a:rPr>
              <a:t>Phases run in sequence; no completion dates are fixed at Review 1.</a:t>
            </a:r>
            <a:endParaRPr lang="en-US" sz="1250" dirty="0"/>
          </a:p>
        </p:txBody>
      </p:sp>
      <p:sp>
        <p:nvSpPr>
          <p:cNvPr id="44" name="Shape 42"/>
          <p:cNvSpPr/>
          <p:nvPr/>
        </p:nvSpPr>
        <p:spPr>
          <a:xfrm>
            <a:off x="457200" y="5669280"/>
            <a:ext cx="11274552" cy="685800"/>
          </a:xfrm>
          <a:prstGeom prst="roundRect">
            <a:avLst>
              <a:gd name="adj" fmla="val 10667"/>
            </a:avLst>
          </a:prstGeom>
          <a:solidFill>
            <a:srgbClr val="EAF6EC"/>
          </a:solidFill>
          <a:ln w="12700">
            <a:solidFill>
              <a:srgbClr val="2E7D32"/>
            </a:solidFill>
            <a:prstDash val="solid"/>
          </a:ln>
        </p:spPr>
      </p:sp>
      <p:sp>
        <p:nvSpPr>
          <p:cNvPr id="45" name="Text 43"/>
          <p:cNvSpPr txBox="1"/>
          <p:nvPr/>
        </p:nvSpPr>
        <p:spPr>
          <a:xfrm>
            <a:off x="685800" y="5687568"/>
            <a:ext cx="10789920" cy="640080"/>
          </a:xfrm>
          <a:prstGeom prst="rect">
            <a:avLst/>
          </a:prstGeom>
          <a:noFill/>
          <a:ln/>
        </p:spPr>
        <p:txBody>
          <a:bodyPr wrap="square" lIns="0" tIns="0" rIns="0" bIns="0" rtlCol="0" anchor="ctr"/>
          <a:lstStyle/>
          <a:p>
            <a:pPr marL="0" indent="0">
              <a:buNone/>
            </a:pPr>
            <a:r>
              <a:rPr lang="en-US" sz="1500" b="1" dirty="0">
                <a:solidFill>
                  <a:srgbClr val="14532D"/>
                </a:solidFill>
              </a:rPr>
              <a:t>Feasible as a student prototype with the listed components and free software tools.</a:t>
            </a:r>
            <a:endParaRPr lang="en-US" sz="1500" dirty="0"/>
          </a:p>
        </p:txBody>
      </p:sp>
      <p:sp>
        <p:nvSpPr>
          <p:cNvPr id="46" name="Slide Number Placeholder 0"/>
          <p:cNvSpPr>
            <a:spLocks noGrp="1"/>
          </p:cNvSpPr>
          <p:nvPr>
            <p:ph type="sldNum" sz="quarter" idx="4294967295"/>
          </p:nvPr>
        </p:nvSpPr>
        <p:spPr>
          <a:xfrm>
            <a:off x="1115568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0"/>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4532D"/>
          </a:solidFill>
          <a:ln w="12700">
            <a:solidFill>
              <a:srgbClr val="14532D"/>
            </a:solidFill>
            <a:prstDash val="solid"/>
          </a:ln>
        </p:spPr>
      </p:sp>
      <p:sp>
        <p:nvSpPr>
          <p:cNvPr id="3" name="Shape 1"/>
          <p:cNvSpPr/>
          <p:nvPr/>
        </p:nvSpPr>
        <p:spPr>
          <a:xfrm>
            <a:off x="0" y="914400"/>
            <a:ext cx="12188952" cy="54864"/>
          </a:xfrm>
          <a:prstGeom prst="rect">
            <a:avLst/>
          </a:prstGeom>
          <a:solidFill>
            <a:srgbClr val="0EA5E9"/>
          </a:solidFill>
          <a:ln w="12700">
            <a:solidFill>
              <a:srgbClr val="0EA5E9"/>
            </a:solidFill>
            <a:prstDash val="solid"/>
          </a:ln>
        </p:spPr>
      </p:sp>
      <p:sp>
        <p:nvSpPr>
          <p:cNvPr id="4" name="Text 2"/>
          <p:cNvSpPr txBox="1"/>
          <p:nvPr/>
        </p:nvSpPr>
        <p:spPr>
          <a:xfrm>
            <a:off x="457200" y="109728"/>
            <a:ext cx="8503920" cy="694944"/>
          </a:xfrm>
          <a:prstGeom prst="rect">
            <a:avLst/>
          </a:prstGeom>
          <a:noFill/>
          <a:ln/>
        </p:spPr>
        <p:txBody>
          <a:bodyPr wrap="square" lIns="0" tIns="0" rIns="0" bIns="0" rtlCol="0" anchor="ctr"/>
          <a:lstStyle/>
          <a:p>
            <a:pPr marL="0" indent="0">
              <a:buNone/>
            </a:pPr>
            <a:r>
              <a:rPr lang="en-US" sz="2800" b="1" dirty="0">
                <a:solidFill>
                  <a:srgbClr val="FFFFFF"/>
                </a:solidFill>
              </a:rPr>
              <a:t>Impact, Future Scope and Conclusion</a:t>
            </a:r>
            <a:endParaRPr lang="en-US" sz="2800" dirty="0"/>
          </a:p>
        </p:txBody>
      </p:sp>
      <p:sp>
        <p:nvSpPr>
          <p:cNvPr id="5" name="Text 3"/>
          <p:cNvSpPr txBox="1"/>
          <p:nvPr/>
        </p:nvSpPr>
        <p:spPr>
          <a:xfrm>
            <a:off x="8778240" y="109728"/>
            <a:ext cx="2971800" cy="694944"/>
          </a:xfrm>
          <a:prstGeom prst="rect">
            <a:avLst/>
          </a:prstGeom>
          <a:noFill/>
          <a:ln/>
        </p:spPr>
        <p:txBody>
          <a:bodyPr wrap="square" lIns="0" tIns="0" rIns="0" bIns="0" rtlCol="0" anchor="ctr"/>
          <a:lstStyle/>
          <a:p>
            <a:pPr marL="0" indent="0" algn="r">
              <a:buNone/>
            </a:pPr>
            <a:r>
              <a:rPr lang="en-US" sz="1200" dirty="0">
                <a:solidFill>
                  <a:srgbClr val="A7E3B0"/>
                </a:solidFill>
              </a:rPr>
              <a:t>Impact</a:t>
            </a:r>
            <a:endParaRPr lang="en-US" sz="1200" dirty="0"/>
          </a:p>
        </p:txBody>
      </p:sp>
      <p:sp>
        <p:nvSpPr>
          <p:cNvPr id="6" name="Text 4"/>
          <p:cNvSpPr txBox="1"/>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F70"/>
                </a:solidFill>
              </a:rPr>
              <a:t>AIBOTS-2026 Hackathon | Review 1</a:t>
            </a:r>
            <a:endParaRPr lang="en-US" sz="1000" dirty="0"/>
          </a:p>
        </p:txBody>
      </p:sp>
      <p:sp>
        <p:nvSpPr>
          <p:cNvPr id="7" name="Text 5"/>
          <p:cNvSpPr txBox="1"/>
          <p:nvPr/>
        </p:nvSpPr>
        <p:spPr>
          <a:xfrm>
            <a:off x="457200" y="1143000"/>
            <a:ext cx="5486400" cy="365760"/>
          </a:xfrm>
          <a:prstGeom prst="rect">
            <a:avLst/>
          </a:prstGeom>
          <a:noFill/>
          <a:ln/>
        </p:spPr>
        <p:txBody>
          <a:bodyPr wrap="square" lIns="0" tIns="0" rIns="0" bIns="0" rtlCol="0" anchor="ctr"/>
          <a:lstStyle/>
          <a:p>
            <a:pPr marL="0" indent="0">
              <a:buNone/>
            </a:pPr>
            <a:r>
              <a:rPr lang="en-US" sz="1800" b="1" dirty="0">
                <a:solidFill>
                  <a:srgbClr val="14532D"/>
                </a:solidFill>
              </a:rPr>
              <a:t>Expected benefits</a:t>
            </a:r>
            <a:endParaRPr lang="en-US" sz="1800" dirty="0"/>
          </a:p>
        </p:txBody>
      </p:sp>
      <p:sp>
        <p:nvSpPr>
          <p:cNvPr id="8" name="Text 6"/>
          <p:cNvSpPr txBox="1"/>
          <p:nvPr/>
        </p:nvSpPr>
        <p:spPr>
          <a:xfrm>
            <a:off x="457200" y="1600200"/>
            <a:ext cx="5303520" cy="2926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B1F"/>
                </a:solidFill>
              </a:rPr>
              <a:t>Better-informed irrigation decisions</a:t>
            </a:r>
            <a:endParaRPr lang="en-US" sz="1500" dirty="0"/>
          </a:p>
          <a:p>
            <a:pPr marL="342900" indent="-342900">
              <a:spcAft>
                <a:spcPts val="600"/>
              </a:spcAft>
              <a:buSzPct val="100000"/>
              <a:buChar char="•"/>
            </a:pPr>
            <a:r>
              <a:rPr lang="en-US" sz="1500" dirty="0">
                <a:solidFill>
                  <a:srgbClr val="1B2B1F"/>
                </a:solidFill>
              </a:rPr>
              <a:t>Potential reduction in unnecessary watering</a:t>
            </a:r>
            <a:endParaRPr lang="en-US" sz="1500" dirty="0"/>
          </a:p>
          <a:p>
            <a:pPr marL="342900" indent="-342900">
              <a:spcAft>
                <a:spcPts val="600"/>
              </a:spcAft>
              <a:buSzPct val="100000"/>
              <a:buChar char="•"/>
            </a:pPr>
            <a:r>
              <a:rPr lang="en-US" sz="1500" dirty="0">
                <a:solidFill>
                  <a:srgbClr val="1B2B1F"/>
                </a:solidFill>
              </a:rPr>
              <a:t>Real soil readings combined with weather information</a:t>
            </a:r>
            <a:endParaRPr lang="en-US" sz="1500" dirty="0"/>
          </a:p>
          <a:p>
            <a:pPr marL="342900" indent="-342900">
              <a:spcAft>
                <a:spcPts val="600"/>
              </a:spcAft>
              <a:buSzPct val="100000"/>
              <a:buChar char="•"/>
            </a:pPr>
            <a:r>
              <a:rPr lang="en-US" sz="1500" dirty="0">
                <a:solidFill>
                  <a:srgbClr val="1B2B1F"/>
                </a:solidFill>
              </a:rPr>
              <a:t>Affordable prototyping</a:t>
            </a:r>
            <a:endParaRPr lang="en-US" sz="1500" dirty="0"/>
          </a:p>
          <a:p>
            <a:pPr marL="342900" indent="-342900">
              <a:spcAft>
                <a:spcPts val="600"/>
              </a:spcAft>
              <a:buSzPct val="100000"/>
              <a:buChar char="•"/>
            </a:pPr>
            <a:r>
              <a:rPr lang="en-US" sz="1500" dirty="0">
                <a:solidFill>
                  <a:srgbClr val="1B2B1F"/>
                </a:solidFill>
              </a:rPr>
              <a:t>Greater awareness of water-efficient practices</a:t>
            </a:r>
            <a:endParaRPr lang="en-US" sz="1500" dirty="0"/>
          </a:p>
        </p:txBody>
      </p:sp>
      <p:sp>
        <p:nvSpPr>
          <p:cNvPr id="9" name="Text 7"/>
          <p:cNvSpPr txBox="1"/>
          <p:nvPr/>
        </p:nvSpPr>
        <p:spPr>
          <a:xfrm>
            <a:off x="6126480" y="1143000"/>
            <a:ext cx="5486400" cy="365760"/>
          </a:xfrm>
          <a:prstGeom prst="rect">
            <a:avLst/>
          </a:prstGeom>
          <a:noFill/>
          <a:ln/>
        </p:spPr>
        <p:txBody>
          <a:bodyPr wrap="square" lIns="0" tIns="0" rIns="0" bIns="0" rtlCol="0" anchor="ctr"/>
          <a:lstStyle/>
          <a:p>
            <a:pPr marL="0" indent="0">
              <a:buNone/>
            </a:pPr>
            <a:r>
              <a:rPr lang="en-US" sz="1800" b="1" dirty="0">
                <a:solidFill>
                  <a:srgbClr val="1565C0"/>
                </a:solidFill>
              </a:rPr>
              <a:t>Future enhancements (proposed)</a:t>
            </a:r>
            <a:endParaRPr lang="en-US" sz="1800" dirty="0"/>
          </a:p>
        </p:txBody>
      </p:sp>
      <p:sp>
        <p:nvSpPr>
          <p:cNvPr id="10" name="Text 8"/>
          <p:cNvSpPr/>
          <p:nvPr/>
        </p:nvSpPr>
        <p:spPr>
          <a:xfrm>
            <a:off x="6126480" y="1600200"/>
            <a:ext cx="2697480" cy="658368"/>
          </a:xfrm>
          <a:prstGeom prst="roundRect">
            <a:avLst>
              <a:gd name="adj" fmla="val 11111"/>
            </a:avLst>
          </a:prstGeom>
          <a:solidFill>
            <a:srgbClr val="E3F4FD"/>
          </a:solidFill>
          <a:ln w="15875">
            <a:solidFill>
              <a:srgbClr val="0EA5E9"/>
            </a:solidFill>
          </a:ln>
        </p:spPr>
        <p:txBody>
          <a:bodyPr wrap="square" lIns="1016" tIns="1016" rIns="1016" bIns="1016" rtlCol="0" anchor="ctr"/>
          <a:lstStyle/>
          <a:p>
            <a:pPr marL="0" indent="0" algn="ctr">
              <a:buNone/>
            </a:pPr>
            <a:r>
              <a:rPr lang="en-US" sz="1150" dirty="0">
                <a:solidFill>
                  <a:srgbClr val="1B2B1F"/>
                </a:solidFill>
              </a:rPr>
              <a:t>Water pump and relay for automatic irrigation</a:t>
            </a:r>
            <a:endParaRPr lang="en-US" sz="1150" dirty="0"/>
          </a:p>
        </p:txBody>
      </p:sp>
      <p:sp>
        <p:nvSpPr>
          <p:cNvPr id="11" name="Text 9"/>
          <p:cNvSpPr/>
          <p:nvPr/>
        </p:nvSpPr>
        <p:spPr>
          <a:xfrm>
            <a:off x="8961120" y="1600200"/>
            <a:ext cx="2697480" cy="658368"/>
          </a:xfrm>
          <a:prstGeom prst="roundRect">
            <a:avLst>
              <a:gd name="adj" fmla="val 11111"/>
            </a:avLst>
          </a:prstGeom>
          <a:solidFill>
            <a:srgbClr val="E3F4FD"/>
          </a:solidFill>
          <a:ln w="15875">
            <a:solidFill>
              <a:srgbClr val="0EA5E9"/>
            </a:solidFill>
          </a:ln>
        </p:spPr>
        <p:txBody>
          <a:bodyPr wrap="square" lIns="1016" tIns="1016" rIns="1016" bIns="1016" rtlCol="0" anchor="ctr"/>
          <a:lstStyle/>
          <a:p>
            <a:pPr marL="0" indent="0" algn="ctr">
              <a:buNone/>
            </a:pPr>
            <a:r>
              <a:rPr lang="en-US" sz="1150" dirty="0">
                <a:solidFill>
                  <a:srgbClr val="1B2B1F"/>
                </a:solidFill>
              </a:rPr>
              <a:t>Crop-specific recommendations</a:t>
            </a:r>
            <a:endParaRPr lang="en-US" sz="1150" dirty="0"/>
          </a:p>
        </p:txBody>
      </p:sp>
      <p:sp>
        <p:nvSpPr>
          <p:cNvPr id="12" name="Text 10"/>
          <p:cNvSpPr/>
          <p:nvPr/>
        </p:nvSpPr>
        <p:spPr>
          <a:xfrm>
            <a:off x="6126480" y="2377440"/>
            <a:ext cx="2697480" cy="658368"/>
          </a:xfrm>
          <a:prstGeom prst="roundRect">
            <a:avLst>
              <a:gd name="adj" fmla="val 11111"/>
            </a:avLst>
          </a:prstGeom>
          <a:solidFill>
            <a:srgbClr val="E3F4FD"/>
          </a:solidFill>
          <a:ln w="15875">
            <a:solidFill>
              <a:srgbClr val="0EA5E9"/>
            </a:solidFill>
          </a:ln>
        </p:spPr>
        <p:txBody>
          <a:bodyPr wrap="square" lIns="1016" tIns="1016" rIns="1016" bIns="1016" rtlCol="0" anchor="ctr"/>
          <a:lstStyle/>
          <a:p>
            <a:pPr marL="0" indent="0" algn="ctr">
              <a:buNone/>
            </a:pPr>
            <a:r>
              <a:rPr lang="en-US" sz="1150" dirty="0">
                <a:solidFill>
                  <a:srgbClr val="1B2B1F"/>
                </a:solidFill>
              </a:rPr>
              <a:t>Better evapotranspiration estimation</a:t>
            </a:r>
            <a:endParaRPr lang="en-US" sz="1150" dirty="0"/>
          </a:p>
        </p:txBody>
      </p:sp>
      <p:sp>
        <p:nvSpPr>
          <p:cNvPr id="13" name="Text 11"/>
          <p:cNvSpPr/>
          <p:nvPr/>
        </p:nvSpPr>
        <p:spPr>
          <a:xfrm>
            <a:off x="8961120" y="2377440"/>
            <a:ext cx="2697480" cy="658368"/>
          </a:xfrm>
          <a:prstGeom prst="roundRect">
            <a:avLst>
              <a:gd name="adj" fmla="val 11111"/>
            </a:avLst>
          </a:prstGeom>
          <a:solidFill>
            <a:srgbClr val="E3F4FD"/>
          </a:solidFill>
          <a:ln w="15875">
            <a:solidFill>
              <a:srgbClr val="0EA5E9"/>
            </a:solidFill>
          </a:ln>
        </p:spPr>
        <p:txBody>
          <a:bodyPr wrap="square" lIns="1016" tIns="1016" rIns="1016" bIns="1016" rtlCol="0" anchor="ctr"/>
          <a:lstStyle/>
          <a:p>
            <a:pPr marL="0" indent="0" algn="ctr">
              <a:buNone/>
            </a:pPr>
            <a:r>
              <a:rPr lang="en-US" sz="1150" dirty="0">
                <a:solidFill>
                  <a:srgbClr val="1B2B1F"/>
                </a:solidFill>
              </a:rPr>
              <a:t>Long-term sensor data analysis</a:t>
            </a:r>
            <a:endParaRPr lang="en-US" sz="1150" dirty="0"/>
          </a:p>
        </p:txBody>
      </p:sp>
      <p:sp>
        <p:nvSpPr>
          <p:cNvPr id="14" name="Text 12"/>
          <p:cNvSpPr/>
          <p:nvPr/>
        </p:nvSpPr>
        <p:spPr>
          <a:xfrm>
            <a:off x="6126480" y="3154680"/>
            <a:ext cx="2697480" cy="658368"/>
          </a:xfrm>
          <a:prstGeom prst="roundRect">
            <a:avLst>
              <a:gd name="adj" fmla="val 11111"/>
            </a:avLst>
          </a:prstGeom>
          <a:solidFill>
            <a:srgbClr val="E3F4FD"/>
          </a:solidFill>
          <a:ln w="15875">
            <a:solidFill>
              <a:srgbClr val="0EA5E9"/>
            </a:solidFill>
          </a:ln>
        </p:spPr>
        <p:txBody>
          <a:bodyPr wrap="square" lIns="1016" tIns="1016" rIns="1016" bIns="1016" rtlCol="0" anchor="ctr"/>
          <a:lstStyle/>
          <a:p>
            <a:pPr marL="0" indent="0" algn="ctr">
              <a:buNone/>
            </a:pPr>
            <a:r>
              <a:rPr lang="en-US" sz="1150" dirty="0">
                <a:solidFill>
                  <a:srgbClr val="1B2B1F"/>
                </a:solidFill>
              </a:rPr>
              <a:t>Regional language support</a:t>
            </a:r>
            <a:endParaRPr lang="en-US" sz="1150" dirty="0"/>
          </a:p>
        </p:txBody>
      </p:sp>
      <p:sp>
        <p:nvSpPr>
          <p:cNvPr id="15" name="Text 13"/>
          <p:cNvSpPr/>
          <p:nvPr/>
        </p:nvSpPr>
        <p:spPr>
          <a:xfrm>
            <a:off x="8961120" y="3154680"/>
            <a:ext cx="2697480" cy="658368"/>
          </a:xfrm>
          <a:prstGeom prst="roundRect">
            <a:avLst>
              <a:gd name="adj" fmla="val 11111"/>
            </a:avLst>
          </a:prstGeom>
          <a:solidFill>
            <a:srgbClr val="E3F4FD"/>
          </a:solidFill>
          <a:ln w="15875">
            <a:solidFill>
              <a:srgbClr val="0EA5E9"/>
            </a:solidFill>
          </a:ln>
        </p:spPr>
        <p:txBody>
          <a:bodyPr wrap="square" lIns="1016" tIns="1016" rIns="1016" bIns="1016" rtlCol="0" anchor="ctr"/>
          <a:lstStyle/>
          <a:p>
            <a:pPr marL="0" indent="0" algn="ctr">
              <a:buNone/>
            </a:pPr>
            <a:r>
              <a:rPr lang="en-US" sz="1150" dirty="0">
                <a:solidFill>
                  <a:srgbClr val="1B2B1F"/>
                </a:solidFill>
              </a:rPr>
              <a:t>Mobile notifications</a:t>
            </a:r>
            <a:endParaRPr lang="en-US" sz="1150" dirty="0"/>
          </a:p>
        </p:txBody>
      </p:sp>
      <p:sp>
        <p:nvSpPr>
          <p:cNvPr id="16" name="Text 14"/>
          <p:cNvSpPr/>
          <p:nvPr/>
        </p:nvSpPr>
        <p:spPr>
          <a:xfrm>
            <a:off x="6126480" y="3931920"/>
            <a:ext cx="2697480" cy="658368"/>
          </a:xfrm>
          <a:prstGeom prst="roundRect">
            <a:avLst>
              <a:gd name="adj" fmla="val 11111"/>
            </a:avLst>
          </a:prstGeom>
          <a:solidFill>
            <a:srgbClr val="E3F4FD"/>
          </a:solidFill>
          <a:ln w="15875">
            <a:solidFill>
              <a:srgbClr val="0EA5E9"/>
            </a:solidFill>
          </a:ln>
        </p:spPr>
        <p:txBody>
          <a:bodyPr wrap="square" lIns="1016" tIns="1016" rIns="1016" bIns="1016" rtlCol="0" anchor="ctr"/>
          <a:lstStyle/>
          <a:p>
            <a:pPr marL="0" indent="0" algn="ctr">
              <a:buNone/>
            </a:pPr>
            <a:r>
              <a:rPr lang="en-US" sz="1150" dirty="0">
                <a:solidFill>
                  <a:srgbClr val="1B2B1F"/>
                </a:solidFill>
              </a:rPr>
              <a:t>Machine learning with labeled data</a:t>
            </a:r>
            <a:endParaRPr lang="en-US" sz="1150" dirty="0"/>
          </a:p>
        </p:txBody>
      </p:sp>
      <p:sp>
        <p:nvSpPr>
          <p:cNvPr id="17" name="Text 15"/>
          <p:cNvSpPr/>
          <p:nvPr/>
        </p:nvSpPr>
        <p:spPr>
          <a:xfrm>
            <a:off x="8961120" y="3931920"/>
            <a:ext cx="2697480" cy="658368"/>
          </a:xfrm>
          <a:prstGeom prst="roundRect">
            <a:avLst>
              <a:gd name="adj" fmla="val 11111"/>
            </a:avLst>
          </a:prstGeom>
          <a:solidFill>
            <a:srgbClr val="E3F4FD"/>
          </a:solidFill>
          <a:ln w="15875">
            <a:solidFill>
              <a:srgbClr val="0EA5E9"/>
            </a:solidFill>
          </a:ln>
        </p:spPr>
        <p:txBody>
          <a:bodyPr wrap="square" lIns="1016" tIns="1016" rIns="1016" bIns="1016" rtlCol="0" anchor="ctr"/>
          <a:lstStyle/>
          <a:p>
            <a:pPr marL="0" indent="0" algn="ctr">
              <a:buNone/>
            </a:pPr>
            <a:r>
              <a:rPr lang="en-US" sz="1150" dirty="0">
                <a:solidFill>
                  <a:srgbClr val="1B2B1F"/>
                </a:solidFill>
              </a:rPr>
              <a:t>Additional sensors if required</a:t>
            </a:r>
            <a:endParaRPr lang="en-US" sz="1150" dirty="0"/>
          </a:p>
        </p:txBody>
      </p:sp>
      <p:sp>
        <p:nvSpPr>
          <p:cNvPr id="18" name="Text 16"/>
          <p:cNvSpPr txBox="1"/>
          <p:nvPr/>
        </p:nvSpPr>
        <p:spPr>
          <a:xfrm>
            <a:off x="457200" y="4709160"/>
            <a:ext cx="11247120" cy="365760"/>
          </a:xfrm>
          <a:prstGeom prst="rect">
            <a:avLst/>
          </a:prstGeom>
          <a:noFill/>
          <a:ln/>
        </p:spPr>
        <p:txBody>
          <a:bodyPr wrap="square" lIns="0" tIns="0" rIns="0" bIns="0" rtlCol="0" anchor="ctr"/>
          <a:lstStyle/>
          <a:p>
            <a:pPr marL="0" indent="0">
              <a:buNone/>
            </a:pPr>
            <a:r>
              <a:rPr lang="en-US" sz="1300" b="1" dirty="0">
                <a:solidFill>
                  <a:srgbClr val="B45309"/>
                </a:solidFill>
              </a:rPr>
              <a:t>Automatic pump control is future scope; it needs a pump or valve, relay and safety circuitry.</a:t>
            </a:r>
            <a:endParaRPr lang="en-US" sz="1300" dirty="0"/>
          </a:p>
        </p:txBody>
      </p:sp>
      <p:sp>
        <p:nvSpPr>
          <p:cNvPr id="19" name="Shape 17"/>
          <p:cNvSpPr/>
          <p:nvPr/>
        </p:nvSpPr>
        <p:spPr>
          <a:xfrm>
            <a:off x="457200" y="5212080"/>
            <a:ext cx="11274552" cy="1097280"/>
          </a:xfrm>
          <a:prstGeom prst="roundRect">
            <a:avLst>
              <a:gd name="adj" fmla="val 8333"/>
            </a:avLst>
          </a:prstGeom>
          <a:solidFill>
            <a:srgbClr val="14532D"/>
          </a:solidFill>
          <a:ln w="12700">
            <a:solidFill>
              <a:srgbClr val="14532D"/>
            </a:solidFill>
            <a:prstDash val="solid"/>
          </a:ln>
        </p:spPr>
      </p:sp>
      <p:sp>
        <p:nvSpPr>
          <p:cNvPr id="20" name="Text 18"/>
          <p:cNvSpPr txBox="1"/>
          <p:nvPr/>
        </p:nvSpPr>
        <p:spPr>
          <a:xfrm>
            <a:off x="731520" y="5230368"/>
            <a:ext cx="10789920" cy="1051560"/>
          </a:xfrm>
          <a:prstGeom prst="rect">
            <a:avLst/>
          </a:prstGeom>
          <a:noFill/>
          <a:ln/>
        </p:spPr>
        <p:txBody>
          <a:bodyPr wrap="square" lIns="0" tIns="0" rIns="0" bIns="0" rtlCol="0" anchor="ctr"/>
          <a:lstStyle/>
          <a:p>
            <a:pPr marL="0" indent="0" algn="ctr">
              <a:spcAft>
                <a:spcPts val="300"/>
              </a:spcAft>
              <a:buNone/>
            </a:pPr>
            <a:r>
              <a:rPr lang="en-US" sz="2000" b="1" dirty="0">
                <a:solidFill>
                  <a:srgbClr val="FFFFFF"/>
                </a:solidFill>
              </a:rPr>
              <a:t>Smarter Irrigation Starts with Better Information.</a:t>
            </a:r>
            <a:endParaRPr lang="en-US" sz="2000" dirty="0"/>
          </a:p>
          <a:p>
            <a:pPr marL="0" indent="0" algn="ctr">
              <a:spcAft>
                <a:spcPts val="300"/>
              </a:spcAft>
              <a:buNone/>
            </a:pPr>
            <a:r>
              <a:rPr lang="en-US" sz="1800" b="1" dirty="0">
                <a:solidFill>
                  <a:srgbClr val="7DD3FC"/>
                </a:solidFill>
              </a:rPr>
              <a:t>Thank You — Questions?</a:t>
            </a:r>
            <a:endParaRPr lang="en-US" sz="2000" dirty="0"/>
          </a:p>
        </p:txBody>
      </p:sp>
      <p:sp>
        <p:nvSpPr>
          <p:cNvPr id="25" name="Slide Number Placeholder 0"/>
          <p:cNvSpPr>
            <a:spLocks noGrp="1"/>
          </p:cNvSpPr>
          <p:nvPr>
            <p:ph type="sldNum" sz="quarter" idx="4294967295"/>
          </p:nvPr>
        </p:nvSpPr>
        <p:spPr>
          <a:xfrm>
            <a:off x="1115568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0"/>
                </a:solidFil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AgriWater">
  <a:themeElements>
    <a:clrScheme name="AgriWater">
      <a:dk1>
        <a:srgbClr val="1B2B1F"/>
      </a:dk1>
      <a:lt1>
        <a:srgbClr val="FFFFFF"/>
      </a:lt1>
      <a:dk2>
        <a:srgbClr val="14532D"/>
      </a:dk2>
      <a:lt2>
        <a:srgbClr val="EAF6EC"/>
      </a:lt2>
      <a:accent1>
        <a:srgbClr val="2E7D32"/>
      </a:accent1>
      <a:accent2>
        <a:srgbClr val="0EA5E9"/>
      </a:accent2>
      <a:accent3>
        <a:srgbClr val="66BB6A"/>
      </a:accent3>
      <a:accent4>
        <a:srgbClr val="1565C0"/>
      </a:accent4>
      <a:accent5>
        <a:srgbClr val="F9A825"/>
      </a:accent5>
      <a:accent6>
        <a:srgbClr val="90A4AE"/>
      </a:accent6>
      <a:hlink>
        <a:srgbClr val="1565C0"/>
      </a:hlink>
      <a:folHlink>
        <a:srgbClr val="6A1B9A"/>
      </a:folHlink>
    </a:clrScheme>
    <a:fontScheme name="AgriWat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2372</Words>
  <Application>Microsoft Office PowerPoint</Application>
  <PresentationFormat>Widescreen</PresentationFormat>
  <Paragraphs>302</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AgriWater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Irrigation System Using IoT, Weather API, and Predictive Analytics</dc:title>
  <dc:subject>PptxGenJS Presentation</dc:subject>
  <dc:creator>PptxGenJS</dc:creator>
  <cp:lastModifiedBy>Sayak Dara</cp:lastModifiedBy>
  <cp:revision>1</cp:revision>
  <dcterms:created xsi:type="dcterms:W3CDTF">2026-10-16T08:48:46Z</dcterms:created>
  <dcterms:modified xsi:type="dcterms:W3CDTF">2026-10-23T17:14:27Z</dcterms:modified>
</cp:coreProperties>
</file>