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68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AquaBot: tool-using AI agent for irrigation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irrigation systems use fixed schedules without considering current soil conditions or upcoming rainfall. AquaBot combines soil moisture, weather information and water availability to recommend appropriate irrigation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 threshold-based system, AquaBot is a tool-using AI agent. Moisture and water values shown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sensor -&gt; ESP32 -&gt; backend -&gt; data sources -&gt; irrigation engine -&gt; AI agent -&gt; React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1: demo the React dashboard with simulated readings. Clearly label simulated data; separate planned hardware integration from completed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Staged build so we always have a working demonstration. Stage 7 hardware is conditional.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test scenarios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which items are simulated or planned versus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7D9B5"/>
                </a:solidFill>
              </a:rPr>
              <a:t>AGRICULTURE  |  AI + IoT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 </a:t>
            </a:r>
            <a:r>
              <a:rPr lang="en-US" sz="5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rakshak</a:t>
            </a: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EFE5"/>
                </a:solidFill>
              </a:rPr>
              <a:t>An AI-powered irrigation assistant that decides when to water, and explains why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7D9B5"/>
                </a:solidFill>
              </a:rPr>
              <a:t>Review 1  |  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 &amp; Relevance</a:t>
            </a:r>
            <a:endParaRPr lang="en-US" sz="3000" dirty="0"/>
          </a:p>
        </p:txBody>
      </p:sp>
      <p:pic>
        <p:nvPicPr>
          <p:cNvPr id="3" name="soil illustration" descr="so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3566160" cy="2532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30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F6B5C"/>
                </a:solidFill>
              </a:rPr>
              <a:t>Illustration: soil sensor reading moisture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38912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D9C6B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81C"/>
                </a:solidFill>
              </a:rPr>
              <a:t>Irrigation often runs on fixed schedules or manual observation, causing unnecessary water use, delayed watering and inefficient resource management.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D9C6B"/>
                </a:solidFill>
              </a:rPr>
              <a:t>Why it matters in agriculture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8803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0281C"/>
                </a:solidFill>
              </a:rPr>
              <a:t>Reduces unnecessary watering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0281C"/>
                </a:solidFill>
              </a:rPr>
              <a:t>Supports more informed irrigation decisions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0281C"/>
                </a:solidFill>
              </a:rPr>
              <a:t>Checks the weather before recommending irrigation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0281C"/>
                </a:solidFill>
              </a:rPr>
              <a:t>Helps farmers monitor their fields</a:t>
            </a:r>
            <a:endParaRPr lang="en-US" sz="1400" dirty="0"/>
          </a:p>
        </p:txBody>
      </p:sp>
      <p:sp>
        <p:nvSpPr>
          <p:cNvPr id="9" name="summary card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4332"/>
                </a:solidFill>
              </a:rPr>
              <a:t>Combines soil moisture, weather and water availability to recommend appropriate irrigation actions.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Jal Rakshak Different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F6B5C"/>
                </a:solidFill>
              </a:rPr>
              <a:t>More than a dashboard: a tool-using AI agent that gathers data, evaluates conditions and explains its recommendation.</a:t>
            </a:r>
            <a:endParaRPr lang="en-US" sz="1500" dirty="0"/>
          </a:p>
        </p:txBody>
      </p:sp>
      <p:sp>
        <p:nvSpPr>
          <p:cNvPr id="4" name="stat card"/>
          <p:cNvSpPr/>
          <p:nvPr/>
        </p:nvSpPr>
        <p:spPr>
          <a:xfrm>
            <a:off x="457200" y="1600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9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81C"/>
                </a:solidFill>
              </a:rPr>
              <a:t>Soil moisture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6B5C"/>
                </a:solidFill>
              </a:rPr>
              <a:t>simulated reading</a:t>
            </a:r>
            <a:endParaRPr lang="en-US" sz="1100" dirty="0"/>
          </a:p>
        </p:txBody>
      </p:sp>
      <p:sp>
        <p:nvSpPr>
          <p:cNvPr id="8" name="stat card"/>
          <p:cNvSpPr/>
          <p:nvPr/>
        </p:nvSpPr>
        <p:spPr>
          <a:xfrm>
            <a:off x="2651760" y="1600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1691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81C"/>
                </a:solidFill>
              </a:rPr>
              <a:t>Water availability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6B5C"/>
                </a:solidFill>
              </a:rPr>
              <a:t>simulated reading</a:t>
            </a:r>
            <a:endParaRPr lang="en-US" sz="1100" dirty="0"/>
          </a:p>
        </p:txBody>
      </p:sp>
      <p:sp>
        <p:nvSpPr>
          <p:cNvPr id="12" name="stat card"/>
          <p:cNvSpPr/>
          <p:nvPr/>
        </p:nvSpPr>
        <p:spPr>
          <a:xfrm>
            <a:off x="4846320" y="1600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1691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81C"/>
                </a:solidFill>
              </a:rPr>
              <a:t>Forecast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6B5C"/>
                </a:solidFill>
              </a:rPr>
              <a:t>from weather service</a:t>
            </a:r>
            <a:endParaRPr lang="en-US" sz="1100" dirty="0"/>
          </a:p>
        </p:txBody>
      </p:sp>
      <p:sp>
        <p:nvSpPr>
          <p:cNvPr id="16" name="decision card"/>
          <p:cNvSpPr/>
          <p:nvPr/>
        </p:nvSpPr>
        <p:spPr>
          <a:xfrm>
            <a:off x="7040880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408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D9B5"/>
                </a:solidFill>
              </a:rPr>
              <a:t>Agent decision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057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Delay irrigation? Rain is expected</a:t>
            </a:r>
            <a:endParaRPr lang="en-US" sz="1400" dirty="0"/>
          </a:p>
        </p:txBody>
      </p:sp>
      <p:sp>
        <p:nvSpPr>
          <p:cNvPr id="19" name="distinction card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310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5A00"/>
                </a:solidFill>
              </a:rPr>
              <a:t>Important distinction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81C"/>
                </a:solidFill>
              </a:rPr>
              <a:t>The LLM does not calculate the irrigation requirement. Reliable rule-based calculations and safety checks make the decision; the AI agent coordinates the analysis and explains the result in natural language. The modular design also lets us add real sensors and automated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flow box"/>
          <p:cNvSpPr/>
          <p:nvPr/>
        </p:nvSpPr>
        <p:spPr>
          <a:xfrm>
            <a:off x="365760" y="128016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Soil moisture sensor</a:t>
            </a:r>
            <a:endParaRPr lang="en-US" sz="1200" dirty="0"/>
          </a:p>
        </p:txBody>
      </p:sp>
      <p:sp>
        <p:nvSpPr>
          <p:cNvPr id="5" name="flow arrow"/>
          <p:cNvSpPr/>
          <p:nvPr/>
        </p:nvSpPr>
        <p:spPr>
          <a:xfrm>
            <a:off x="1737360" y="1645920"/>
            <a:ext cx="274320" cy="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6" name="flow box"/>
          <p:cNvSpPr/>
          <p:nvPr/>
        </p:nvSpPr>
        <p:spPr>
          <a:xfrm>
            <a:off x="2011680" y="128016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2D9C6B"/>
          </a:solidFill>
          <a:ln w="12700">
            <a:solidFill>
              <a:srgbClr val="2D9C6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011680" y="1280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 device</a:t>
            </a:r>
            <a:endParaRPr lang="en-US" sz="1200" dirty="0"/>
          </a:p>
        </p:txBody>
      </p:sp>
      <p:sp>
        <p:nvSpPr>
          <p:cNvPr id="8" name="flow arrow"/>
          <p:cNvSpPr/>
          <p:nvPr/>
        </p:nvSpPr>
        <p:spPr>
          <a:xfrm>
            <a:off x="3200400" y="1645920"/>
            <a:ext cx="274320" cy="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9" name="flow box"/>
          <p:cNvSpPr/>
          <p:nvPr/>
        </p:nvSpPr>
        <p:spPr>
          <a:xfrm>
            <a:off x="3474720" y="128016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747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server (FastAPI)</a:t>
            </a:r>
            <a:endParaRPr lang="en-US" sz="1200" dirty="0"/>
          </a:p>
        </p:txBody>
      </p:sp>
      <p:sp>
        <p:nvSpPr>
          <p:cNvPr id="11" name="flow arrow"/>
          <p:cNvSpPr/>
          <p:nvPr/>
        </p:nvSpPr>
        <p:spPr>
          <a:xfrm>
            <a:off x="4846320" y="1645920"/>
            <a:ext cx="274320" cy="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12" name="flow box"/>
          <p:cNvSpPr/>
          <p:nvPr/>
        </p:nvSpPr>
        <p:spPr>
          <a:xfrm>
            <a:off x="5120640" y="128016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F8FD6"/>
          </a:solidFill>
          <a:ln w="12700">
            <a:solidFill>
              <a:srgbClr val="1F8F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2064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Irrigation engine</a:t>
            </a:r>
            <a:endParaRPr lang="en-US" sz="1200" dirty="0"/>
          </a:p>
        </p:txBody>
      </p:sp>
      <p:sp>
        <p:nvSpPr>
          <p:cNvPr id="14" name="flow arrow"/>
          <p:cNvSpPr/>
          <p:nvPr/>
        </p:nvSpPr>
        <p:spPr>
          <a:xfrm>
            <a:off x="6492240" y="1645920"/>
            <a:ext cx="274320" cy="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15" name="flow box"/>
          <p:cNvSpPr/>
          <p:nvPr/>
        </p:nvSpPr>
        <p:spPr>
          <a:xfrm>
            <a:off x="6766560" y="1280160"/>
            <a:ext cx="914400" cy="731520"/>
          </a:xfrm>
          <a:prstGeom prst="roundRect">
            <a:avLst>
              <a:gd name="adj" fmla="val 12500"/>
            </a:avLst>
          </a:prstGeom>
          <a:solidFill>
            <a:srgbClr val="1F8FD6"/>
          </a:solidFill>
          <a:ln w="12700">
            <a:solidFill>
              <a:srgbClr val="1F8F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66560" y="1280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(Ollama)</a:t>
            </a:r>
            <a:endParaRPr lang="en-US" sz="1200" dirty="0"/>
          </a:p>
        </p:txBody>
      </p:sp>
      <p:sp>
        <p:nvSpPr>
          <p:cNvPr id="17" name="flow arrow"/>
          <p:cNvSpPr/>
          <p:nvPr/>
        </p:nvSpPr>
        <p:spPr>
          <a:xfrm>
            <a:off x="7680960" y="1645920"/>
            <a:ext cx="274320" cy="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18" name="flow box"/>
          <p:cNvSpPr/>
          <p:nvPr/>
        </p:nvSpPr>
        <p:spPr>
          <a:xfrm>
            <a:off x="7955280" y="128016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955280" y="12801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dashboard</a:t>
            </a:r>
            <a:endParaRPr lang="en-US" sz="1200" dirty="0"/>
          </a:p>
        </p:txBody>
      </p:sp>
      <p:sp>
        <p:nvSpPr>
          <p:cNvPr id="20" name="flow box"/>
          <p:cNvSpPr/>
          <p:nvPr/>
        </p:nvSpPr>
        <p:spPr>
          <a:xfrm>
            <a:off x="3017520" y="26517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017520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81C"/>
                </a:solidFill>
              </a:rPr>
              <a:t>Soil data</a:t>
            </a:r>
            <a:endParaRPr lang="en-US" sz="1200" dirty="0"/>
          </a:p>
        </p:txBody>
      </p:sp>
      <p:sp>
        <p:nvSpPr>
          <p:cNvPr id="22" name="flow box"/>
          <p:cNvSpPr/>
          <p:nvPr/>
        </p:nvSpPr>
        <p:spPr>
          <a:xfrm>
            <a:off x="4663440" y="26517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63440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81C"/>
                </a:solidFill>
              </a:rPr>
              <a:t>Weather service</a:t>
            </a:r>
            <a:endParaRPr lang="en-US" sz="1200" dirty="0"/>
          </a:p>
        </p:txBody>
      </p:sp>
      <p:sp>
        <p:nvSpPr>
          <p:cNvPr id="24" name="flow box"/>
          <p:cNvSpPr/>
          <p:nvPr/>
        </p:nvSpPr>
        <p:spPr>
          <a:xfrm>
            <a:off x="6309360" y="26517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09360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81C"/>
                </a:solidFill>
              </a:rPr>
              <a:t>Water level data</a:t>
            </a:r>
            <a:endParaRPr lang="en-US" sz="1200" dirty="0"/>
          </a:p>
        </p:txBody>
      </p:sp>
      <p:sp>
        <p:nvSpPr>
          <p:cNvPr id="26" name="flow arrow"/>
          <p:cNvSpPr/>
          <p:nvPr/>
        </p:nvSpPr>
        <p:spPr>
          <a:xfrm>
            <a:off x="3749040" y="2011680"/>
            <a:ext cx="365760" cy="64008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27" name="flow arrow"/>
          <p:cNvSpPr/>
          <p:nvPr/>
        </p:nvSpPr>
        <p:spPr>
          <a:xfrm>
            <a:off x="5394960" y="2011680"/>
            <a:ext cx="274320" cy="64008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28" name="flow arrow"/>
          <p:cNvSpPr/>
          <p:nvPr/>
        </p:nvSpPr>
        <p:spPr>
          <a:xfrm>
            <a:off x="6217920" y="2011680"/>
            <a:ext cx="822960" cy="640080"/>
          </a:xfrm>
          <a:prstGeom prst="line">
            <a:avLst/>
          </a:prstGeom>
          <a:noFill/>
          <a:ln w="19050">
            <a:solidFill>
              <a:srgbClr val="4F6B5C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0175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6B5C"/>
                </a:solidFill>
              </a:rPr>
              <a:t>Data inputs feed the backend and engine</a:t>
            </a:r>
            <a:endParaRPr lang="en-US" sz="1100" dirty="0"/>
          </a:p>
        </p:txBody>
      </p:sp>
      <p:pic>
        <p:nvPicPr>
          <p:cNvPr id="30" name="drip illustration" descr="dr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468880"/>
            <a:ext cx="2286000" cy="1069848"/>
          </a:xfrm>
          <a:prstGeom prst="rect">
            <a:avLst/>
          </a:prstGeom>
        </p:spPr>
      </p:pic>
      <p:sp>
        <p:nvSpPr>
          <p:cNvPr id="31" name="output card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Output: recommendation and history on the dashboard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4187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81C"/>
                </a:solidFill>
              </a:rPr>
              <a:t>Rules decide; the AI agent explains. Readings and recommendations are stored in SQLite.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186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React + Vite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Interactive dashboard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Python + FastAPI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API and application logic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AI model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Ollama + local LLM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Natural-language reasoning and explanations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Decision engine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Irrigation rules and calculations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Weather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Open-Meteo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Weather forecast information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SQLite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Store readings and recommendations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0281C"/>
                          </a:solidFill>
                        </a:rPr>
                        <a:t>Hardware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ESP32 + soil moisture sensor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Real soil measurements when available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Plan: Built in Stages</a:t>
            </a:r>
            <a:endParaRPr lang="en-US" sz="3000" dirty="0"/>
          </a:p>
        </p:txBody>
      </p:sp>
      <p:sp>
        <p:nvSpPr>
          <p:cNvPr id="3" name="stage card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tage number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2D9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Build React dashboard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Show soil moisture and water availability</a:t>
            </a:r>
            <a:endParaRPr lang="en-US" sz="1100" dirty="0"/>
          </a:p>
        </p:txBody>
      </p:sp>
      <p:sp>
        <p:nvSpPr>
          <p:cNvPr id="8" name="stage card"/>
          <p:cNvSpPr/>
          <p:nvPr/>
        </p:nvSpPr>
        <p:spPr>
          <a:xfrm>
            <a:off x="2542032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tage number"/>
          <p:cNvSpPr/>
          <p:nvPr/>
        </p:nvSpPr>
        <p:spPr>
          <a:xfrm>
            <a:off x="2679192" y="1325880"/>
            <a:ext cx="384048" cy="384048"/>
          </a:xfrm>
          <a:prstGeom prst="ellipse">
            <a:avLst/>
          </a:prstGeom>
          <a:solidFill>
            <a:srgbClr val="2D9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Develop backend API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Move data between dashboard and server</a:t>
            </a:r>
            <a:endParaRPr lang="en-US" sz="1100" dirty="0"/>
          </a:p>
        </p:txBody>
      </p:sp>
      <p:sp>
        <p:nvSpPr>
          <p:cNvPr id="13" name="stage card"/>
          <p:cNvSpPr/>
          <p:nvPr/>
        </p:nvSpPr>
        <p:spPr>
          <a:xfrm>
            <a:off x="4626864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tage number"/>
          <p:cNvSpPr/>
          <p:nvPr/>
        </p:nvSpPr>
        <p:spPr>
          <a:xfrm>
            <a:off x="4764024" y="1325880"/>
            <a:ext cx="384048" cy="384048"/>
          </a:xfrm>
          <a:prstGeom prst="ellipse">
            <a:avLst/>
          </a:prstGeom>
          <a:solidFill>
            <a:srgbClr val="2D9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Implement irrigation rules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Consistent recommendations</a:t>
            </a:r>
            <a:endParaRPr lang="en-US" sz="1100" dirty="0"/>
          </a:p>
        </p:txBody>
      </p:sp>
      <p:sp>
        <p:nvSpPr>
          <p:cNvPr id="18" name="stage card"/>
          <p:cNvSpPr/>
          <p:nvPr/>
        </p:nvSpPr>
        <p:spPr>
          <a:xfrm>
            <a:off x="6711696" y="11887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tage number"/>
          <p:cNvSpPr/>
          <p:nvPr/>
        </p:nvSpPr>
        <p:spPr>
          <a:xfrm>
            <a:off x="6848856" y="1325880"/>
            <a:ext cx="384048" cy="384048"/>
          </a:xfrm>
          <a:prstGeom prst="ellipse">
            <a:avLst/>
          </a:prstGeom>
          <a:solidFill>
            <a:srgbClr val="2D9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Integrate Ollama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Agent explains recommendations</a:t>
            </a:r>
            <a:endParaRPr lang="en-US" sz="1100" dirty="0"/>
          </a:p>
        </p:txBody>
      </p:sp>
      <p:sp>
        <p:nvSpPr>
          <p:cNvPr id="23" name="stage card"/>
          <p:cNvSpPr/>
          <p:nvPr/>
        </p:nvSpPr>
        <p:spPr>
          <a:xfrm>
            <a:off x="457200" y="27889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tage number"/>
          <p:cNvSpPr/>
          <p:nvPr/>
        </p:nvSpPr>
        <p:spPr>
          <a:xfrm>
            <a:off x="594360" y="2926080"/>
            <a:ext cx="384048" cy="384048"/>
          </a:xfrm>
          <a:prstGeom prst="ellipse">
            <a:avLst/>
          </a:prstGeom>
          <a:solidFill>
            <a:srgbClr val="1F8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Integrate weather forecast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Consider expected rainfall</a:t>
            </a:r>
            <a:endParaRPr lang="en-US" sz="1100" dirty="0"/>
          </a:p>
        </p:txBody>
      </p:sp>
      <p:sp>
        <p:nvSpPr>
          <p:cNvPr id="28" name="stage card"/>
          <p:cNvSpPr/>
          <p:nvPr/>
        </p:nvSpPr>
        <p:spPr>
          <a:xfrm>
            <a:off x="2542032" y="27889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tage number"/>
          <p:cNvSpPr/>
          <p:nvPr/>
        </p:nvSpPr>
        <p:spPr>
          <a:xfrm>
            <a:off x="2679192" y="2926080"/>
            <a:ext cx="384048" cy="384048"/>
          </a:xfrm>
          <a:prstGeom prst="ellipse">
            <a:avLst/>
          </a:prstGeom>
          <a:solidFill>
            <a:srgbClr val="1F8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79192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679192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Add history storage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79192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Save readings and recommendations</a:t>
            </a:r>
            <a:endParaRPr lang="en-US" sz="1100" dirty="0"/>
          </a:p>
        </p:txBody>
      </p:sp>
      <p:sp>
        <p:nvSpPr>
          <p:cNvPr id="33" name="stage card"/>
          <p:cNvSpPr/>
          <p:nvPr/>
        </p:nvSpPr>
        <p:spPr>
          <a:xfrm>
            <a:off x="4626864" y="27889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tage number"/>
          <p:cNvSpPr/>
          <p:nvPr/>
        </p:nvSpPr>
        <p:spPr>
          <a:xfrm>
            <a:off x="4764024" y="292608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64024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764024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Integrate ESP32 and sensor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64024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If available: replace simulated readings</a:t>
            </a:r>
            <a:endParaRPr lang="en-US" sz="1100" dirty="0"/>
          </a:p>
        </p:txBody>
      </p:sp>
      <p:sp>
        <p:nvSpPr>
          <p:cNvPr id="38" name="stage card"/>
          <p:cNvSpPr/>
          <p:nvPr/>
        </p:nvSpPr>
        <p:spPr>
          <a:xfrm>
            <a:off x="6711696" y="278892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tage number"/>
          <p:cNvSpPr/>
          <p:nvPr/>
        </p:nvSpPr>
        <p:spPr>
          <a:xfrm>
            <a:off x="6848856" y="2926080"/>
            <a:ext cx="384048" cy="384048"/>
          </a:xfrm>
          <a:prstGeom prst="ellipse">
            <a:avLst/>
          </a:prstGeom>
          <a:solidFill>
            <a:srgbClr val="1F8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48856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48856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Test different conditions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848856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281C"/>
                </a:solidFill>
              </a:rPr>
              <a:t>Dry soil, wet soil, low water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F6B5C"/>
                </a:solidFill>
              </a:rPr>
              <a:t>A working demo exists even if hardware is unavailable.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Test Cases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14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Soil moisture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Water level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Weather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 behavior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Sufficient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No rain expected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9C6B"/>
                          </a:solidFill>
                        </a:rPr>
                        <a:t>Consider recommending irrigation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Sufficient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Heavy rain expected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8FD6"/>
                          </a:solidFill>
                        </a:rPr>
                        <a:t>Consider delaying irrigation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Sufficient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No rain expected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</a:rPr>
                        <a:t>Avoid unnecessary irrigation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Insufficient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81C"/>
                          </a:solidFill>
                        </a:rPr>
                        <a:t>No rain expected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534F"/>
                          </a:solidFill>
                        </a:rPr>
                        <a:t>Warn: water availability inadequate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aveat card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81C"/>
                </a:solidFill>
              </a:rPr>
              <a:t>These are initial scenarios. Final decisions will also consider crop requirements, soil type, field conditions and locally appropriate thresholds.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5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r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926080"/>
            <a:ext cx="9144000" cy="22174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demo card"/>
          <p:cNvSpPr/>
          <p:nvPr/>
        </p:nvSpPr>
        <p:spPr>
          <a:xfrm>
            <a:off x="548640" y="12344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5C45"/>
          </a:solidFill>
          <a:ln w="12700">
            <a:solidFill>
              <a:srgbClr val="2A5C4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7D9B5"/>
                </a:solidFill>
              </a:rPr>
              <a:t>Demonstrating now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React dashboard with clearly labeled simulated readings</a:t>
            </a:r>
            <a:endParaRPr lang="en-US" sz="1400" dirty="0"/>
          </a:p>
        </p:txBody>
      </p:sp>
      <p:sp>
        <p:nvSpPr>
          <p:cNvPr id="7" name="planned card"/>
          <p:cNvSpPr/>
          <p:nvPr/>
        </p:nvSpPr>
        <p:spPr>
          <a:xfrm>
            <a:off x="4754880" y="12344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5C45"/>
          </a:solidFill>
          <a:ln w="12700">
            <a:solidFill>
              <a:srgbClr val="2A5C4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7CF7A"/>
                </a:solidFill>
              </a:rPr>
              <a:t>Planned, not yet complete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Backend, AI agent, weather integration and ESP32 hardware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quaBot">
  <a:themeElements>
    <a:clrScheme name="AquaBot">
      <a:dk1>
        <a:srgbClr val="10281C"/>
      </a:dk1>
      <a:lt1>
        <a:srgbClr val="FFFFFF"/>
      </a:lt1>
      <a:dk2>
        <a:srgbClr val="1B4332"/>
      </a:dk2>
      <a:lt2>
        <a:srgbClr val="EAF5EE"/>
      </a:lt2>
      <a:accent1>
        <a:srgbClr val="2D9C6B"/>
      </a:accent1>
      <a:accent2>
        <a:srgbClr val="1F8FD6"/>
      </a:accent2>
      <a:accent3>
        <a:srgbClr val="F2B134"/>
      </a:accent3>
      <a:accent4>
        <a:srgbClr val="6BBF59"/>
      </a:accent4>
      <a:accent5>
        <a:srgbClr val="0B6E99"/>
      </a:accent5>
      <a:accent6>
        <a:srgbClr val="D9534F"/>
      </a:accent6>
      <a:hlink>
        <a:srgbClr val="1F8FD6"/>
      </a:hlink>
      <a:folHlink>
        <a:srgbClr val="5B7C6C"/>
      </a:folHlink>
    </a:clrScheme>
    <a:fontScheme name="AquaB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640</Words>
  <Application>Microsoft Office PowerPoint</Application>
  <PresentationFormat>On-screen Show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AquaBot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AquaBot - AI Irrigation Assistant</dc:title>
  <dc:subject>PptxGenJS Presentation</dc:subject>
  <dc:creator>PptxGenJS</dc:creator>
  <cp:lastModifiedBy>Sayak Dara</cp:lastModifiedBy>
  <cp:revision>2</cp:revision>
  <dcterms:created xsi:type="dcterms:W3CDTF">2026-10-16T08:02:52Z</dcterms:created>
  <dcterms:modified xsi:type="dcterms:W3CDTF">2026-10-23T17:11:04Z</dcterms:modified>
</cp:coreProperties>
</file>